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31089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57200"/>
            <a:ext cx="8046720" cy="457200"/>
          </a:xfrm>
          <a:prstGeom prst="rect">
            <a:avLst/>
          </a:prstGeom>
          <a:noFill/>
        </p:spPr>
        <p:txBody>
          <a:bodyPr wrap="square">
            <a:spAutoFit/>
          </a:bodyPr>
          <a:lstStyle/>
          <a:p>
            <a:pPr algn="l"/>
            <a:r>
              <a:rPr sz="1300" b="0">
                <a:solidFill>
                  <a:srgbClr val="BFDBFF"/>
                </a:solidFill>
              </a:rPr>
              <a:t>AeroGrid Wind Solutions</a:t>
            </a:r>
          </a:p>
        </p:txBody>
      </p:sp>
      <p:sp>
        <p:nvSpPr>
          <p:cNvPr id="4" name="TextBox 3"/>
          <p:cNvSpPr txBox="1"/>
          <p:nvPr/>
        </p:nvSpPr>
        <p:spPr>
          <a:xfrm>
            <a:off x="548640" y="1005840"/>
            <a:ext cx="8046720" cy="1828800"/>
          </a:xfrm>
          <a:prstGeom prst="rect">
            <a:avLst/>
          </a:prstGeom>
          <a:noFill/>
        </p:spPr>
        <p:txBody>
          <a:bodyPr wrap="square">
            <a:spAutoFit/>
          </a:bodyPr>
          <a:lstStyle/>
          <a:p>
            <a:pPr algn="l"/>
            <a:r>
              <a:rPr sz="2800" b="1">
                <a:solidFill>
                  <a:srgbClr val="FFFFFF"/>
                </a:solidFill>
              </a:rPr>
              <a:t>Global Cyber Risk
Intelligence Brief</a:t>
            </a:r>
          </a:p>
        </p:txBody>
      </p:sp>
      <p:sp>
        <p:nvSpPr>
          <p:cNvPr id="5" name="TextBox 4"/>
          <p:cNvSpPr txBox="1"/>
          <p:nvPr/>
        </p:nvSpPr>
        <p:spPr>
          <a:xfrm>
            <a:off x="548640" y="2743200"/>
            <a:ext cx="8046720" cy="320040"/>
          </a:xfrm>
          <a:prstGeom prst="rect">
            <a:avLst/>
          </a:prstGeom>
          <a:noFill/>
        </p:spPr>
        <p:txBody>
          <a:bodyPr wrap="square">
            <a:spAutoFit/>
          </a:bodyPr>
          <a:lstStyle/>
          <a:p>
            <a:pPr algn="l"/>
            <a:r>
              <a:rPr sz="1400" b="0">
                <a:solidFill>
                  <a:srgbClr val="BFDBFF"/>
                </a:solidFill>
              </a:rPr>
              <a:t>CISO Edition</a:t>
            </a:r>
          </a:p>
        </p:txBody>
      </p:sp>
      <p:sp>
        <p:nvSpPr>
          <p:cNvPr id="6" name="Rectangle 5"/>
          <p:cNvSpPr/>
          <p:nvPr/>
        </p:nvSpPr>
        <p:spPr>
          <a:xfrm>
            <a:off x="548640" y="3383280"/>
            <a:ext cx="1097280"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3410712"/>
            <a:ext cx="1097280" cy="365760"/>
          </a:xfrm>
          <a:prstGeom prst="rect">
            <a:avLst/>
          </a:prstGeom>
          <a:noFill/>
        </p:spPr>
        <p:txBody>
          <a:bodyPr wrap="square">
            <a:spAutoFit/>
          </a:bodyPr>
          <a:lstStyle/>
          <a:p>
            <a:pPr algn="ctr"/>
            <a:r>
              <a:rPr sz="2000" b="1">
                <a:solidFill>
                  <a:srgbClr val="FFFFFF"/>
                </a:solidFill>
              </a:rPr>
              <a:t>3</a:t>
            </a:r>
          </a:p>
        </p:txBody>
      </p:sp>
      <p:sp>
        <p:nvSpPr>
          <p:cNvPr id="8" name="TextBox 7"/>
          <p:cNvSpPr txBox="1"/>
          <p:nvPr/>
        </p:nvSpPr>
        <p:spPr>
          <a:xfrm>
            <a:off x="548640" y="3749039"/>
            <a:ext cx="1097280" cy="274320"/>
          </a:xfrm>
          <a:prstGeom prst="rect">
            <a:avLst/>
          </a:prstGeom>
          <a:noFill/>
        </p:spPr>
        <p:txBody>
          <a:bodyPr wrap="square">
            <a:spAutoFit/>
          </a:bodyPr>
          <a:lstStyle/>
          <a:p>
            <a:pPr algn="ctr"/>
            <a:r>
              <a:rPr sz="700" b="0">
                <a:solidFill>
                  <a:srgbClr val="FFFFFF"/>
                </a:solidFill>
              </a:rPr>
              <a:t>ESCALATED</a:t>
            </a:r>
          </a:p>
        </p:txBody>
      </p:sp>
      <p:sp>
        <p:nvSpPr>
          <p:cNvPr id="9" name="Rectangle 8"/>
          <p:cNvSpPr/>
          <p:nvPr/>
        </p:nvSpPr>
        <p:spPr>
          <a:xfrm>
            <a:off x="1920240" y="3383280"/>
            <a:ext cx="1097280" cy="685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3410712"/>
            <a:ext cx="1097280" cy="365760"/>
          </a:xfrm>
          <a:prstGeom prst="rect">
            <a:avLst/>
          </a:prstGeom>
          <a:noFill/>
        </p:spPr>
        <p:txBody>
          <a:bodyPr wrap="square">
            <a:spAutoFit/>
          </a:bodyPr>
          <a:lstStyle/>
          <a:p>
            <a:pPr algn="ctr"/>
            <a:r>
              <a:rPr sz="2000" b="1">
                <a:solidFill>
                  <a:srgbClr val="FFFFFF"/>
                </a:solidFill>
              </a:rPr>
              <a:t>0</a:t>
            </a:r>
          </a:p>
        </p:txBody>
      </p:sp>
      <p:sp>
        <p:nvSpPr>
          <p:cNvPr id="11" name="TextBox 10"/>
          <p:cNvSpPr txBox="1"/>
          <p:nvPr/>
        </p:nvSpPr>
        <p:spPr>
          <a:xfrm>
            <a:off x="1920240" y="3749039"/>
            <a:ext cx="1097280" cy="274320"/>
          </a:xfrm>
          <a:prstGeom prst="rect">
            <a:avLst/>
          </a:prstGeom>
          <a:noFill/>
        </p:spPr>
        <p:txBody>
          <a:bodyPr wrap="square">
            <a:spAutoFit/>
          </a:bodyPr>
          <a:lstStyle/>
          <a:p>
            <a:pPr algn="ctr"/>
            <a:r>
              <a:rPr sz="700" b="0">
                <a:solidFill>
                  <a:srgbClr val="FFFFFF"/>
                </a:solidFill>
              </a:rPr>
              <a:t>MONITOR</a:t>
            </a:r>
          </a:p>
        </p:txBody>
      </p:sp>
      <p:sp>
        <p:nvSpPr>
          <p:cNvPr id="12" name="Rectangle 11"/>
          <p:cNvSpPr/>
          <p:nvPr/>
        </p:nvSpPr>
        <p:spPr>
          <a:xfrm>
            <a:off x="3291840" y="3383280"/>
            <a:ext cx="1097280" cy="6858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3410712"/>
            <a:ext cx="1097280" cy="365760"/>
          </a:xfrm>
          <a:prstGeom prst="rect">
            <a:avLst/>
          </a:prstGeom>
          <a:noFill/>
        </p:spPr>
        <p:txBody>
          <a:bodyPr wrap="square">
            <a:spAutoFit/>
          </a:bodyPr>
          <a:lstStyle/>
          <a:p>
            <a:pPr algn="ctr"/>
            <a:r>
              <a:rPr sz="2000" b="1">
                <a:solidFill>
                  <a:srgbClr val="FFFFFF"/>
                </a:solidFill>
              </a:rPr>
              <a:t>2</a:t>
            </a:r>
          </a:p>
        </p:txBody>
      </p:sp>
      <p:sp>
        <p:nvSpPr>
          <p:cNvPr id="14" name="TextBox 13"/>
          <p:cNvSpPr txBox="1"/>
          <p:nvPr/>
        </p:nvSpPr>
        <p:spPr>
          <a:xfrm>
            <a:off x="3291840" y="3749039"/>
            <a:ext cx="1097280" cy="274320"/>
          </a:xfrm>
          <a:prstGeom prst="rect">
            <a:avLst/>
          </a:prstGeom>
          <a:noFill/>
        </p:spPr>
        <p:txBody>
          <a:bodyPr wrap="square">
            <a:spAutoFit/>
          </a:bodyPr>
          <a:lstStyle/>
          <a:p>
            <a:pPr algn="ctr"/>
            <a:r>
              <a:rPr sz="700" b="0">
                <a:solidFill>
                  <a:srgbClr val="FFFFFF"/>
                </a:solidFill>
              </a:rPr>
              <a:t>CLEAR</a:t>
            </a:r>
          </a:p>
        </p:txBody>
      </p:sp>
      <p:sp>
        <p:nvSpPr>
          <p:cNvPr id="15" name="TextBox 14"/>
          <p:cNvSpPr txBox="1"/>
          <p:nvPr/>
        </p:nvSpPr>
        <p:spPr>
          <a:xfrm>
            <a:off x="548640" y="4572000"/>
            <a:ext cx="7315200" cy="365760"/>
          </a:xfrm>
          <a:prstGeom prst="rect">
            <a:avLst/>
          </a:prstGeom>
          <a:noFill/>
        </p:spPr>
        <p:txBody>
          <a:bodyPr wrap="square">
            <a:spAutoFit/>
          </a:bodyPr>
          <a:lstStyle/>
          <a:p>
            <a:pPr algn="l"/>
            <a:r>
              <a:rPr sz="900" b="0">
                <a:solidFill>
                  <a:srgbClr val="64748B"/>
                </a:solidFill>
              </a:rPr>
              <a:t>Pipeline ID: crq-2026-03-26T164449Z   |   2026-03-26T16:44:49Z</a:t>
            </a:r>
          </a:p>
        </p:txBody>
      </p:sp>
      <p:sp>
        <p:nvSpPr>
          <p:cNvPr id="16" name="TextBox 15"/>
          <p:cNvSpPr txBox="1"/>
          <p:nvPr/>
        </p:nvSpPr>
        <p:spPr>
          <a:xfrm>
            <a:off x="6858000" y="6309360"/>
            <a:ext cx="2103120" cy="365760"/>
          </a:xfrm>
          <a:prstGeom prst="rect">
            <a:avLst/>
          </a:prstGeom>
          <a:noFill/>
        </p:spPr>
        <p:txBody>
          <a:bodyPr wrap="square">
            <a:spAutoFit/>
          </a:bodyPr>
          <a:lstStyle/>
          <a:p>
            <a:pPr algn="r"/>
            <a:r>
              <a:rPr sz="800" b="1">
                <a:solidFill>
                  <a:srgbClr val="DC2626"/>
                </a:solidFill>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Executive Summary</a:t>
            </a:r>
          </a:p>
        </p:txBody>
      </p:sp>
      <p:sp>
        <p:nvSpPr>
          <p:cNvPr id="4" name="Rectangle 3"/>
          <p:cNvSpPr/>
          <p:nvPr/>
        </p:nvSpPr>
        <p:spPr>
          <a:xfrm>
            <a:off x="365760" y="777240"/>
            <a:ext cx="1005840" cy="68580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804672"/>
            <a:ext cx="1005840" cy="365760"/>
          </a:xfrm>
          <a:prstGeom prst="rect">
            <a:avLst/>
          </a:prstGeom>
          <a:noFill/>
        </p:spPr>
        <p:txBody>
          <a:bodyPr wrap="square">
            <a:spAutoFit/>
          </a:bodyPr>
          <a:lstStyle/>
          <a:p>
            <a:pPr algn="ctr"/>
            <a:r>
              <a:rPr sz="2000" b="1">
                <a:solidFill>
                  <a:srgbClr val="FFFFFF"/>
                </a:solidFill>
              </a:rPr>
              <a:t>3</a:t>
            </a:r>
          </a:p>
        </p:txBody>
      </p:sp>
      <p:sp>
        <p:nvSpPr>
          <p:cNvPr id="6" name="TextBox 5"/>
          <p:cNvSpPr txBox="1"/>
          <p:nvPr/>
        </p:nvSpPr>
        <p:spPr>
          <a:xfrm>
            <a:off x="365760" y="1143000"/>
            <a:ext cx="1005840" cy="274320"/>
          </a:xfrm>
          <a:prstGeom prst="rect">
            <a:avLst/>
          </a:prstGeom>
          <a:noFill/>
        </p:spPr>
        <p:txBody>
          <a:bodyPr wrap="square">
            <a:spAutoFit/>
          </a:bodyPr>
          <a:lstStyle/>
          <a:p>
            <a:pPr algn="ctr"/>
            <a:r>
              <a:rPr sz="700" b="0">
                <a:solidFill>
                  <a:srgbClr val="FFFFFF"/>
                </a:solidFill>
              </a:rPr>
              <a:t>ESCALATED</a:t>
            </a:r>
          </a:p>
        </p:txBody>
      </p:sp>
      <p:sp>
        <p:nvSpPr>
          <p:cNvPr id="7" name="Rectangle 6"/>
          <p:cNvSpPr/>
          <p:nvPr/>
        </p:nvSpPr>
        <p:spPr>
          <a:xfrm>
            <a:off x="1554480" y="777240"/>
            <a:ext cx="1005840" cy="68580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54480" y="804672"/>
            <a:ext cx="1005840" cy="365760"/>
          </a:xfrm>
          <a:prstGeom prst="rect">
            <a:avLst/>
          </a:prstGeom>
          <a:noFill/>
        </p:spPr>
        <p:txBody>
          <a:bodyPr wrap="square">
            <a:spAutoFit/>
          </a:bodyPr>
          <a:lstStyle/>
          <a:p>
            <a:pPr algn="ctr"/>
            <a:r>
              <a:rPr sz="2000" b="1">
                <a:solidFill>
                  <a:srgbClr val="FFFFFF"/>
                </a:solidFill>
              </a:rPr>
              <a:t>0</a:t>
            </a:r>
          </a:p>
        </p:txBody>
      </p:sp>
      <p:sp>
        <p:nvSpPr>
          <p:cNvPr id="9" name="TextBox 8"/>
          <p:cNvSpPr txBox="1"/>
          <p:nvPr/>
        </p:nvSpPr>
        <p:spPr>
          <a:xfrm>
            <a:off x="1554480" y="1143000"/>
            <a:ext cx="1005840" cy="274320"/>
          </a:xfrm>
          <a:prstGeom prst="rect">
            <a:avLst/>
          </a:prstGeom>
          <a:noFill/>
        </p:spPr>
        <p:txBody>
          <a:bodyPr wrap="square">
            <a:spAutoFit/>
          </a:bodyPr>
          <a:lstStyle/>
          <a:p>
            <a:pPr algn="ctr"/>
            <a:r>
              <a:rPr sz="700" b="0">
                <a:solidFill>
                  <a:srgbClr val="FFFFFF"/>
                </a:solidFill>
              </a:rPr>
              <a:t>MONITOR</a:t>
            </a:r>
          </a:p>
        </p:txBody>
      </p:sp>
      <p:sp>
        <p:nvSpPr>
          <p:cNvPr id="10" name="Rectangle 9"/>
          <p:cNvSpPr/>
          <p:nvPr/>
        </p:nvSpPr>
        <p:spPr>
          <a:xfrm>
            <a:off x="2743200" y="777240"/>
            <a:ext cx="1005840" cy="68580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0" y="804672"/>
            <a:ext cx="1005840" cy="365760"/>
          </a:xfrm>
          <a:prstGeom prst="rect">
            <a:avLst/>
          </a:prstGeom>
          <a:noFill/>
        </p:spPr>
        <p:txBody>
          <a:bodyPr wrap="square">
            <a:spAutoFit/>
          </a:bodyPr>
          <a:lstStyle/>
          <a:p>
            <a:pPr algn="ctr"/>
            <a:r>
              <a:rPr sz="2000" b="1">
                <a:solidFill>
                  <a:srgbClr val="FFFFFF"/>
                </a:solidFill>
              </a:rPr>
              <a:t>2</a:t>
            </a:r>
          </a:p>
        </p:txBody>
      </p:sp>
      <p:sp>
        <p:nvSpPr>
          <p:cNvPr id="12" name="TextBox 11"/>
          <p:cNvSpPr txBox="1"/>
          <p:nvPr/>
        </p:nvSpPr>
        <p:spPr>
          <a:xfrm>
            <a:off x="2743200" y="1143000"/>
            <a:ext cx="1005840" cy="274320"/>
          </a:xfrm>
          <a:prstGeom prst="rect">
            <a:avLst/>
          </a:prstGeom>
          <a:noFill/>
        </p:spPr>
        <p:txBody>
          <a:bodyPr wrap="square">
            <a:spAutoFit/>
          </a:bodyPr>
          <a:lstStyle/>
          <a:p>
            <a:pPr algn="ctr"/>
            <a:r>
              <a:rPr sz="700" b="0">
                <a:solidFill>
                  <a:srgbClr val="FFFFFF"/>
                </a:solidFill>
              </a:rPr>
              <a:t>CLEAR</a:t>
            </a:r>
          </a:p>
        </p:txBody>
      </p:sp>
      <p:sp>
        <p:nvSpPr>
          <p:cNvPr id="13" name="TextBox 12"/>
          <p:cNvSpPr txBox="1"/>
          <p:nvPr/>
        </p:nvSpPr>
        <p:spPr>
          <a:xfrm>
            <a:off x="365760" y="1645920"/>
            <a:ext cx="8412480" cy="914400"/>
          </a:xfrm>
          <a:prstGeom prst="rect">
            <a:avLst/>
          </a:prstGeom>
          <a:noFill/>
        </p:spPr>
        <p:txBody>
          <a:bodyPr wrap="square">
            <a:spAutoFit/>
          </a:bodyPr>
          <a:lstStyle/>
          <a:p>
            <a:pPr algn="l"/>
            <a:r>
              <a:rPr sz="1000" b="0">
                <a:solidFill>
                  <a:srgbClr val="1E293B"/>
                </a:solidFill>
              </a:rPr>
              <a:t>Three of five operating regions are simultaneously escalated, and the most important pattern the board needs to understand is that all three active threats carry identical B2 intelligence ratings — each is corroborated by confirmed incidents at peer wind energy operators, not modelled projections — which means the combined exposure picture is grounded in observable, ongoing external events. The compound nature of this posture is the defining risk: AME and APAC together place simultaneous pressure on the two asset classes that cannot be substituted in the near term — the service delivery platforms underpinning AeroGrid's major contracted revenue, and the Kaohsiung manufacturing infrastructure that supplies 60% of global turbine output. All three escalated regions share a Mixed signal classification, meaning each threat reflects a structural trend that has already produced a discrete real-world incident in the same sector; this is not a risk environment approaching materialization but one in which peer losses have already occurred. Velocity across all regions has held stable across seven consecutive pipeline runs, confirming the compound threat posture is persistent rather than transient — it is not deteriorating further, but the underlying structural conditions driving exposure in each region show no signs of self-correction.</a:t>
            </a:r>
          </a:p>
        </p:txBody>
      </p:sp>
      <p:sp>
        <p:nvSpPr>
          <p:cNvPr id="14" name="TextBox 13"/>
          <p:cNvSpPr txBox="1"/>
          <p:nvPr/>
        </p:nvSpPr>
        <p:spPr>
          <a:xfrm>
            <a:off x="365760" y="2743200"/>
            <a:ext cx="1097280" cy="274320"/>
          </a:xfrm>
          <a:prstGeom prst="rect">
            <a:avLst/>
          </a:prstGeom>
          <a:noFill/>
        </p:spPr>
        <p:txBody>
          <a:bodyPr wrap="square">
            <a:spAutoFit/>
          </a:bodyPr>
          <a:lstStyle/>
          <a:p>
            <a:pPr algn="l"/>
            <a:r>
              <a:rPr sz="800" b="1">
                <a:solidFill>
                  <a:srgbClr val="64748B"/>
                </a:solidFill>
              </a:rPr>
              <a:t>Region</a:t>
            </a:r>
          </a:p>
        </p:txBody>
      </p:sp>
      <p:sp>
        <p:nvSpPr>
          <p:cNvPr id="15" name="TextBox 14"/>
          <p:cNvSpPr txBox="1"/>
          <p:nvPr/>
        </p:nvSpPr>
        <p:spPr>
          <a:xfrm>
            <a:off x="1463040" y="2743200"/>
            <a:ext cx="2011680" cy="274320"/>
          </a:xfrm>
          <a:prstGeom prst="rect">
            <a:avLst/>
          </a:prstGeom>
          <a:noFill/>
        </p:spPr>
        <p:txBody>
          <a:bodyPr wrap="square">
            <a:spAutoFit/>
          </a:bodyPr>
          <a:lstStyle/>
          <a:p>
            <a:pPr algn="l"/>
            <a:r>
              <a:rPr sz="800" b="1">
                <a:solidFill>
                  <a:srgbClr val="64748B"/>
                </a:solidFill>
              </a:rPr>
              <a:t>Scenario</a:t>
            </a:r>
          </a:p>
        </p:txBody>
      </p:sp>
      <p:sp>
        <p:nvSpPr>
          <p:cNvPr id="16" name="TextBox 15"/>
          <p:cNvSpPr txBox="1"/>
          <p:nvPr/>
        </p:nvSpPr>
        <p:spPr>
          <a:xfrm>
            <a:off x="3474720" y="2743200"/>
            <a:ext cx="1280160" cy="274320"/>
          </a:xfrm>
          <a:prstGeom prst="rect">
            <a:avLst/>
          </a:prstGeom>
          <a:noFill/>
        </p:spPr>
        <p:txBody>
          <a:bodyPr wrap="square">
            <a:spAutoFit/>
          </a:bodyPr>
          <a:lstStyle/>
          <a:p>
            <a:pPr algn="l"/>
            <a:r>
              <a:rPr sz="800" b="1">
                <a:solidFill>
                  <a:srgbClr val="64748B"/>
                </a:solidFill>
              </a:rPr>
              <a:t>Severity</a:t>
            </a:r>
          </a:p>
        </p:txBody>
      </p:sp>
      <p:sp>
        <p:nvSpPr>
          <p:cNvPr id="17" name="TextBox 16"/>
          <p:cNvSpPr txBox="1"/>
          <p:nvPr/>
        </p:nvSpPr>
        <p:spPr>
          <a:xfrm>
            <a:off x="4754880" y="2743200"/>
            <a:ext cx="1645920" cy="274320"/>
          </a:xfrm>
          <a:prstGeom prst="rect">
            <a:avLst/>
          </a:prstGeom>
          <a:noFill/>
        </p:spPr>
        <p:txBody>
          <a:bodyPr wrap="square">
            <a:spAutoFit/>
          </a:bodyPr>
          <a:lstStyle/>
          <a:p>
            <a:pPr algn="l"/>
            <a:r>
              <a:rPr sz="800" b="1">
                <a:solidFill>
                  <a:srgbClr val="64748B"/>
                </a:solidFill>
              </a:rPr>
              <a:t>Velocity</a:t>
            </a:r>
          </a:p>
        </p:txBody>
      </p:sp>
      <p:sp>
        <p:nvSpPr>
          <p:cNvPr id="18" name="TextBox 17"/>
          <p:cNvSpPr txBox="1"/>
          <p:nvPr/>
        </p:nvSpPr>
        <p:spPr>
          <a:xfrm>
            <a:off x="6400800" y="2743200"/>
            <a:ext cx="1280160" cy="274320"/>
          </a:xfrm>
          <a:prstGeom prst="rect">
            <a:avLst/>
          </a:prstGeom>
          <a:noFill/>
        </p:spPr>
        <p:txBody>
          <a:bodyPr wrap="square">
            <a:spAutoFit/>
          </a:bodyPr>
          <a:lstStyle/>
          <a:p>
            <a:pPr algn="l"/>
            <a:r>
              <a:rPr sz="800" b="1">
                <a:solidFill>
                  <a:srgbClr val="64748B"/>
                </a:solidFill>
              </a:rPr>
              <a:t>Confidence</a:t>
            </a:r>
          </a:p>
        </p:txBody>
      </p:sp>
      <p:sp>
        <p:nvSpPr>
          <p:cNvPr id="19" name="TextBox 18"/>
          <p:cNvSpPr txBox="1"/>
          <p:nvPr/>
        </p:nvSpPr>
        <p:spPr>
          <a:xfrm>
            <a:off x="365760" y="3063240"/>
            <a:ext cx="1097280" cy="320040"/>
          </a:xfrm>
          <a:prstGeom prst="rect">
            <a:avLst/>
          </a:prstGeom>
          <a:noFill/>
        </p:spPr>
        <p:txBody>
          <a:bodyPr wrap="square">
            <a:spAutoFit/>
          </a:bodyPr>
          <a:lstStyle/>
          <a:p>
            <a:pPr algn="l"/>
            <a:r>
              <a:rPr sz="900" b="0">
                <a:solidFill>
                  <a:srgbClr val="1E293B"/>
                </a:solidFill>
              </a:rPr>
              <a:t>APAC</a:t>
            </a:r>
          </a:p>
        </p:txBody>
      </p:sp>
      <p:sp>
        <p:nvSpPr>
          <p:cNvPr id="20" name="TextBox 19"/>
          <p:cNvSpPr txBox="1"/>
          <p:nvPr/>
        </p:nvSpPr>
        <p:spPr>
          <a:xfrm>
            <a:off x="1463040" y="3063240"/>
            <a:ext cx="2011680" cy="320040"/>
          </a:xfrm>
          <a:prstGeom prst="rect">
            <a:avLst/>
          </a:prstGeom>
          <a:noFill/>
        </p:spPr>
        <p:txBody>
          <a:bodyPr wrap="square">
            <a:spAutoFit/>
          </a:bodyPr>
          <a:lstStyle/>
          <a:p>
            <a:pPr algn="l"/>
            <a:r>
              <a:rPr sz="900" b="0">
                <a:solidFill>
                  <a:srgbClr val="1E293B"/>
                </a:solidFill>
              </a:rPr>
              <a:t>System intrusion</a:t>
            </a:r>
          </a:p>
        </p:txBody>
      </p:sp>
      <p:sp>
        <p:nvSpPr>
          <p:cNvPr id="21" name="TextBox 20"/>
          <p:cNvSpPr txBox="1"/>
          <p:nvPr/>
        </p:nvSpPr>
        <p:spPr>
          <a:xfrm>
            <a:off x="3474720" y="3063240"/>
            <a:ext cx="1280160" cy="320040"/>
          </a:xfrm>
          <a:prstGeom prst="rect">
            <a:avLst/>
          </a:prstGeom>
          <a:noFill/>
        </p:spPr>
        <p:txBody>
          <a:bodyPr wrap="square">
            <a:spAutoFit/>
          </a:bodyPr>
          <a:lstStyle/>
          <a:p>
            <a:pPr algn="l"/>
            <a:r>
              <a:rPr sz="900" b="0">
                <a:solidFill>
                  <a:srgbClr val="1E293B"/>
                </a:solidFill>
              </a:rPr>
              <a:t>HIGH</a:t>
            </a:r>
          </a:p>
        </p:txBody>
      </p:sp>
      <p:sp>
        <p:nvSpPr>
          <p:cNvPr id="22" name="TextBox 21"/>
          <p:cNvSpPr txBox="1"/>
          <p:nvPr/>
        </p:nvSpPr>
        <p:spPr>
          <a:xfrm>
            <a:off x="4754880" y="3063240"/>
            <a:ext cx="1645920" cy="320040"/>
          </a:xfrm>
          <a:prstGeom prst="rect">
            <a:avLst/>
          </a:prstGeom>
          <a:noFill/>
        </p:spPr>
        <p:txBody>
          <a:bodyPr wrap="square">
            <a:spAutoFit/>
          </a:bodyPr>
          <a:lstStyle/>
          <a:p>
            <a:pPr algn="l"/>
            <a:r>
              <a:rPr sz="900" b="0">
                <a:solidFill>
                  <a:srgbClr val="1E293B"/>
                </a:solidFill>
              </a:rPr>
              <a:t>→ Stable</a:t>
            </a:r>
          </a:p>
        </p:txBody>
      </p:sp>
      <p:sp>
        <p:nvSpPr>
          <p:cNvPr id="23" name="TextBox 22"/>
          <p:cNvSpPr txBox="1"/>
          <p:nvPr/>
        </p:nvSpPr>
        <p:spPr>
          <a:xfrm>
            <a:off x="6400800" y="3063240"/>
            <a:ext cx="1280160" cy="320040"/>
          </a:xfrm>
          <a:prstGeom prst="rect">
            <a:avLst/>
          </a:prstGeom>
          <a:noFill/>
        </p:spPr>
        <p:txBody>
          <a:bodyPr wrap="square">
            <a:spAutoFit/>
          </a:bodyPr>
          <a:lstStyle/>
          <a:p>
            <a:pPr algn="l"/>
            <a:r>
              <a:rPr sz="900" b="0">
                <a:solidFill>
                  <a:srgbClr val="1E293B"/>
                </a:solidFill>
              </a:rPr>
              <a:t>High</a:t>
            </a:r>
          </a:p>
        </p:txBody>
      </p:sp>
      <p:sp>
        <p:nvSpPr>
          <p:cNvPr id="24" name="TextBox 23"/>
          <p:cNvSpPr txBox="1"/>
          <p:nvPr/>
        </p:nvSpPr>
        <p:spPr>
          <a:xfrm>
            <a:off x="365760" y="3474720"/>
            <a:ext cx="1097280" cy="320040"/>
          </a:xfrm>
          <a:prstGeom prst="rect">
            <a:avLst/>
          </a:prstGeom>
          <a:noFill/>
        </p:spPr>
        <p:txBody>
          <a:bodyPr wrap="square">
            <a:spAutoFit/>
          </a:bodyPr>
          <a:lstStyle/>
          <a:p>
            <a:pPr algn="l"/>
            <a:r>
              <a:rPr sz="900" b="0">
                <a:solidFill>
                  <a:srgbClr val="1E293B"/>
                </a:solidFill>
              </a:rPr>
              <a:t>AME</a:t>
            </a:r>
          </a:p>
        </p:txBody>
      </p:sp>
      <p:sp>
        <p:nvSpPr>
          <p:cNvPr id="25" name="TextBox 24"/>
          <p:cNvSpPr txBox="1"/>
          <p:nvPr/>
        </p:nvSpPr>
        <p:spPr>
          <a:xfrm>
            <a:off x="1463040" y="3474720"/>
            <a:ext cx="2011680" cy="320040"/>
          </a:xfrm>
          <a:prstGeom prst="rect">
            <a:avLst/>
          </a:prstGeom>
          <a:noFill/>
        </p:spPr>
        <p:txBody>
          <a:bodyPr wrap="square">
            <a:spAutoFit/>
          </a:bodyPr>
          <a:lstStyle/>
          <a:p>
            <a:pPr algn="l"/>
            <a:r>
              <a:rPr sz="900" b="0">
                <a:solidFill>
                  <a:srgbClr val="1E293B"/>
                </a:solidFill>
              </a:rPr>
              <a:t>Ransomware</a:t>
            </a:r>
          </a:p>
        </p:txBody>
      </p:sp>
      <p:sp>
        <p:nvSpPr>
          <p:cNvPr id="26" name="TextBox 25"/>
          <p:cNvSpPr txBox="1"/>
          <p:nvPr/>
        </p:nvSpPr>
        <p:spPr>
          <a:xfrm>
            <a:off x="3474720" y="3474720"/>
            <a:ext cx="1280160" cy="320040"/>
          </a:xfrm>
          <a:prstGeom prst="rect">
            <a:avLst/>
          </a:prstGeom>
          <a:noFill/>
        </p:spPr>
        <p:txBody>
          <a:bodyPr wrap="square">
            <a:spAutoFit/>
          </a:bodyPr>
          <a:lstStyle/>
          <a:p>
            <a:pPr algn="l"/>
            <a:r>
              <a:rPr sz="900" b="0">
                <a:solidFill>
                  <a:srgbClr val="1E293B"/>
                </a:solidFill>
              </a:rPr>
              <a:t>CRITICAL</a:t>
            </a:r>
          </a:p>
        </p:txBody>
      </p:sp>
      <p:sp>
        <p:nvSpPr>
          <p:cNvPr id="27" name="TextBox 26"/>
          <p:cNvSpPr txBox="1"/>
          <p:nvPr/>
        </p:nvSpPr>
        <p:spPr>
          <a:xfrm>
            <a:off x="4754880" y="3474720"/>
            <a:ext cx="1645920" cy="320040"/>
          </a:xfrm>
          <a:prstGeom prst="rect">
            <a:avLst/>
          </a:prstGeom>
          <a:noFill/>
        </p:spPr>
        <p:txBody>
          <a:bodyPr wrap="square">
            <a:spAutoFit/>
          </a:bodyPr>
          <a:lstStyle/>
          <a:p>
            <a:pPr algn="l"/>
            <a:r>
              <a:rPr sz="900" b="0">
                <a:solidFill>
                  <a:srgbClr val="1E293B"/>
                </a:solidFill>
              </a:rPr>
              <a:t>→ Stable</a:t>
            </a:r>
          </a:p>
        </p:txBody>
      </p:sp>
      <p:sp>
        <p:nvSpPr>
          <p:cNvPr id="28" name="TextBox 27"/>
          <p:cNvSpPr txBox="1"/>
          <p:nvPr/>
        </p:nvSpPr>
        <p:spPr>
          <a:xfrm>
            <a:off x="6400800" y="3474720"/>
            <a:ext cx="1280160" cy="320040"/>
          </a:xfrm>
          <a:prstGeom prst="rect">
            <a:avLst/>
          </a:prstGeom>
          <a:noFill/>
        </p:spPr>
        <p:txBody>
          <a:bodyPr wrap="square">
            <a:spAutoFit/>
          </a:bodyPr>
          <a:lstStyle/>
          <a:p>
            <a:pPr algn="l"/>
            <a:r>
              <a:rPr sz="900" b="0">
                <a:solidFill>
                  <a:srgbClr val="1E293B"/>
                </a:solidFill>
              </a:rPr>
              <a:t>High</a:t>
            </a:r>
          </a:p>
        </p:txBody>
      </p:sp>
      <p:sp>
        <p:nvSpPr>
          <p:cNvPr id="29" name="TextBox 28"/>
          <p:cNvSpPr txBox="1"/>
          <p:nvPr/>
        </p:nvSpPr>
        <p:spPr>
          <a:xfrm>
            <a:off x="365760" y="3886200"/>
            <a:ext cx="1097280" cy="320040"/>
          </a:xfrm>
          <a:prstGeom prst="rect">
            <a:avLst/>
          </a:prstGeom>
          <a:noFill/>
        </p:spPr>
        <p:txBody>
          <a:bodyPr wrap="square">
            <a:spAutoFit/>
          </a:bodyPr>
          <a:lstStyle/>
          <a:p>
            <a:pPr algn="l"/>
            <a:r>
              <a:rPr sz="900" b="0">
                <a:solidFill>
                  <a:srgbClr val="1E293B"/>
                </a:solidFill>
              </a:rPr>
              <a:t>MED</a:t>
            </a:r>
          </a:p>
        </p:txBody>
      </p:sp>
      <p:sp>
        <p:nvSpPr>
          <p:cNvPr id="30" name="TextBox 29"/>
          <p:cNvSpPr txBox="1"/>
          <p:nvPr/>
        </p:nvSpPr>
        <p:spPr>
          <a:xfrm>
            <a:off x="1463040" y="3886200"/>
            <a:ext cx="2011680" cy="320040"/>
          </a:xfrm>
          <a:prstGeom prst="rect">
            <a:avLst/>
          </a:prstGeom>
          <a:noFill/>
        </p:spPr>
        <p:txBody>
          <a:bodyPr wrap="square">
            <a:spAutoFit/>
          </a:bodyPr>
          <a:lstStyle/>
          <a:p>
            <a:pPr algn="l"/>
            <a:r>
              <a:rPr sz="900" b="0">
                <a:solidFill>
                  <a:srgbClr val="1E293B"/>
                </a:solidFill>
              </a:rPr>
              <a:t>Insider misuse</a:t>
            </a:r>
          </a:p>
        </p:txBody>
      </p:sp>
      <p:sp>
        <p:nvSpPr>
          <p:cNvPr id="31" name="TextBox 30"/>
          <p:cNvSpPr txBox="1"/>
          <p:nvPr/>
        </p:nvSpPr>
        <p:spPr>
          <a:xfrm>
            <a:off x="3474720" y="3886200"/>
            <a:ext cx="1280160" cy="320040"/>
          </a:xfrm>
          <a:prstGeom prst="rect">
            <a:avLst/>
          </a:prstGeom>
          <a:noFill/>
        </p:spPr>
        <p:txBody>
          <a:bodyPr wrap="square">
            <a:spAutoFit/>
          </a:bodyPr>
          <a:lstStyle/>
          <a:p>
            <a:pPr algn="l"/>
            <a:r>
              <a:rPr sz="900" b="0">
                <a:solidFill>
                  <a:srgbClr val="1E293B"/>
                </a:solidFill>
              </a:rPr>
              <a:t>MEDIUM</a:t>
            </a:r>
          </a:p>
        </p:txBody>
      </p:sp>
      <p:sp>
        <p:nvSpPr>
          <p:cNvPr id="32" name="TextBox 31"/>
          <p:cNvSpPr txBox="1"/>
          <p:nvPr/>
        </p:nvSpPr>
        <p:spPr>
          <a:xfrm>
            <a:off x="4754880" y="3886200"/>
            <a:ext cx="1645920" cy="320040"/>
          </a:xfrm>
          <a:prstGeom prst="rect">
            <a:avLst/>
          </a:prstGeom>
          <a:noFill/>
        </p:spPr>
        <p:txBody>
          <a:bodyPr wrap="square">
            <a:spAutoFit/>
          </a:bodyPr>
          <a:lstStyle/>
          <a:p>
            <a:pPr algn="l"/>
            <a:r>
              <a:rPr sz="900" b="0">
                <a:solidFill>
                  <a:srgbClr val="1E293B"/>
                </a:solidFill>
              </a:rPr>
              <a:t>→ Stable</a:t>
            </a:r>
          </a:p>
        </p:txBody>
      </p:sp>
      <p:sp>
        <p:nvSpPr>
          <p:cNvPr id="33" name="TextBox 32"/>
          <p:cNvSpPr txBox="1"/>
          <p:nvPr/>
        </p:nvSpPr>
        <p:spPr>
          <a:xfrm>
            <a:off x="6400800" y="3886200"/>
            <a:ext cx="1280160" cy="320040"/>
          </a:xfrm>
          <a:prstGeom prst="rect">
            <a:avLst/>
          </a:prstGeom>
          <a:noFill/>
        </p:spPr>
        <p:txBody>
          <a:bodyPr wrap="square">
            <a:spAutoFit/>
          </a:bodyPr>
          <a:lstStyle/>
          <a:p>
            <a:pPr algn="l"/>
            <a:r>
              <a:rPr sz="900" b="0">
                <a:solidFill>
                  <a:srgbClr val="1E293B"/>
                </a:solidFill>
              </a:rPr>
              <a:t>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APAC</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System intrusion</a:t>
            </a:r>
          </a:p>
        </p:txBody>
      </p:sp>
      <p:sp>
        <p:nvSpPr>
          <p:cNvPr id="5" name="Rectangle 4"/>
          <p:cNvSpPr/>
          <p:nvPr/>
        </p:nvSpPr>
        <p:spPr>
          <a:xfrm>
            <a:off x="7680960" y="109728"/>
            <a:ext cx="1188720" cy="347472"/>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HIGH</a:t>
            </a:r>
          </a:p>
        </p:txBody>
      </p:sp>
      <p:sp>
        <p:nvSpPr>
          <p:cNvPr id="7" name="TextBox 6"/>
          <p:cNvSpPr txBox="1"/>
          <p:nvPr/>
        </p:nvSpPr>
        <p:spPr>
          <a:xfrm>
            <a:off x="274320" y="685800"/>
            <a:ext cx="8229600" cy="256032"/>
          </a:xfrm>
          <a:prstGeom prst="rect">
            <a:avLst/>
          </a:prstGeom>
          <a:noFill/>
        </p:spPr>
        <p:txBody>
          <a:bodyPr wrap="square">
            <a:spAutoFit/>
          </a:bodyPr>
          <a:lstStyle/>
          <a:p>
            <a:pPr algn="l"/>
            <a:r>
              <a:rPr sz="900" b="0">
                <a:solidFill>
                  <a:srgbClr val="64748B"/>
                </a:solidFill>
              </a:rPr>
              <a:t>System intrusion  ·  Mixed  ·  Confidence: High</a:t>
            </a:r>
          </a:p>
        </p:txBody>
      </p:sp>
      <p:sp>
        <p:nvSpPr>
          <p:cNvPr id="8" name="Rectangle 7"/>
          <p:cNvSpPr/>
          <p:nvPr/>
        </p:nvSpPr>
        <p:spPr>
          <a:xfrm>
            <a:off x="27432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14400"/>
            <a:ext cx="4023360" cy="256032"/>
          </a:xfrm>
          <a:prstGeom prst="rect">
            <a:avLst/>
          </a:prstGeom>
          <a:noFill/>
        </p:spPr>
        <p:txBody>
          <a:bodyPr wrap="square">
            <a:spAutoFit/>
          </a:bodyPr>
          <a:lstStyle/>
          <a:p>
            <a:pPr algn="l"/>
            <a:r>
              <a:rPr sz="700" b="1">
                <a:solidFill>
                  <a:srgbClr val="64748B"/>
                </a:solidFill>
              </a:rPr>
              <a:t>DRIVER</a:t>
            </a:r>
          </a:p>
        </p:txBody>
      </p:sp>
      <p:sp>
        <p:nvSpPr>
          <p:cNvPr id="10" name="TextBox 9"/>
          <p:cNvSpPr txBox="1"/>
          <p:nvPr/>
        </p:nvSpPr>
        <p:spPr>
          <a:xfrm>
            <a:off x="365760" y="1170432"/>
            <a:ext cx="4023360" cy="2121408"/>
          </a:xfrm>
          <a:prstGeom prst="rect">
            <a:avLst/>
          </a:prstGeom>
          <a:noFill/>
        </p:spPr>
        <p:txBody>
          <a:bodyPr wrap="square">
            <a:spAutoFit/>
          </a:bodyPr>
          <a:lstStyle/>
          <a:p>
            <a:pPr algn="l"/>
            <a:r>
              <a:rPr sz="900" b="0">
                <a:solidFill>
                  <a:srgbClr val="1E293B"/>
                </a:solidFill>
              </a:rPr>
              <a:t>AeroGrid's ability to fulfil turbine production commitments from Kaohsiung — the source of 60% of global turbine output and the anchor of the TEPCO five-year supply agreement — is being pressured by an intensifying state-directed campaign to extract proprietary wind technology from APAC manufacturing centres.</a:t>
            </a:r>
          </a:p>
        </p:txBody>
      </p:sp>
      <p:sp>
        <p:nvSpPr>
          <p:cNvPr id="11" name="Rectangle 10"/>
          <p:cNvSpPr/>
          <p:nvPr/>
        </p:nvSpPr>
        <p:spPr>
          <a:xfrm>
            <a:off x="457200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914400"/>
            <a:ext cx="4023360" cy="256032"/>
          </a:xfrm>
          <a:prstGeom prst="rect">
            <a:avLst/>
          </a:prstGeom>
          <a:noFill/>
        </p:spPr>
        <p:txBody>
          <a:bodyPr wrap="square">
            <a:spAutoFit/>
          </a:bodyPr>
          <a:lstStyle/>
          <a:p>
            <a:pPr algn="l"/>
            <a:r>
              <a:rPr sz="700" b="1">
                <a:solidFill>
                  <a:srgbClr val="64748B"/>
                </a:solidFill>
              </a:rPr>
              <a:t>EXPOSURE</a:t>
            </a:r>
          </a:p>
        </p:txBody>
      </p:sp>
      <p:sp>
        <p:nvSpPr>
          <p:cNvPr id="13" name="TextBox 12"/>
          <p:cNvSpPr txBox="1"/>
          <p:nvPr/>
        </p:nvSpPr>
        <p:spPr>
          <a:xfrm>
            <a:off x="4663440" y="1170432"/>
            <a:ext cx="4023360" cy="2121408"/>
          </a:xfrm>
          <a:prstGeom prst="rect">
            <a:avLst/>
          </a:prstGeom>
          <a:noFill/>
        </p:spPr>
        <p:txBody>
          <a:bodyPr wrap="square">
            <a:spAutoFit/>
          </a:bodyPr>
          <a:lstStyle/>
          <a:p>
            <a:pPr algn="l"/>
            <a:r>
              <a:rPr sz="900" b="0">
                <a:solidFill>
                  <a:srgbClr val="1E293B"/>
                </a:solidFill>
              </a:rPr>
              <a:t>The Kaohsiung manufacturing hub's Series 7 production line and SCADA network TW-01 — AeroGrid's most operationally sensitive crown jewels — are the assets most directly exposed by the intrusion pattern evidenced in the signals.</a:t>
            </a:r>
          </a:p>
        </p:txBody>
      </p:sp>
      <p:sp>
        <p:nvSpPr>
          <p:cNvPr id="14" name="Rectangle 13"/>
          <p:cNvSpPr/>
          <p:nvPr/>
        </p:nvSpPr>
        <p:spPr>
          <a:xfrm>
            <a:off x="274320" y="3383280"/>
            <a:ext cx="45720" cy="2377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383280"/>
            <a:ext cx="4023360" cy="256032"/>
          </a:xfrm>
          <a:prstGeom prst="rect">
            <a:avLst/>
          </a:prstGeom>
          <a:noFill/>
        </p:spPr>
        <p:txBody>
          <a:bodyPr wrap="square">
            <a:spAutoFit/>
          </a:bodyPr>
          <a:lstStyle/>
          <a:p>
            <a:pPr algn="l"/>
            <a:r>
              <a:rPr sz="700" b="1">
                <a:solidFill>
                  <a:srgbClr val="64748B"/>
                </a:solidFill>
              </a:rPr>
              <a:t>IMPACT</a:t>
            </a:r>
          </a:p>
        </p:txBody>
      </p:sp>
      <p:sp>
        <p:nvSpPr>
          <p:cNvPr id="16" name="TextBox 15"/>
          <p:cNvSpPr txBox="1"/>
          <p:nvPr/>
        </p:nvSpPr>
        <p:spPr>
          <a:xfrm>
            <a:off x="365760" y="3639312"/>
            <a:ext cx="4023360" cy="2121408"/>
          </a:xfrm>
          <a:prstGeom prst="rect">
            <a:avLst/>
          </a:prstGeom>
          <a:noFill/>
        </p:spPr>
        <p:txBody>
          <a:bodyPr wrap="square">
            <a:spAutoFit/>
          </a:bodyPr>
          <a:lstStyle/>
          <a:p>
            <a:pPr algn="l"/>
            <a:r>
              <a:rPr sz="900" b="0">
                <a:solidFill>
                  <a:srgbClr val="1E293B"/>
                </a:solidFill>
              </a:rPr>
              <a:t>Undetected persistent access to the Kaohsiung blade production line control systems would directly threaten output on the Series 7 line, which at 60% of global production capacity cannot be compensated by other regions without material breach exposure on the TEPCO agreement.</a:t>
            </a:r>
          </a:p>
        </p:txBody>
      </p:sp>
      <p:sp>
        <p:nvSpPr>
          <p:cNvPr id="17" name="Rectangle 16"/>
          <p:cNvSpPr/>
          <p:nvPr/>
        </p:nvSpPr>
        <p:spPr>
          <a:xfrm>
            <a:off x="4572000" y="3383280"/>
            <a:ext cx="45720" cy="2377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383280"/>
            <a:ext cx="4023360" cy="256032"/>
          </a:xfrm>
          <a:prstGeom prst="rect">
            <a:avLst/>
          </a:prstGeom>
          <a:noFill/>
        </p:spPr>
        <p:txBody>
          <a:bodyPr wrap="square">
            <a:spAutoFit/>
          </a:bodyPr>
          <a:lstStyle/>
          <a:p>
            <a:pPr algn="l"/>
            <a:r>
              <a:rPr sz="700" b="1">
                <a:solidFill>
                  <a:srgbClr val="64748B"/>
                </a:solidFill>
              </a:rPr>
              <a:t>WATCH</a:t>
            </a:r>
          </a:p>
        </p:txBody>
      </p:sp>
      <p:sp>
        <p:nvSpPr>
          <p:cNvPr id="19" name="TextBox 18"/>
          <p:cNvSpPr txBox="1"/>
          <p:nvPr/>
        </p:nvSpPr>
        <p:spPr>
          <a:xfrm>
            <a:off x="4663440" y="3639312"/>
            <a:ext cx="4023360" cy="2121408"/>
          </a:xfrm>
          <a:prstGeom prst="rect">
            <a:avLst/>
          </a:prstGeom>
          <a:noFill/>
        </p:spPr>
        <p:txBody>
          <a:bodyPr wrap="square">
            <a:spAutoFit/>
          </a:bodyPr>
          <a:lstStyle/>
          <a:p>
            <a:pPr algn="l"/>
            <a:r>
              <a:rPr sz="900" b="0">
                <a:solidFill>
                  <a:srgbClr val="1E293B"/>
                </a:solidFill>
              </a:rPr>
              <a:t>The priority watch item for this region is confirmation of whether the documented supply chain compromise involves software deployed inside AeroGrid's Kaohsiung production environment — that determination would shift this classification from Mixed to a discrete Event and directly change the operational response required.</a:t>
            </a:r>
          </a:p>
        </p:txBody>
      </p:sp>
      <p:sp>
        <p:nvSpPr>
          <p:cNvPr id="20" name="TextBox 19"/>
          <p:cNvSpPr txBox="1"/>
          <p:nvPr/>
        </p:nvSpPr>
        <p:spPr>
          <a:xfrm>
            <a:off x="274320" y="5852160"/>
            <a:ext cx="2286000" cy="274320"/>
          </a:xfrm>
          <a:prstGeom prst="rect">
            <a:avLst/>
          </a:prstGeom>
          <a:noFill/>
        </p:spPr>
        <p:txBody>
          <a:bodyPr wrap="square">
            <a:spAutoFit/>
          </a:bodyPr>
          <a:lstStyle/>
          <a:p>
            <a:pPr algn="l"/>
            <a:r>
              <a:rPr sz="800" b="0">
                <a:solidFill>
                  <a:srgbClr val="64748B"/>
                </a:solidFill>
              </a:rPr>
              <a:t>→ Stable</a:t>
            </a:r>
          </a:p>
        </p:txBody>
      </p:sp>
      <p:sp>
        <p:nvSpPr>
          <p:cNvPr id="21" name="TextBox 20"/>
          <p:cNvSpPr txBox="1"/>
          <p:nvPr/>
        </p:nvSpPr>
        <p:spPr>
          <a:xfrm>
            <a:off x="2743200" y="5852160"/>
            <a:ext cx="5943600" cy="274320"/>
          </a:xfrm>
          <a:prstGeom prst="rect">
            <a:avLst/>
          </a:prstGeom>
          <a:noFill/>
        </p:spPr>
        <p:txBody>
          <a:bodyPr wrap="square">
            <a:spAutoFit/>
          </a:bodyPr>
          <a:lstStyle/>
          <a:p>
            <a:pPr algn="l"/>
            <a:r>
              <a:rPr sz="800" b="0">
                <a:solidFill>
                  <a:srgbClr val="64748B"/>
                </a:solidFill>
              </a:rPr>
              <a:t>State-directed threat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AME</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Ransomware</a:t>
            </a:r>
          </a:p>
        </p:txBody>
      </p:sp>
      <p:sp>
        <p:nvSpPr>
          <p:cNvPr id="5" name="Rectangle 4"/>
          <p:cNvSpPr/>
          <p:nvPr/>
        </p:nvSpPr>
        <p:spPr>
          <a:xfrm>
            <a:off x="7680960" y="109728"/>
            <a:ext cx="1188720" cy="34747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CRITICAL</a:t>
            </a:r>
          </a:p>
        </p:txBody>
      </p:sp>
      <p:sp>
        <p:nvSpPr>
          <p:cNvPr id="7" name="TextBox 6"/>
          <p:cNvSpPr txBox="1"/>
          <p:nvPr/>
        </p:nvSpPr>
        <p:spPr>
          <a:xfrm>
            <a:off x="274320" y="685800"/>
            <a:ext cx="8229600" cy="256032"/>
          </a:xfrm>
          <a:prstGeom prst="rect">
            <a:avLst/>
          </a:prstGeom>
          <a:noFill/>
        </p:spPr>
        <p:txBody>
          <a:bodyPr wrap="square">
            <a:spAutoFit/>
          </a:bodyPr>
          <a:lstStyle/>
          <a:p>
            <a:pPr algn="l"/>
            <a:r>
              <a:rPr sz="900" b="0">
                <a:solidFill>
                  <a:srgbClr val="64748B"/>
                </a:solidFill>
              </a:rPr>
              <a:t>Ransomware  ·  Mixed  ·  Confidence: High</a:t>
            </a:r>
          </a:p>
        </p:txBody>
      </p:sp>
      <p:sp>
        <p:nvSpPr>
          <p:cNvPr id="8" name="Rectangle 7"/>
          <p:cNvSpPr/>
          <p:nvPr/>
        </p:nvSpPr>
        <p:spPr>
          <a:xfrm>
            <a:off x="27432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14400"/>
            <a:ext cx="4023360" cy="256032"/>
          </a:xfrm>
          <a:prstGeom prst="rect">
            <a:avLst/>
          </a:prstGeom>
          <a:noFill/>
        </p:spPr>
        <p:txBody>
          <a:bodyPr wrap="square">
            <a:spAutoFit/>
          </a:bodyPr>
          <a:lstStyle/>
          <a:p>
            <a:pPr algn="l"/>
            <a:r>
              <a:rPr sz="700" b="1">
                <a:solidFill>
                  <a:srgbClr val="64748B"/>
                </a:solidFill>
              </a:rPr>
              <a:t>DRIVER</a:t>
            </a:r>
          </a:p>
        </p:txBody>
      </p:sp>
      <p:sp>
        <p:nvSpPr>
          <p:cNvPr id="10" name="TextBox 9"/>
          <p:cNvSpPr txBox="1"/>
          <p:nvPr/>
        </p:nvSpPr>
        <p:spPr>
          <a:xfrm>
            <a:off x="365760" y="1170432"/>
            <a:ext cx="4023360" cy="2121408"/>
          </a:xfrm>
          <a:prstGeom prst="rect">
            <a:avLst/>
          </a:prstGeom>
          <a:noFill/>
        </p:spPr>
        <p:txBody>
          <a:bodyPr wrap="square">
            <a:spAutoFit/>
          </a:bodyPr>
          <a:lstStyle/>
          <a:p>
            <a:pPr algn="l"/>
            <a:r>
              <a:rPr sz="900" b="0">
                <a:solidFill>
                  <a:srgbClr val="1E293B"/>
                </a:solidFill>
              </a:rPr>
              <a:t>North American wind energy operators are navigating a structural shift in their regulatory standing: a recent US executive order has formally designated offshore wind operations as critical national infrastructure, raising the political and strategic visibility of the sector at a moment when adversaries treat that visibility as targeting criteria.</a:t>
            </a:r>
          </a:p>
        </p:txBody>
      </p:sp>
      <p:sp>
        <p:nvSpPr>
          <p:cNvPr id="11" name="Rectangle 10"/>
          <p:cNvSpPr/>
          <p:nvPr/>
        </p:nvSpPr>
        <p:spPr>
          <a:xfrm>
            <a:off x="457200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914400"/>
            <a:ext cx="4023360" cy="256032"/>
          </a:xfrm>
          <a:prstGeom prst="rect">
            <a:avLst/>
          </a:prstGeom>
          <a:noFill/>
        </p:spPr>
        <p:txBody>
          <a:bodyPr wrap="square">
            <a:spAutoFit/>
          </a:bodyPr>
          <a:lstStyle/>
          <a:p>
            <a:pPr algn="l"/>
            <a:r>
              <a:rPr sz="700" b="1">
                <a:solidFill>
                  <a:srgbClr val="64748B"/>
                </a:solidFill>
              </a:rPr>
              <a:t>EXPOSURE</a:t>
            </a:r>
          </a:p>
        </p:txBody>
      </p:sp>
      <p:sp>
        <p:nvSpPr>
          <p:cNvPr id="13" name="TextBox 12"/>
          <p:cNvSpPr txBox="1"/>
          <p:nvPr/>
        </p:nvSpPr>
        <p:spPr>
          <a:xfrm>
            <a:off x="4663440" y="1170432"/>
            <a:ext cx="4023360" cy="2121408"/>
          </a:xfrm>
          <a:prstGeom prst="rect">
            <a:avLst/>
          </a:prstGeom>
          <a:noFill/>
        </p:spPr>
        <p:txBody>
          <a:bodyPr wrap="square">
            <a:spAutoFit/>
          </a:bodyPr>
          <a:lstStyle/>
          <a:p>
            <a:pPr algn="l"/>
            <a:r>
              <a:rPr sz="900" b="0">
                <a:solidFill>
                  <a:srgbClr val="1E293B"/>
                </a:solidFill>
              </a:rPr>
              <a:t>The cyber signals evidence two confirmed incidents at peer North American energy operators in the current collection window.</a:t>
            </a:r>
          </a:p>
        </p:txBody>
      </p:sp>
      <p:sp>
        <p:nvSpPr>
          <p:cNvPr id="14" name="Rectangle 13"/>
          <p:cNvSpPr/>
          <p:nvPr/>
        </p:nvSpPr>
        <p:spPr>
          <a:xfrm>
            <a:off x="274320" y="3383280"/>
            <a:ext cx="45720" cy="2377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383280"/>
            <a:ext cx="4023360" cy="256032"/>
          </a:xfrm>
          <a:prstGeom prst="rect">
            <a:avLst/>
          </a:prstGeom>
          <a:noFill/>
        </p:spPr>
        <p:txBody>
          <a:bodyPr wrap="square">
            <a:spAutoFit/>
          </a:bodyPr>
          <a:lstStyle/>
          <a:p>
            <a:pPr algn="l"/>
            <a:r>
              <a:rPr sz="700" b="1">
                <a:solidFill>
                  <a:srgbClr val="64748B"/>
                </a:solidFill>
              </a:rPr>
              <a:t>IMPACT</a:t>
            </a:r>
          </a:p>
        </p:txBody>
      </p:sp>
      <p:sp>
        <p:nvSpPr>
          <p:cNvPr id="16" name="TextBox 15"/>
          <p:cNvSpPr txBox="1"/>
          <p:nvPr/>
        </p:nvSpPr>
        <p:spPr>
          <a:xfrm>
            <a:off x="365760" y="3639312"/>
            <a:ext cx="4023360" cy="2121408"/>
          </a:xfrm>
          <a:prstGeom prst="rect">
            <a:avLst/>
          </a:prstGeom>
          <a:noFill/>
        </p:spPr>
        <p:txBody>
          <a:bodyPr wrap="square">
            <a:spAutoFit/>
          </a:bodyPr>
          <a:lstStyle/>
          <a:p>
            <a:pPr algn="l"/>
            <a:r>
              <a:rPr sz="900" b="0">
                <a:solidFill>
                  <a:srgbClr val="1E293B"/>
                </a:solidFill>
              </a:rPr>
              <a:t>If the pattern evidenced at peer operators were to reach AeroGrid's AME operations, the immediate consequence would be loss of visibility and control over wind farm telemetry network NA-01 — disabling the predictive maintenance capability that underpins both the NextEra Energy three-year maintenance contract and the Ontario Wind Power service agreement.</a:t>
            </a:r>
          </a:p>
        </p:txBody>
      </p:sp>
      <p:sp>
        <p:nvSpPr>
          <p:cNvPr id="17" name="Rectangle 16"/>
          <p:cNvSpPr/>
          <p:nvPr/>
        </p:nvSpPr>
        <p:spPr>
          <a:xfrm>
            <a:off x="4572000" y="3383280"/>
            <a:ext cx="45720" cy="2377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383280"/>
            <a:ext cx="4023360" cy="256032"/>
          </a:xfrm>
          <a:prstGeom prst="rect">
            <a:avLst/>
          </a:prstGeom>
          <a:noFill/>
        </p:spPr>
        <p:txBody>
          <a:bodyPr wrap="square">
            <a:spAutoFit/>
          </a:bodyPr>
          <a:lstStyle/>
          <a:p>
            <a:pPr algn="l"/>
            <a:r>
              <a:rPr sz="700" b="1">
                <a:solidFill>
                  <a:srgbClr val="64748B"/>
                </a:solidFill>
              </a:rPr>
              <a:t>WATCH</a:t>
            </a:r>
          </a:p>
        </p:txBody>
      </p:sp>
      <p:sp>
        <p:nvSpPr>
          <p:cNvPr id="19" name="TextBox 18"/>
          <p:cNvSpPr txBox="1"/>
          <p:nvPr/>
        </p:nvSpPr>
        <p:spPr>
          <a:xfrm>
            <a:off x="4663440" y="3639312"/>
            <a:ext cx="4023360" cy="2121408"/>
          </a:xfrm>
          <a:prstGeom prst="rect">
            <a:avLst/>
          </a:prstGeom>
          <a:noFill/>
        </p:spPr>
        <p:txBody>
          <a:bodyPr wrap="square">
            <a:spAutoFit/>
          </a:bodyPr>
          <a:lstStyle/>
          <a:p>
            <a:pPr algn="l"/>
            <a:r>
              <a:rPr sz="900" b="0">
                <a:solidFill>
                  <a:srgbClr val="1E293B"/>
                </a:solidFill>
              </a:rPr>
              <a:t>The forward watch position should track whether any AME-region incident disclosure emerges under the new mandatory reporting requirements — a filing by a wind energy peer would be the earliest indicator that this pattern is accelerating toward direct exposure.</a:t>
            </a:r>
          </a:p>
        </p:txBody>
      </p:sp>
      <p:sp>
        <p:nvSpPr>
          <p:cNvPr id="20" name="TextBox 19"/>
          <p:cNvSpPr txBox="1"/>
          <p:nvPr/>
        </p:nvSpPr>
        <p:spPr>
          <a:xfrm>
            <a:off x="274320" y="5852160"/>
            <a:ext cx="2286000" cy="274320"/>
          </a:xfrm>
          <a:prstGeom prst="rect">
            <a:avLst/>
          </a:prstGeom>
          <a:noFill/>
        </p:spPr>
        <p:txBody>
          <a:bodyPr wrap="square">
            <a:spAutoFit/>
          </a:bodyPr>
          <a:lstStyle/>
          <a:p>
            <a:pPr algn="l"/>
            <a:r>
              <a:rPr sz="800" b="0">
                <a:solidFill>
                  <a:srgbClr val="64748B"/>
                </a:solidFill>
              </a:rPr>
              <a:t>→ Stable</a:t>
            </a:r>
          </a:p>
        </p:txBody>
      </p:sp>
      <p:sp>
        <p:nvSpPr>
          <p:cNvPr id="21" name="TextBox 20"/>
          <p:cNvSpPr txBox="1"/>
          <p:nvPr/>
        </p:nvSpPr>
        <p:spPr>
          <a:xfrm>
            <a:off x="2743200" y="5852160"/>
            <a:ext cx="5943600" cy="274320"/>
          </a:xfrm>
          <a:prstGeom prst="rect">
            <a:avLst/>
          </a:prstGeom>
          <a:noFill/>
        </p:spPr>
        <p:txBody>
          <a:bodyPr wrap="square">
            <a:spAutoFit/>
          </a:bodyPr>
          <a:lstStyle/>
          <a:p>
            <a:pPr algn="l"/>
            <a:r>
              <a:rPr sz="800" b="0">
                <a:solidFill>
                  <a:srgbClr val="64748B"/>
                </a:solidFill>
              </a:rPr>
              <a:t>Financially motivated threat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5486400" cy="411480"/>
          </a:xfrm>
          <a:prstGeom prst="rect">
            <a:avLst/>
          </a:prstGeom>
          <a:noFill/>
        </p:spPr>
        <p:txBody>
          <a:bodyPr wrap="square">
            <a:spAutoFit/>
          </a:bodyPr>
          <a:lstStyle/>
          <a:p>
            <a:pPr algn="l"/>
            <a:r>
              <a:rPr sz="1600" b="1">
                <a:solidFill>
                  <a:srgbClr val="FFFFFF"/>
                </a:solidFill>
              </a:rPr>
              <a:t>MED</a:t>
            </a:r>
          </a:p>
        </p:txBody>
      </p:sp>
      <p:sp>
        <p:nvSpPr>
          <p:cNvPr id="4" name="TextBox 3"/>
          <p:cNvSpPr txBox="1"/>
          <p:nvPr/>
        </p:nvSpPr>
        <p:spPr>
          <a:xfrm>
            <a:off x="274320" y="347472"/>
            <a:ext cx="5486400" cy="228600"/>
          </a:xfrm>
          <a:prstGeom prst="rect">
            <a:avLst/>
          </a:prstGeom>
          <a:noFill/>
        </p:spPr>
        <p:txBody>
          <a:bodyPr wrap="square">
            <a:spAutoFit/>
          </a:bodyPr>
          <a:lstStyle/>
          <a:p>
            <a:pPr algn="l"/>
            <a:r>
              <a:rPr sz="900" b="0">
                <a:solidFill>
                  <a:srgbClr val="BFDBFF"/>
                </a:solidFill>
              </a:rPr>
              <a:t>Insider misuse</a:t>
            </a:r>
          </a:p>
        </p:txBody>
      </p:sp>
      <p:sp>
        <p:nvSpPr>
          <p:cNvPr id="5" name="Rectangle 4"/>
          <p:cNvSpPr/>
          <p:nvPr/>
        </p:nvSpPr>
        <p:spPr>
          <a:xfrm>
            <a:off x="7680960" y="109728"/>
            <a:ext cx="1188720" cy="34747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0" y="146304"/>
            <a:ext cx="1188720" cy="274320"/>
          </a:xfrm>
          <a:prstGeom prst="rect">
            <a:avLst/>
          </a:prstGeom>
          <a:noFill/>
        </p:spPr>
        <p:txBody>
          <a:bodyPr wrap="square">
            <a:spAutoFit/>
          </a:bodyPr>
          <a:lstStyle/>
          <a:p>
            <a:pPr algn="ctr"/>
            <a:r>
              <a:rPr sz="800" b="1">
                <a:solidFill>
                  <a:srgbClr val="FFFFFF"/>
                </a:solidFill>
              </a:rPr>
              <a:t>MEDIUM</a:t>
            </a:r>
          </a:p>
        </p:txBody>
      </p:sp>
      <p:sp>
        <p:nvSpPr>
          <p:cNvPr id="7" name="TextBox 6"/>
          <p:cNvSpPr txBox="1"/>
          <p:nvPr/>
        </p:nvSpPr>
        <p:spPr>
          <a:xfrm>
            <a:off x="274320" y="685800"/>
            <a:ext cx="8229600" cy="256032"/>
          </a:xfrm>
          <a:prstGeom prst="rect">
            <a:avLst/>
          </a:prstGeom>
          <a:noFill/>
        </p:spPr>
        <p:txBody>
          <a:bodyPr wrap="square">
            <a:spAutoFit/>
          </a:bodyPr>
          <a:lstStyle/>
          <a:p>
            <a:pPr algn="l"/>
            <a:r>
              <a:rPr sz="900" b="0">
                <a:solidFill>
                  <a:srgbClr val="64748B"/>
                </a:solidFill>
              </a:rPr>
              <a:t>Insider misuse  ·  Mixed  ·  Confidence: High</a:t>
            </a:r>
          </a:p>
        </p:txBody>
      </p:sp>
      <p:sp>
        <p:nvSpPr>
          <p:cNvPr id="8" name="Rectangle 7"/>
          <p:cNvSpPr/>
          <p:nvPr/>
        </p:nvSpPr>
        <p:spPr>
          <a:xfrm>
            <a:off x="27432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14400"/>
            <a:ext cx="4023360" cy="256032"/>
          </a:xfrm>
          <a:prstGeom prst="rect">
            <a:avLst/>
          </a:prstGeom>
          <a:noFill/>
        </p:spPr>
        <p:txBody>
          <a:bodyPr wrap="square">
            <a:spAutoFit/>
          </a:bodyPr>
          <a:lstStyle/>
          <a:p>
            <a:pPr algn="l"/>
            <a:r>
              <a:rPr sz="700" b="1">
                <a:solidFill>
                  <a:srgbClr val="64748B"/>
                </a:solidFill>
              </a:rPr>
              <a:t>DRIVER</a:t>
            </a:r>
          </a:p>
        </p:txBody>
      </p:sp>
      <p:sp>
        <p:nvSpPr>
          <p:cNvPr id="10" name="TextBox 9"/>
          <p:cNvSpPr txBox="1"/>
          <p:nvPr/>
        </p:nvSpPr>
        <p:spPr>
          <a:xfrm>
            <a:off x="365760" y="1170432"/>
            <a:ext cx="4023360" cy="2121408"/>
          </a:xfrm>
          <a:prstGeom prst="rect">
            <a:avLst/>
          </a:prstGeom>
          <a:noFill/>
        </p:spPr>
        <p:txBody>
          <a:bodyPr wrap="square">
            <a:spAutoFit/>
          </a:bodyPr>
          <a:lstStyle/>
          <a:p>
            <a:pPr algn="l"/>
            <a:r>
              <a:rPr sz="900" b="0">
                <a:solidFill>
                  <a:srgbClr val="1E293B"/>
                </a:solidFill>
              </a:rPr>
              <a:t>AeroGrid's ability to sustain offshore blade assembly at Palermo and maintain contracted service delivery for Iberdrola and ENEL across the Mediterranean is being undermined by a convergence of structural instabilities that elevate the risk of insider-enabled harm.</a:t>
            </a:r>
          </a:p>
        </p:txBody>
      </p:sp>
      <p:sp>
        <p:nvSpPr>
          <p:cNvPr id="11" name="Rectangle 10"/>
          <p:cNvSpPr/>
          <p:nvPr/>
        </p:nvSpPr>
        <p:spPr>
          <a:xfrm>
            <a:off x="4572000" y="914400"/>
            <a:ext cx="45720" cy="237744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914400"/>
            <a:ext cx="4023360" cy="256032"/>
          </a:xfrm>
          <a:prstGeom prst="rect">
            <a:avLst/>
          </a:prstGeom>
          <a:noFill/>
        </p:spPr>
        <p:txBody>
          <a:bodyPr wrap="square">
            <a:spAutoFit/>
          </a:bodyPr>
          <a:lstStyle/>
          <a:p>
            <a:pPr algn="l"/>
            <a:r>
              <a:rPr sz="700" b="1">
                <a:solidFill>
                  <a:srgbClr val="64748B"/>
                </a:solidFill>
              </a:rPr>
              <a:t>EXPOSURE</a:t>
            </a:r>
          </a:p>
        </p:txBody>
      </p:sp>
      <p:sp>
        <p:nvSpPr>
          <p:cNvPr id="13" name="TextBox 12"/>
          <p:cNvSpPr txBox="1"/>
          <p:nvPr/>
        </p:nvSpPr>
        <p:spPr>
          <a:xfrm>
            <a:off x="4663440" y="1170432"/>
            <a:ext cx="4023360" cy="2121408"/>
          </a:xfrm>
          <a:prstGeom prst="rect">
            <a:avLst/>
          </a:prstGeom>
          <a:noFill/>
        </p:spPr>
        <p:txBody>
          <a:bodyPr wrap="square">
            <a:spAutoFit/>
          </a:bodyPr>
          <a:lstStyle/>
          <a:p>
            <a:pPr algn="l"/>
            <a:r>
              <a:rPr sz="900" b="0">
                <a:solidFill>
                  <a:srgbClr val="1E293B"/>
                </a:solidFill>
              </a:rPr>
              <a:t>A corroborated insider misuse incident at a peer Mediterranean energy operator provides direct evidence of the threat vector now facing AeroGrid's MED operations.</a:t>
            </a:r>
          </a:p>
        </p:txBody>
      </p:sp>
      <p:sp>
        <p:nvSpPr>
          <p:cNvPr id="14" name="Rectangle 13"/>
          <p:cNvSpPr/>
          <p:nvPr/>
        </p:nvSpPr>
        <p:spPr>
          <a:xfrm>
            <a:off x="274320" y="3383280"/>
            <a:ext cx="45720" cy="23774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3383280"/>
            <a:ext cx="4023360" cy="256032"/>
          </a:xfrm>
          <a:prstGeom prst="rect">
            <a:avLst/>
          </a:prstGeom>
          <a:noFill/>
        </p:spPr>
        <p:txBody>
          <a:bodyPr wrap="square">
            <a:spAutoFit/>
          </a:bodyPr>
          <a:lstStyle/>
          <a:p>
            <a:pPr algn="l"/>
            <a:r>
              <a:rPr sz="700" b="1">
                <a:solidFill>
                  <a:srgbClr val="64748B"/>
                </a:solidFill>
              </a:rPr>
              <a:t>IMPACT</a:t>
            </a:r>
          </a:p>
        </p:txBody>
      </p:sp>
      <p:sp>
        <p:nvSpPr>
          <p:cNvPr id="16" name="TextBox 15"/>
          <p:cNvSpPr txBox="1"/>
          <p:nvPr/>
        </p:nvSpPr>
        <p:spPr>
          <a:xfrm>
            <a:off x="365760" y="3639312"/>
            <a:ext cx="4023360" cy="2121408"/>
          </a:xfrm>
          <a:prstGeom prst="rect">
            <a:avLst/>
          </a:prstGeom>
          <a:noFill/>
        </p:spPr>
        <p:txBody>
          <a:bodyPr wrap="square">
            <a:spAutoFit/>
          </a:bodyPr>
          <a:lstStyle/>
          <a:p>
            <a:pPr algn="l"/>
            <a:r>
              <a:rPr sz="900" b="0">
                <a:solidFill>
                  <a:srgbClr val="1E293B"/>
                </a:solidFill>
              </a:rPr>
              <a:t>If this access pattern extends to AeroGrid's own contractor workforce at Palermo, the primary operational consequence is disruption to or manipulation of the offshore blade assembly process — a high-value manufacturing capability that underpins regional revenue and supports commitments under the four-year Iberdrola offshore maintenance contract and the ENEL MED service agreement.</a:t>
            </a:r>
          </a:p>
        </p:txBody>
      </p:sp>
      <p:sp>
        <p:nvSpPr>
          <p:cNvPr id="17" name="Rectangle 16"/>
          <p:cNvSpPr/>
          <p:nvPr/>
        </p:nvSpPr>
        <p:spPr>
          <a:xfrm>
            <a:off x="4572000" y="3383280"/>
            <a:ext cx="45720" cy="2377440"/>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383280"/>
            <a:ext cx="4023360" cy="256032"/>
          </a:xfrm>
          <a:prstGeom prst="rect">
            <a:avLst/>
          </a:prstGeom>
          <a:noFill/>
        </p:spPr>
        <p:txBody>
          <a:bodyPr wrap="square">
            <a:spAutoFit/>
          </a:bodyPr>
          <a:lstStyle/>
          <a:p>
            <a:pPr algn="l"/>
            <a:r>
              <a:rPr sz="700" b="1">
                <a:solidFill>
                  <a:srgbClr val="64748B"/>
                </a:solidFill>
              </a:rPr>
              <a:t>WATCH</a:t>
            </a:r>
          </a:p>
        </p:txBody>
      </p:sp>
      <p:sp>
        <p:nvSpPr>
          <p:cNvPr id="19" name="TextBox 18"/>
          <p:cNvSpPr txBox="1"/>
          <p:nvPr/>
        </p:nvSpPr>
        <p:spPr>
          <a:xfrm>
            <a:off x="4663440" y="3639312"/>
            <a:ext cx="4023360" cy="2121408"/>
          </a:xfrm>
          <a:prstGeom prst="rect">
            <a:avLst/>
          </a:prstGeom>
          <a:noFill/>
        </p:spPr>
        <p:txBody>
          <a:bodyPr wrap="square">
            <a:spAutoFit/>
          </a:bodyPr>
          <a:lstStyle/>
          <a:p>
            <a:pPr algn="l"/>
            <a:r>
              <a:rPr sz="900" b="0">
                <a:solidFill>
                  <a:srgbClr val="1E293B"/>
                </a:solidFill>
              </a:rPr>
              <a:t>The forward indicator to watch is contractor access review completion rates at Palermo against the backdrop of any workforce restructuring driven by EU supplier regulation changes; a gap there would confirm that the conditions documented at the peer operator are replicable at AeroGrid's highest-risk MED site.</a:t>
            </a:r>
          </a:p>
        </p:txBody>
      </p:sp>
      <p:sp>
        <p:nvSpPr>
          <p:cNvPr id="20" name="TextBox 19"/>
          <p:cNvSpPr txBox="1"/>
          <p:nvPr/>
        </p:nvSpPr>
        <p:spPr>
          <a:xfrm>
            <a:off x="274320" y="5852160"/>
            <a:ext cx="2286000" cy="274320"/>
          </a:xfrm>
          <a:prstGeom prst="rect">
            <a:avLst/>
          </a:prstGeom>
          <a:noFill/>
        </p:spPr>
        <p:txBody>
          <a:bodyPr wrap="square">
            <a:spAutoFit/>
          </a:bodyPr>
          <a:lstStyle/>
          <a:p>
            <a:pPr algn="l"/>
            <a:r>
              <a:rPr sz="800" b="0">
                <a:solidFill>
                  <a:srgbClr val="64748B"/>
                </a:solidFill>
              </a:rPr>
              <a:t>→ Stable</a:t>
            </a:r>
          </a:p>
        </p:txBody>
      </p:sp>
      <p:sp>
        <p:nvSpPr>
          <p:cNvPr id="21" name="TextBox 20"/>
          <p:cNvSpPr txBox="1"/>
          <p:nvPr/>
        </p:nvSpPr>
        <p:spPr>
          <a:xfrm>
            <a:off x="2743200" y="5852160"/>
            <a:ext cx="5943600" cy="274320"/>
          </a:xfrm>
          <a:prstGeom prst="rect">
            <a:avLst/>
          </a:prstGeom>
          <a:noFill/>
        </p:spPr>
        <p:txBody>
          <a:bodyPr wrap="square">
            <a:spAutoFit/>
          </a:bodyPr>
          <a:lstStyle/>
          <a:p>
            <a:pPr algn="l"/>
            <a:r>
              <a:rPr sz="800" b="0">
                <a:solidFill>
                  <a:srgbClr val="64748B"/>
                </a:solidFill>
              </a:rPr>
              <a:t>State-directed threat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042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6400800" cy="411480"/>
          </a:xfrm>
          <a:prstGeom prst="rect">
            <a:avLst/>
          </a:prstGeom>
          <a:noFill/>
        </p:spPr>
        <p:txBody>
          <a:bodyPr wrap="square">
            <a:spAutoFit/>
          </a:bodyPr>
          <a:lstStyle/>
          <a:p>
            <a:pPr algn="l"/>
            <a:r>
              <a:rPr sz="1600" b="1">
                <a:solidFill>
                  <a:srgbClr val="FFFFFF"/>
                </a:solidFill>
              </a:rPr>
              <a:t>Appendix</a:t>
            </a:r>
          </a:p>
        </p:txBody>
      </p:sp>
      <p:sp>
        <p:nvSpPr>
          <p:cNvPr id="4" name="TextBox 3"/>
          <p:cNvSpPr txBox="1"/>
          <p:nvPr/>
        </p:nvSpPr>
        <p:spPr>
          <a:xfrm>
            <a:off x="365760" y="777240"/>
            <a:ext cx="8229600" cy="274320"/>
          </a:xfrm>
          <a:prstGeom prst="rect">
            <a:avLst/>
          </a:prstGeom>
          <a:noFill/>
        </p:spPr>
        <p:txBody>
          <a:bodyPr wrap="square">
            <a:spAutoFit/>
          </a:bodyPr>
          <a:lstStyle/>
          <a:p>
            <a:pPr algn="l"/>
            <a:r>
              <a:rPr sz="900" b="1">
                <a:solidFill>
                  <a:srgbClr val="16A34A"/>
                </a:solidFill>
              </a:rPr>
              <a:t>CLEAR REGIONS</a:t>
            </a:r>
          </a:p>
        </p:txBody>
      </p:sp>
      <p:sp>
        <p:nvSpPr>
          <p:cNvPr id="5" name="TextBox 4"/>
          <p:cNvSpPr txBox="1"/>
          <p:nvPr/>
        </p:nvSpPr>
        <p:spPr>
          <a:xfrm>
            <a:off x="548640" y="1097280"/>
            <a:ext cx="8229600" cy="320040"/>
          </a:xfrm>
          <a:prstGeom prst="rect">
            <a:avLst/>
          </a:prstGeom>
          <a:noFill/>
        </p:spPr>
        <p:txBody>
          <a:bodyPr wrap="square">
            <a:spAutoFit/>
          </a:bodyPr>
          <a:lstStyle/>
          <a:p>
            <a:pPr algn="l"/>
            <a:r>
              <a:rPr sz="900" b="0">
                <a:solidFill>
                  <a:srgbClr val="1E293B"/>
                </a:solidFill>
              </a:rPr>
              <a:t>LATAM  —  No active threat detected this cycle.</a:t>
            </a:r>
          </a:p>
        </p:txBody>
      </p:sp>
      <p:sp>
        <p:nvSpPr>
          <p:cNvPr id="6" name="TextBox 5"/>
          <p:cNvSpPr txBox="1"/>
          <p:nvPr/>
        </p:nvSpPr>
        <p:spPr>
          <a:xfrm>
            <a:off x="548640" y="1444752"/>
            <a:ext cx="8229600" cy="320040"/>
          </a:xfrm>
          <a:prstGeom prst="rect">
            <a:avLst/>
          </a:prstGeom>
          <a:noFill/>
        </p:spPr>
        <p:txBody>
          <a:bodyPr wrap="square">
            <a:spAutoFit/>
          </a:bodyPr>
          <a:lstStyle/>
          <a:p>
            <a:pPr algn="l"/>
            <a:r>
              <a:rPr sz="900" b="0">
                <a:solidFill>
                  <a:srgbClr val="1E293B"/>
                </a:solidFill>
              </a:rPr>
              <a:t>NCE  —  No active threat detected this cycle.</a:t>
            </a:r>
          </a:p>
        </p:txBody>
      </p:sp>
      <p:sp>
        <p:nvSpPr>
          <p:cNvPr id="7" name="TextBox 6"/>
          <p:cNvSpPr txBox="1"/>
          <p:nvPr/>
        </p:nvSpPr>
        <p:spPr>
          <a:xfrm>
            <a:off x="365760" y="1975104"/>
            <a:ext cx="8229600" cy="274320"/>
          </a:xfrm>
          <a:prstGeom prst="rect">
            <a:avLst/>
          </a:prstGeom>
          <a:noFill/>
        </p:spPr>
        <p:txBody>
          <a:bodyPr wrap="square">
            <a:spAutoFit/>
          </a:bodyPr>
          <a:lstStyle/>
          <a:p>
            <a:pPr algn="l"/>
            <a:r>
              <a:rPr sz="900" b="1">
                <a:solidFill>
                  <a:srgbClr val="64748B"/>
                </a:solidFill>
              </a:rPr>
              <a:t>RUN METADATA</a:t>
            </a:r>
          </a:p>
        </p:txBody>
      </p:sp>
      <p:sp>
        <p:nvSpPr>
          <p:cNvPr id="8" name="TextBox 7"/>
          <p:cNvSpPr txBox="1"/>
          <p:nvPr/>
        </p:nvSpPr>
        <p:spPr>
          <a:xfrm>
            <a:off x="548640" y="2295144"/>
            <a:ext cx="8229600" cy="274320"/>
          </a:xfrm>
          <a:prstGeom prst="rect">
            <a:avLst/>
          </a:prstGeom>
          <a:noFill/>
        </p:spPr>
        <p:txBody>
          <a:bodyPr wrap="square">
            <a:spAutoFit/>
          </a:bodyPr>
          <a:lstStyle/>
          <a:p>
            <a:pPr algn="l"/>
            <a:r>
              <a:rPr sz="900" b="0">
                <a:solidFill>
                  <a:srgbClr val="1E293B"/>
                </a:solidFill>
              </a:rPr>
              <a:t>Pipeline ID:  crq-2026-03-26T164449Z</a:t>
            </a:r>
          </a:p>
        </p:txBody>
      </p:sp>
      <p:sp>
        <p:nvSpPr>
          <p:cNvPr id="9" name="TextBox 8"/>
          <p:cNvSpPr txBox="1"/>
          <p:nvPr/>
        </p:nvSpPr>
        <p:spPr>
          <a:xfrm>
            <a:off x="548640" y="2569464"/>
            <a:ext cx="8229600" cy="274320"/>
          </a:xfrm>
          <a:prstGeom prst="rect">
            <a:avLst/>
          </a:prstGeom>
          <a:noFill/>
        </p:spPr>
        <p:txBody>
          <a:bodyPr wrap="square">
            <a:spAutoFit/>
          </a:bodyPr>
          <a:lstStyle/>
          <a:p>
            <a:pPr algn="l"/>
            <a:r>
              <a:rPr sz="900" b="0">
                <a:solidFill>
                  <a:srgbClr val="1E293B"/>
                </a:solidFill>
              </a:rPr>
              <a:t>Timestamp:  2026-03-26T16:44:49Z</a:t>
            </a:r>
          </a:p>
        </p:txBody>
      </p:sp>
      <p:sp>
        <p:nvSpPr>
          <p:cNvPr id="10" name="TextBox 9"/>
          <p:cNvSpPr txBox="1"/>
          <p:nvPr/>
        </p:nvSpPr>
        <p:spPr>
          <a:xfrm>
            <a:off x="548640" y="2843784"/>
            <a:ext cx="8229600" cy="274320"/>
          </a:xfrm>
          <a:prstGeom prst="rect">
            <a:avLst/>
          </a:prstGeom>
          <a:noFill/>
        </p:spPr>
        <p:txBody>
          <a:bodyPr wrap="square">
            <a:spAutoFit/>
          </a:bodyPr>
          <a:lstStyle/>
          <a:p>
            <a:pPr algn="l"/>
            <a:r>
              <a:rPr sz="900" b="0">
                <a:solidFill>
                  <a:srgbClr val="1E293B"/>
                </a:solidFill>
              </a:rPr>
              <a:t>Escalated:  3</a:t>
            </a:r>
          </a:p>
        </p:txBody>
      </p:sp>
      <p:sp>
        <p:nvSpPr>
          <p:cNvPr id="11" name="TextBox 10"/>
          <p:cNvSpPr txBox="1"/>
          <p:nvPr/>
        </p:nvSpPr>
        <p:spPr>
          <a:xfrm>
            <a:off x="548640" y="3118104"/>
            <a:ext cx="8229600" cy="274320"/>
          </a:xfrm>
          <a:prstGeom prst="rect">
            <a:avLst/>
          </a:prstGeom>
          <a:noFill/>
        </p:spPr>
        <p:txBody>
          <a:bodyPr wrap="square">
            <a:spAutoFit/>
          </a:bodyPr>
          <a:lstStyle/>
          <a:p>
            <a:pPr algn="l"/>
            <a:r>
              <a:rPr sz="900" b="0">
                <a:solidFill>
                  <a:srgbClr val="1E293B"/>
                </a:solidFill>
              </a:rPr>
              <a:t>Monitor:  0</a:t>
            </a:r>
          </a:p>
        </p:txBody>
      </p:sp>
      <p:sp>
        <p:nvSpPr>
          <p:cNvPr id="12" name="TextBox 11"/>
          <p:cNvSpPr txBox="1"/>
          <p:nvPr/>
        </p:nvSpPr>
        <p:spPr>
          <a:xfrm>
            <a:off x="548640" y="3392424"/>
            <a:ext cx="8229600" cy="274320"/>
          </a:xfrm>
          <a:prstGeom prst="rect">
            <a:avLst/>
          </a:prstGeom>
          <a:noFill/>
        </p:spPr>
        <p:txBody>
          <a:bodyPr wrap="square">
            <a:spAutoFit/>
          </a:bodyPr>
          <a:lstStyle/>
          <a:p>
            <a:pPr algn="l"/>
            <a:r>
              <a:rPr sz="900" b="0">
                <a:solidFill>
                  <a:srgbClr val="1E293B"/>
                </a:solidFill>
              </a:rPr>
              <a:t>Clear: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