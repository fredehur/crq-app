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31089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8046720" cy="457200"/>
          </a:xfrm>
          <a:prstGeom prst="rect">
            <a:avLst/>
          </a:prstGeom>
          <a:noFill/>
        </p:spPr>
        <p:txBody>
          <a:bodyPr wrap="square">
            <a:spAutoFit/>
          </a:bodyPr>
          <a:lstStyle/>
          <a:p>
            <a:pPr algn="l"/>
            <a:r>
              <a:rPr sz="1300" b="0">
                <a:solidFill>
                  <a:srgbClr val="BFDBFF"/>
                </a:solidFill>
              </a:rPr>
              <a:t>AeroGrid Wind Solutions</a:t>
            </a:r>
          </a:p>
        </p:txBody>
      </p:sp>
      <p:sp>
        <p:nvSpPr>
          <p:cNvPr id="4" name="TextBox 3"/>
          <p:cNvSpPr txBox="1"/>
          <p:nvPr/>
        </p:nvSpPr>
        <p:spPr>
          <a:xfrm>
            <a:off x="548640" y="1005840"/>
            <a:ext cx="8046720" cy="1828800"/>
          </a:xfrm>
          <a:prstGeom prst="rect">
            <a:avLst/>
          </a:prstGeom>
          <a:noFill/>
        </p:spPr>
        <p:txBody>
          <a:bodyPr wrap="square">
            <a:spAutoFit/>
          </a:bodyPr>
          <a:lstStyle/>
          <a:p>
            <a:pPr algn="l"/>
            <a:r>
              <a:rPr sz="2800" b="1">
                <a:solidFill>
                  <a:srgbClr val="FFFFFF"/>
                </a:solidFill>
              </a:rPr>
              <a:t>Global Cyber Risk
Intelligence Brief</a:t>
            </a:r>
          </a:p>
        </p:txBody>
      </p:sp>
      <p:sp>
        <p:nvSpPr>
          <p:cNvPr id="5" name="TextBox 4"/>
          <p:cNvSpPr txBox="1"/>
          <p:nvPr/>
        </p:nvSpPr>
        <p:spPr>
          <a:xfrm>
            <a:off x="548640" y="3383280"/>
            <a:ext cx="4572000" cy="320040"/>
          </a:xfrm>
          <a:prstGeom prst="rect">
            <a:avLst/>
          </a:prstGeom>
          <a:noFill/>
        </p:spPr>
        <p:txBody>
          <a:bodyPr wrap="square">
            <a:spAutoFit/>
          </a:bodyPr>
          <a:lstStyle/>
          <a:p>
            <a:pPr algn="l"/>
            <a:r>
              <a:rPr sz="900" b="0">
                <a:solidFill>
                  <a:srgbClr val="64748B"/>
                </a:solidFill>
              </a:rPr>
              <a:t>TOTAL VALUE AT CYBER RISK</a:t>
            </a:r>
          </a:p>
        </p:txBody>
      </p:sp>
      <p:sp>
        <p:nvSpPr>
          <p:cNvPr id="6" name="TextBox 5"/>
          <p:cNvSpPr txBox="1"/>
          <p:nvPr/>
        </p:nvSpPr>
        <p:spPr>
          <a:xfrm>
            <a:off x="548640" y="3657600"/>
            <a:ext cx="4572000" cy="822960"/>
          </a:xfrm>
          <a:prstGeom prst="rect">
            <a:avLst/>
          </a:prstGeom>
          <a:noFill/>
        </p:spPr>
        <p:txBody>
          <a:bodyPr wrap="square">
            <a:spAutoFit/>
          </a:bodyPr>
          <a:lstStyle/>
          <a:p>
            <a:pPr algn="l"/>
            <a:r>
              <a:rPr sz="3600" b="1">
                <a:solidFill>
                  <a:srgbClr val="104277"/>
                </a:solidFill>
              </a:rPr>
              <a:t>$44.7M</a:t>
            </a:r>
          </a:p>
        </p:txBody>
      </p:sp>
      <p:sp>
        <p:nvSpPr>
          <p:cNvPr id="7" name="TextBox 6"/>
          <p:cNvSpPr txBox="1"/>
          <p:nvPr/>
        </p:nvSpPr>
        <p:spPr>
          <a:xfrm>
            <a:off x="548640" y="4572000"/>
            <a:ext cx="7315200" cy="365760"/>
          </a:xfrm>
          <a:prstGeom prst="rect">
            <a:avLst/>
          </a:prstGeom>
          <a:noFill/>
        </p:spPr>
        <p:txBody>
          <a:bodyPr wrap="square">
            <a:spAutoFit/>
          </a:bodyPr>
          <a:lstStyle/>
          <a:p>
            <a:pPr algn="l"/>
            <a:r>
              <a:rPr sz="900" b="0">
                <a:solidFill>
                  <a:srgbClr val="64748B"/>
                </a:solidFill>
              </a:rPr>
              <a:t>Pipeline ID: crq-2026-03-12T190254Z   |   2026-03-12T19:02:54Z</a:t>
            </a:r>
          </a:p>
        </p:txBody>
      </p:sp>
      <p:sp>
        <p:nvSpPr>
          <p:cNvPr id="8" name="TextBox 7"/>
          <p:cNvSpPr txBox="1"/>
          <p:nvPr/>
        </p:nvSpPr>
        <p:spPr>
          <a:xfrm>
            <a:off x="6858000" y="6309360"/>
            <a:ext cx="2103120" cy="365760"/>
          </a:xfrm>
          <a:prstGeom prst="rect">
            <a:avLst/>
          </a:prstGeom>
          <a:noFill/>
        </p:spPr>
        <p:txBody>
          <a:bodyPr wrap="square">
            <a:spAutoFit/>
          </a:bodyPr>
          <a:lstStyle/>
          <a:p>
            <a:pPr algn="r"/>
            <a:r>
              <a:rPr sz="800" b="1">
                <a:solidFill>
                  <a:srgbClr val="DC2626"/>
                </a:solidFill>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6400800" cy="411480"/>
          </a:xfrm>
          <a:prstGeom prst="rect">
            <a:avLst/>
          </a:prstGeom>
          <a:noFill/>
        </p:spPr>
        <p:txBody>
          <a:bodyPr wrap="square">
            <a:spAutoFit/>
          </a:bodyPr>
          <a:lstStyle/>
          <a:p>
            <a:pPr algn="l"/>
            <a:r>
              <a:rPr sz="1600" b="1">
                <a:solidFill>
                  <a:srgbClr val="FFFFFF"/>
                </a:solidFill>
              </a:rPr>
              <a:t>Executive Summary</a:t>
            </a:r>
          </a:p>
        </p:txBody>
      </p:sp>
      <p:sp>
        <p:nvSpPr>
          <p:cNvPr id="4" name="Rectangle 3"/>
          <p:cNvSpPr/>
          <p:nvPr/>
        </p:nvSpPr>
        <p:spPr>
          <a:xfrm>
            <a:off x="365760" y="777240"/>
            <a:ext cx="1005840" cy="6858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04672"/>
            <a:ext cx="1005840" cy="365760"/>
          </a:xfrm>
          <a:prstGeom prst="rect">
            <a:avLst/>
          </a:prstGeom>
          <a:noFill/>
        </p:spPr>
        <p:txBody>
          <a:bodyPr wrap="square">
            <a:spAutoFit/>
          </a:bodyPr>
          <a:lstStyle/>
          <a:p>
            <a:pPr algn="ctr"/>
            <a:r>
              <a:rPr sz="2000" b="1">
                <a:solidFill>
                  <a:srgbClr val="FFFFFF"/>
                </a:solidFill>
              </a:rPr>
              <a:t>3</a:t>
            </a:r>
          </a:p>
        </p:txBody>
      </p:sp>
      <p:sp>
        <p:nvSpPr>
          <p:cNvPr id="6" name="TextBox 5"/>
          <p:cNvSpPr txBox="1"/>
          <p:nvPr/>
        </p:nvSpPr>
        <p:spPr>
          <a:xfrm>
            <a:off x="365760" y="1143000"/>
            <a:ext cx="1005840" cy="274320"/>
          </a:xfrm>
          <a:prstGeom prst="rect">
            <a:avLst/>
          </a:prstGeom>
          <a:noFill/>
        </p:spPr>
        <p:txBody>
          <a:bodyPr wrap="square">
            <a:spAutoFit/>
          </a:bodyPr>
          <a:lstStyle/>
          <a:p>
            <a:pPr algn="ctr"/>
            <a:r>
              <a:rPr sz="700" b="0">
                <a:solidFill>
                  <a:srgbClr val="FFFFFF"/>
                </a:solidFill>
              </a:rPr>
              <a:t>ESCALATED</a:t>
            </a:r>
          </a:p>
        </p:txBody>
      </p:sp>
      <p:sp>
        <p:nvSpPr>
          <p:cNvPr id="7" name="Rectangle 6"/>
          <p:cNvSpPr/>
          <p:nvPr/>
        </p:nvSpPr>
        <p:spPr>
          <a:xfrm>
            <a:off x="1554480" y="777240"/>
            <a:ext cx="1005840" cy="685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804672"/>
            <a:ext cx="1005840" cy="365760"/>
          </a:xfrm>
          <a:prstGeom prst="rect">
            <a:avLst/>
          </a:prstGeom>
          <a:noFill/>
        </p:spPr>
        <p:txBody>
          <a:bodyPr wrap="square">
            <a:spAutoFit/>
          </a:bodyPr>
          <a:lstStyle/>
          <a:p>
            <a:pPr algn="ctr"/>
            <a:r>
              <a:rPr sz="2000" b="1">
                <a:solidFill>
                  <a:srgbClr val="FFFFFF"/>
                </a:solidFill>
              </a:rPr>
              <a:t>0</a:t>
            </a:r>
          </a:p>
        </p:txBody>
      </p:sp>
      <p:sp>
        <p:nvSpPr>
          <p:cNvPr id="9" name="TextBox 8"/>
          <p:cNvSpPr txBox="1"/>
          <p:nvPr/>
        </p:nvSpPr>
        <p:spPr>
          <a:xfrm>
            <a:off x="1554480" y="1143000"/>
            <a:ext cx="1005840" cy="274320"/>
          </a:xfrm>
          <a:prstGeom prst="rect">
            <a:avLst/>
          </a:prstGeom>
          <a:noFill/>
        </p:spPr>
        <p:txBody>
          <a:bodyPr wrap="square">
            <a:spAutoFit/>
          </a:bodyPr>
          <a:lstStyle/>
          <a:p>
            <a:pPr algn="ctr"/>
            <a:r>
              <a:rPr sz="700" b="0">
                <a:solidFill>
                  <a:srgbClr val="FFFFFF"/>
                </a:solidFill>
              </a:rPr>
              <a:t>MONITOR</a:t>
            </a:r>
          </a:p>
        </p:txBody>
      </p:sp>
      <p:sp>
        <p:nvSpPr>
          <p:cNvPr id="10" name="Rectangle 9"/>
          <p:cNvSpPr/>
          <p:nvPr/>
        </p:nvSpPr>
        <p:spPr>
          <a:xfrm>
            <a:off x="2743200" y="777240"/>
            <a:ext cx="1005840" cy="6858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0" y="804672"/>
            <a:ext cx="1005840" cy="365760"/>
          </a:xfrm>
          <a:prstGeom prst="rect">
            <a:avLst/>
          </a:prstGeom>
          <a:noFill/>
        </p:spPr>
        <p:txBody>
          <a:bodyPr wrap="square">
            <a:spAutoFit/>
          </a:bodyPr>
          <a:lstStyle/>
          <a:p>
            <a:pPr algn="ctr"/>
            <a:r>
              <a:rPr sz="2000" b="1">
                <a:solidFill>
                  <a:srgbClr val="FFFFFF"/>
                </a:solidFill>
              </a:rPr>
              <a:t>2</a:t>
            </a:r>
          </a:p>
        </p:txBody>
      </p:sp>
      <p:sp>
        <p:nvSpPr>
          <p:cNvPr id="12" name="TextBox 11"/>
          <p:cNvSpPr txBox="1"/>
          <p:nvPr/>
        </p:nvSpPr>
        <p:spPr>
          <a:xfrm>
            <a:off x="2743200" y="1143000"/>
            <a:ext cx="1005840" cy="274320"/>
          </a:xfrm>
          <a:prstGeom prst="rect">
            <a:avLst/>
          </a:prstGeom>
          <a:noFill/>
        </p:spPr>
        <p:txBody>
          <a:bodyPr wrap="square">
            <a:spAutoFit/>
          </a:bodyPr>
          <a:lstStyle/>
          <a:p>
            <a:pPr algn="ctr"/>
            <a:r>
              <a:rPr sz="700" b="0">
                <a:solidFill>
                  <a:srgbClr val="FFFFFF"/>
                </a:solidFill>
              </a:rPr>
              <a:t>CLEAR</a:t>
            </a:r>
          </a:p>
        </p:txBody>
      </p:sp>
      <p:sp>
        <p:nvSpPr>
          <p:cNvPr id="13" name="Rectangle 12"/>
          <p:cNvSpPr/>
          <p:nvPr/>
        </p:nvSpPr>
        <p:spPr>
          <a:xfrm>
            <a:off x="7315200" y="777240"/>
            <a:ext cx="1554480" cy="68580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804672"/>
            <a:ext cx="1554480" cy="365760"/>
          </a:xfrm>
          <a:prstGeom prst="rect">
            <a:avLst/>
          </a:prstGeom>
          <a:noFill/>
        </p:spPr>
        <p:txBody>
          <a:bodyPr wrap="square">
            <a:spAutoFit/>
          </a:bodyPr>
          <a:lstStyle/>
          <a:p>
            <a:pPr algn="ctr"/>
            <a:r>
              <a:rPr sz="1600" b="1">
                <a:solidFill>
                  <a:srgbClr val="FFFFFF"/>
                </a:solidFill>
              </a:rPr>
              <a:t>$44.7M</a:t>
            </a:r>
          </a:p>
        </p:txBody>
      </p:sp>
      <p:sp>
        <p:nvSpPr>
          <p:cNvPr id="15" name="TextBox 14"/>
          <p:cNvSpPr txBox="1"/>
          <p:nvPr/>
        </p:nvSpPr>
        <p:spPr>
          <a:xfrm>
            <a:off x="7315200" y="1143000"/>
            <a:ext cx="1554480" cy="274320"/>
          </a:xfrm>
          <a:prstGeom prst="rect">
            <a:avLst/>
          </a:prstGeom>
          <a:noFill/>
        </p:spPr>
        <p:txBody>
          <a:bodyPr wrap="square">
            <a:spAutoFit/>
          </a:bodyPr>
          <a:lstStyle/>
          <a:p>
            <a:pPr algn="ctr"/>
            <a:r>
              <a:rPr sz="700" b="0">
                <a:solidFill>
                  <a:srgbClr val="FFFFFF"/>
                </a:solidFill>
              </a:rPr>
              <a:t>TOTAL VaCR</a:t>
            </a:r>
          </a:p>
        </p:txBody>
      </p:sp>
      <p:sp>
        <p:nvSpPr>
          <p:cNvPr id="16" name="TextBox 15"/>
          <p:cNvSpPr txBox="1"/>
          <p:nvPr/>
        </p:nvSpPr>
        <p:spPr>
          <a:xfrm>
            <a:off x="365760" y="1645920"/>
            <a:ext cx="8412480" cy="914400"/>
          </a:xfrm>
          <a:prstGeom prst="rect">
            <a:avLst/>
          </a:prstGeom>
          <a:noFill/>
        </p:spPr>
        <p:txBody>
          <a:bodyPr wrap="square">
            <a:spAutoFit/>
          </a:bodyPr>
          <a:lstStyle/>
          <a:p>
            <a:pPr algn="l"/>
            <a:r>
              <a:rPr sz="1000" b="0">
                <a:solidFill>
                  <a:srgbClr val="1E293B"/>
                </a:solidFill>
              </a:rPr>
              <a:t>AeroGrid faces a combined Value at Cyber Risk exposure of $44,700,000 across three of five global regions, with threats concentrated in the scenarios carrying the highest and third-highest financial impact rankings worldwide. The dominant pattern is geopolitically driven: state-sponsored targeting of manufacturing intellectual property in APAC, financially motivated criminal disruption of service delivery in AME, and insider exploitation of workforce financial stress in the Mediterranean all converge on AeroGrid's crown jewels — proprietary turbine designs, OT manufacturing networks, and live predictive maintenance platforms. Velocity signals across all five regions are stable with no region accelerating or improving over the current observation window, indicating the threat landscape is entrenched rather than in flux. If any one of the three active exposures materializes, the direct consequences range from turbine production throughput losses and IP exfiltration in manufacturing to full service delivery disruption and regulatory penalties across the wind farm operations portfolio.</a:t>
            </a:r>
          </a:p>
        </p:txBody>
      </p:sp>
      <p:sp>
        <p:nvSpPr>
          <p:cNvPr id="17" name="TextBox 16"/>
          <p:cNvSpPr txBox="1"/>
          <p:nvPr/>
        </p:nvSpPr>
        <p:spPr>
          <a:xfrm>
            <a:off x="365760" y="2743200"/>
            <a:ext cx="1097280" cy="274320"/>
          </a:xfrm>
          <a:prstGeom prst="rect">
            <a:avLst/>
          </a:prstGeom>
          <a:noFill/>
        </p:spPr>
        <p:txBody>
          <a:bodyPr wrap="square">
            <a:spAutoFit/>
          </a:bodyPr>
          <a:lstStyle/>
          <a:p>
            <a:pPr algn="l"/>
            <a:r>
              <a:rPr sz="800" b="1">
                <a:solidFill>
                  <a:srgbClr val="64748B"/>
                </a:solidFill>
              </a:rPr>
              <a:t>Region</a:t>
            </a:r>
          </a:p>
        </p:txBody>
      </p:sp>
      <p:sp>
        <p:nvSpPr>
          <p:cNvPr id="18" name="TextBox 17"/>
          <p:cNvSpPr txBox="1"/>
          <p:nvPr/>
        </p:nvSpPr>
        <p:spPr>
          <a:xfrm>
            <a:off x="1463040" y="2743200"/>
            <a:ext cx="2011680" cy="274320"/>
          </a:xfrm>
          <a:prstGeom prst="rect">
            <a:avLst/>
          </a:prstGeom>
          <a:noFill/>
        </p:spPr>
        <p:txBody>
          <a:bodyPr wrap="square">
            <a:spAutoFit/>
          </a:bodyPr>
          <a:lstStyle/>
          <a:p>
            <a:pPr algn="l"/>
            <a:r>
              <a:rPr sz="800" b="1">
                <a:solidFill>
                  <a:srgbClr val="64748B"/>
                </a:solidFill>
              </a:rPr>
              <a:t>Scenario</a:t>
            </a:r>
          </a:p>
        </p:txBody>
      </p:sp>
      <p:sp>
        <p:nvSpPr>
          <p:cNvPr id="19" name="TextBox 18"/>
          <p:cNvSpPr txBox="1"/>
          <p:nvPr/>
        </p:nvSpPr>
        <p:spPr>
          <a:xfrm>
            <a:off x="3474720" y="2743200"/>
            <a:ext cx="1097280" cy="274320"/>
          </a:xfrm>
          <a:prstGeom prst="rect">
            <a:avLst/>
          </a:prstGeom>
          <a:noFill/>
        </p:spPr>
        <p:txBody>
          <a:bodyPr wrap="square">
            <a:spAutoFit/>
          </a:bodyPr>
          <a:lstStyle/>
          <a:p>
            <a:pPr algn="l"/>
            <a:r>
              <a:rPr sz="800" b="1">
                <a:solidFill>
                  <a:srgbClr val="64748B"/>
                </a:solidFill>
              </a:rPr>
              <a:t>VaCR</a:t>
            </a:r>
          </a:p>
        </p:txBody>
      </p:sp>
      <p:sp>
        <p:nvSpPr>
          <p:cNvPr id="20" name="TextBox 19"/>
          <p:cNvSpPr txBox="1"/>
          <p:nvPr/>
        </p:nvSpPr>
        <p:spPr>
          <a:xfrm>
            <a:off x="4572000" y="2743200"/>
            <a:ext cx="1005840" cy="274320"/>
          </a:xfrm>
          <a:prstGeom prst="rect">
            <a:avLst/>
          </a:prstGeom>
          <a:noFill/>
        </p:spPr>
        <p:txBody>
          <a:bodyPr wrap="square">
            <a:spAutoFit/>
          </a:bodyPr>
          <a:lstStyle/>
          <a:p>
            <a:pPr algn="l"/>
            <a:r>
              <a:rPr sz="800" b="1">
                <a:solidFill>
                  <a:srgbClr val="64748B"/>
                </a:solidFill>
              </a:rPr>
              <a:t>Admiralty</a:t>
            </a:r>
          </a:p>
        </p:txBody>
      </p:sp>
      <p:sp>
        <p:nvSpPr>
          <p:cNvPr id="21" name="TextBox 20"/>
          <p:cNvSpPr txBox="1"/>
          <p:nvPr/>
        </p:nvSpPr>
        <p:spPr>
          <a:xfrm>
            <a:off x="5577840" y="2743200"/>
            <a:ext cx="1645920" cy="274320"/>
          </a:xfrm>
          <a:prstGeom prst="rect">
            <a:avLst/>
          </a:prstGeom>
          <a:noFill/>
        </p:spPr>
        <p:txBody>
          <a:bodyPr wrap="square">
            <a:spAutoFit/>
          </a:bodyPr>
          <a:lstStyle/>
          <a:p>
            <a:pPr algn="l"/>
            <a:r>
              <a:rPr sz="800" b="1">
                <a:solidFill>
                  <a:srgbClr val="64748B"/>
                </a:solidFill>
              </a:rPr>
              <a:t>Velocity</a:t>
            </a:r>
          </a:p>
        </p:txBody>
      </p:sp>
      <p:sp>
        <p:nvSpPr>
          <p:cNvPr id="22" name="TextBox 21"/>
          <p:cNvSpPr txBox="1"/>
          <p:nvPr/>
        </p:nvSpPr>
        <p:spPr>
          <a:xfrm>
            <a:off x="7223760" y="2743200"/>
            <a:ext cx="1097280" cy="274320"/>
          </a:xfrm>
          <a:prstGeom prst="rect">
            <a:avLst/>
          </a:prstGeom>
          <a:noFill/>
        </p:spPr>
        <p:txBody>
          <a:bodyPr wrap="square">
            <a:spAutoFit/>
          </a:bodyPr>
          <a:lstStyle/>
          <a:p>
            <a:pPr algn="l"/>
            <a:r>
              <a:rPr sz="800" b="1">
                <a:solidFill>
                  <a:srgbClr val="64748B"/>
                </a:solidFill>
              </a:rPr>
              <a:t>Severity</a:t>
            </a:r>
          </a:p>
        </p:txBody>
      </p:sp>
      <p:sp>
        <p:nvSpPr>
          <p:cNvPr id="23" name="TextBox 22"/>
          <p:cNvSpPr txBox="1"/>
          <p:nvPr/>
        </p:nvSpPr>
        <p:spPr>
          <a:xfrm>
            <a:off x="365760" y="3063240"/>
            <a:ext cx="1097280" cy="320040"/>
          </a:xfrm>
          <a:prstGeom prst="rect">
            <a:avLst/>
          </a:prstGeom>
          <a:noFill/>
        </p:spPr>
        <p:txBody>
          <a:bodyPr wrap="square">
            <a:spAutoFit/>
          </a:bodyPr>
          <a:lstStyle/>
          <a:p>
            <a:pPr algn="l"/>
            <a:r>
              <a:rPr sz="900" b="0">
                <a:solidFill>
                  <a:srgbClr val="1E293B"/>
                </a:solidFill>
              </a:rPr>
              <a:t>APAC</a:t>
            </a:r>
          </a:p>
        </p:txBody>
      </p:sp>
      <p:sp>
        <p:nvSpPr>
          <p:cNvPr id="24" name="TextBox 23"/>
          <p:cNvSpPr txBox="1"/>
          <p:nvPr/>
        </p:nvSpPr>
        <p:spPr>
          <a:xfrm>
            <a:off x="1463040" y="3063240"/>
            <a:ext cx="2011680" cy="320040"/>
          </a:xfrm>
          <a:prstGeom prst="rect">
            <a:avLst/>
          </a:prstGeom>
          <a:noFill/>
        </p:spPr>
        <p:txBody>
          <a:bodyPr wrap="square">
            <a:spAutoFit/>
          </a:bodyPr>
          <a:lstStyle/>
          <a:p>
            <a:pPr algn="l"/>
            <a:r>
              <a:rPr sz="900" b="0">
                <a:solidFill>
                  <a:srgbClr val="1E293B"/>
                </a:solidFill>
              </a:rPr>
              <a:t>System intrusion</a:t>
            </a:r>
          </a:p>
        </p:txBody>
      </p:sp>
      <p:sp>
        <p:nvSpPr>
          <p:cNvPr id="25" name="TextBox 24"/>
          <p:cNvSpPr txBox="1"/>
          <p:nvPr/>
        </p:nvSpPr>
        <p:spPr>
          <a:xfrm>
            <a:off x="3474720" y="3063240"/>
            <a:ext cx="1097280" cy="320040"/>
          </a:xfrm>
          <a:prstGeom prst="rect">
            <a:avLst/>
          </a:prstGeom>
          <a:noFill/>
        </p:spPr>
        <p:txBody>
          <a:bodyPr wrap="square">
            <a:spAutoFit/>
          </a:bodyPr>
          <a:lstStyle/>
          <a:p>
            <a:pPr algn="l"/>
            <a:r>
              <a:rPr sz="900" b="0">
                <a:solidFill>
                  <a:srgbClr val="1E293B"/>
                </a:solidFill>
              </a:rPr>
              <a:t>$18.5M</a:t>
            </a:r>
          </a:p>
        </p:txBody>
      </p:sp>
      <p:sp>
        <p:nvSpPr>
          <p:cNvPr id="26" name="TextBox 25"/>
          <p:cNvSpPr txBox="1"/>
          <p:nvPr/>
        </p:nvSpPr>
        <p:spPr>
          <a:xfrm>
            <a:off x="4572000" y="3063240"/>
            <a:ext cx="1005840" cy="320040"/>
          </a:xfrm>
          <a:prstGeom prst="rect">
            <a:avLst/>
          </a:prstGeom>
          <a:noFill/>
        </p:spPr>
        <p:txBody>
          <a:bodyPr wrap="square">
            <a:spAutoFit/>
          </a:bodyPr>
          <a:lstStyle/>
          <a:p>
            <a:pPr algn="l"/>
            <a:r>
              <a:rPr sz="900" b="0">
                <a:solidFill>
                  <a:srgbClr val="1E293B"/>
                </a:solidFill>
              </a:rPr>
              <a:t>B2</a:t>
            </a:r>
          </a:p>
        </p:txBody>
      </p:sp>
      <p:sp>
        <p:nvSpPr>
          <p:cNvPr id="27" name="TextBox 26"/>
          <p:cNvSpPr txBox="1"/>
          <p:nvPr/>
        </p:nvSpPr>
        <p:spPr>
          <a:xfrm>
            <a:off x="5577840" y="3063240"/>
            <a:ext cx="1645920" cy="320040"/>
          </a:xfrm>
          <a:prstGeom prst="rect">
            <a:avLst/>
          </a:prstGeom>
          <a:noFill/>
        </p:spPr>
        <p:txBody>
          <a:bodyPr wrap="square">
            <a:spAutoFit/>
          </a:bodyPr>
          <a:lstStyle/>
          <a:p>
            <a:pPr algn="l"/>
            <a:r>
              <a:rPr sz="900" b="0">
                <a:solidFill>
                  <a:srgbClr val="1E293B"/>
                </a:solidFill>
              </a:rPr>
              <a:t>→ Stable</a:t>
            </a:r>
          </a:p>
        </p:txBody>
      </p:sp>
      <p:sp>
        <p:nvSpPr>
          <p:cNvPr id="28" name="TextBox 27"/>
          <p:cNvSpPr txBox="1"/>
          <p:nvPr/>
        </p:nvSpPr>
        <p:spPr>
          <a:xfrm>
            <a:off x="7223760" y="3063240"/>
            <a:ext cx="1097280" cy="320040"/>
          </a:xfrm>
          <a:prstGeom prst="rect">
            <a:avLst/>
          </a:prstGeom>
          <a:noFill/>
        </p:spPr>
        <p:txBody>
          <a:bodyPr wrap="square">
            <a:spAutoFit/>
          </a:bodyPr>
          <a:lstStyle/>
          <a:p>
            <a:pPr algn="l"/>
            <a:r>
              <a:rPr sz="900" b="0">
                <a:solidFill>
                  <a:srgbClr val="1E293B"/>
                </a:solidFill>
              </a:rPr>
              <a:t>HIGH</a:t>
            </a:r>
          </a:p>
        </p:txBody>
      </p:sp>
      <p:sp>
        <p:nvSpPr>
          <p:cNvPr id="29" name="TextBox 28"/>
          <p:cNvSpPr txBox="1"/>
          <p:nvPr/>
        </p:nvSpPr>
        <p:spPr>
          <a:xfrm>
            <a:off x="365760" y="3474720"/>
            <a:ext cx="1097280" cy="320040"/>
          </a:xfrm>
          <a:prstGeom prst="rect">
            <a:avLst/>
          </a:prstGeom>
          <a:noFill/>
        </p:spPr>
        <p:txBody>
          <a:bodyPr wrap="square">
            <a:spAutoFit/>
          </a:bodyPr>
          <a:lstStyle/>
          <a:p>
            <a:pPr algn="l"/>
            <a:r>
              <a:rPr sz="900" b="0">
                <a:solidFill>
                  <a:srgbClr val="1E293B"/>
                </a:solidFill>
              </a:rPr>
              <a:t>AME</a:t>
            </a:r>
          </a:p>
        </p:txBody>
      </p:sp>
      <p:sp>
        <p:nvSpPr>
          <p:cNvPr id="30" name="TextBox 29"/>
          <p:cNvSpPr txBox="1"/>
          <p:nvPr/>
        </p:nvSpPr>
        <p:spPr>
          <a:xfrm>
            <a:off x="1463040" y="3474720"/>
            <a:ext cx="2011680" cy="320040"/>
          </a:xfrm>
          <a:prstGeom prst="rect">
            <a:avLst/>
          </a:prstGeom>
          <a:noFill/>
        </p:spPr>
        <p:txBody>
          <a:bodyPr wrap="square">
            <a:spAutoFit/>
          </a:bodyPr>
          <a:lstStyle/>
          <a:p>
            <a:pPr algn="l"/>
            <a:r>
              <a:rPr sz="900" b="0">
                <a:solidFill>
                  <a:srgbClr val="1E293B"/>
                </a:solidFill>
              </a:rPr>
              <a:t>Ransomware</a:t>
            </a:r>
          </a:p>
        </p:txBody>
      </p:sp>
      <p:sp>
        <p:nvSpPr>
          <p:cNvPr id="31" name="TextBox 30"/>
          <p:cNvSpPr txBox="1"/>
          <p:nvPr/>
        </p:nvSpPr>
        <p:spPr>
          <a:xfrm>
            <a:off x="3474720" y="3474720"/>
            <a:ext cx="1097280" cy="320040"/>
          </a:xfrm>
          <a:prstGeom prst="rect">
            <a:avLst/>
          </a:prstGeom>
          <a:noFill/>
        </p:spPr>
        <p:txBody>
          <a:bodyPr wrap="square">
            <a:spAutoFit/>
          </a:bodyPr>
          <a:lstStyle/>
          <a:p>
            <a:pPr algn="l"/>
            <a:r>
              <a:rPr sz="900" b="0">
                <a:solidFill>
                  <a:srgbClr val="1E293B"/>
                </a:solidFill>
              </a:rPr>
              <a:t>$22.0M</a:t>
            </a:r>
          </a:p>
        </p:txBody>
      </p:sp>
      <p:sp>
        <p:nvSpPr>
          <p:cNvPr id="32" name="TextBox 31"/>
          <p:cNvSpPr txBox="1"/>
          <p:nvPr/>
        </p:nvSpPr>
        <p:spPr>
          <a:xfrm>
            <a:off x="4572000" y="3474720"/>
            <a:ext cx="1005840" cy="320040"/>
          </a:xfrm>
          <a:prstGeom prst="rect">
            <a:avLst/>
          </a:prstGeom>
          <a:noFill/>
        </p:spPr>
        <p:txBody>
          <a:bodyPr wrap="square">
            <a:spAutoFit/>
          </a:bodyPr>
          <a:lstStyle/>
          <a:p>
            <a:pPr algn="l"/>
            <a:r>
              <a:rPr sz="900" b="0">
                <a:solidFill>
                  <a:srgbClr val="1E293B"/>
                </a:solidFill>
              </a:rPr>
              <a:t>B2</a:t>
            </a:r>
          </a:p>
        </p:txBody>
      </p:sp>
      <p:sp>
        <p:nvSpPr>
          <p:cNvPr id="33" name="TextBox 32"/>
          <p:cNvSpPr txBox="1"/>
          <p:nvPr/>
        </p:nvSpPr>
        <p:spPr>
          <a:xfrm>
            <a:off x="5577840" y="3474720"/>
            <a:ext cx="1645920" cy="320040"/>
          </a:xfrm>
          <a:prstGeom prst="rect">
            <a:avLst/>
          </a:prstGeom>
          <a:noFill/>
        </p:spPr>
        <p:txBody>
          <a:bodyPr wrap="square">
            <a:spAutoFit/>
          </a:bodyPr>
          <a:lstStyle/>
          <a:p>
            <a:pPr algn="l"/>
            <a:r>
              <a:rPr sz="900" b="0">
                <a:solidFill>
                  <a:srgbClr val="1E293B"/>
                </a:solidFill>
              </a:rPr>
              <a:t>→ Stable</a:t>
            </a:r>
          </a:p>
        </p:txBody>
      </p:sp>
      <p:sp>
        <p:nvSpPr>
          <p:cNvPr id="34" name="TextBox 33"/>
          <p:cNvSpPr txBox="1"/>
          <p:nvPr/>
        </p:nvSpPr>
        <p:spPr>
          <a:xfrm>
            <a:off x="7223760" y="3474720"/>
            <a:ext cx="1097280" cy="320040"/>
          </a:xfrm>
          <a:prstGeom prst="rect">
            <a:avLst/>
          </a:prstGeom>
          <a:noFill/>
        </p:spPr>
        <p:txBody>
          <a:bodyPr wrap="square">
            <a:spAutoFit/>
          </a:bodyPr>
          <a:lstStyle/>
          <a:p>
            <a:pPr algn="l"/>
            <a:r>
              <a:rPr sz="900" b="0">
                <a:solidFill>
                  <a:srgbClr val="1E293B"/>
                </a:solidFill>
              </a:rPr>
              <a:t>CRITICAL</a:t>
            </a:r>
          </a:p>
        </p:txBody>
      </p:sp>
      <p:sp>
        <p:nvSpPr>
          <p:cNvPr id="35" name="TextBox 34"/>
          <p:cNvSpPr txBox="1"/>
          <p:nvPr/>
        </p:nvSpPr>
        <p:spPr>
          <a:xfrm>
            <a:off x="365760" y="3886200"/>
            <a:ext cx="1097280" cy="320040"/>
          </a:xfrm>
          <a:prstGeom prst="rect">
            <a:avLst/>
          </a:prstGeom>
          <a:noFill/>
        </p:spPr>
        <p:txBody>
          <a:bodyPr wrap="square">
            <a:spAutoFit/>
          </a:bodyPr>
          <a:lstStyle/>
          <a:p>
            <a:pPr algn="l"/>
            <a:r>
              <a:rPr sz="900" b="0">
                <a:solidFill>
                  <a:srgbClr val="1E293B"/>
                </a:solidFill>
              </a:rPr>
              <a:t>MED</a:t>
            </a:r>
          </a:p>
        </p:txBody>
      </p:sp>
      <p:sp>
        <p:nvSpPr>
          <p:cNvPr id="36" name="TextBox 35"/>
          <p:cNvSpPr txBox="1"/>
          <p:nvPr/>
        </p:nvSpPr>
        <p:spPr>
          <a:xfrm>
            <a:off x="1463040" y="3886200"/>
            <a:ext cx="2011680" cy="320040"/>
          </a:xfrm>
          <a:prstGeom prst="rect">
            <a:avLst/>
          </a:prstGeom>
          <a:noFill/>
        </p:spPr>
        <p:txBody>
          <a:bodyPr wrap="square">
            <a:spAutoFit/>
          </a:bodyPr>
          <a:lstStyle/>
          <a:p>
            <a:pPr algn="l"/>
            <a:r>
              <a:rPr sz="900" b="0">
                <a:solidFill>
                  <a:srgbClr val="1E293B"/>
                </a:solidFill>
              </a:rPr>
              <a:t>Insider misuse</a:t>
            </a:r>
          </a:p>
        </p:txBody>
      </p:sp>
      <p:sp>
        <p:nvSpPr>
          <p:cNvPr id="37" name="TextBox 36"/>
          <p:cNvSpPr txBox="1"/>
          <p:nvPr/>
        </p:nvSpPr>
        <p:spPr>
          <a:xfrm>
            <a:off x="3474720" y="3886200"/>
            <a:ext cx="1097280" cy="320040"/>
          </a:xfrm>
          <a:prstGeom prst="rect">
            <a:avLst/>
          </a:prstGeom>
          <a:noFill/>
        </p:spPr>
        <p:txBody>
          <a:bodyPr wrap="square">
            <a:spAutoFit/>
          </a:bodyPr>
          <a:lstStyle/>
          <a:p>
            <a:pPr algn="l"/>
            <a:r>
              <a:rPr sz="900" b="0">
                <a:solidFill>
                  <a:srgbClr val="1E293B"/>
                </a:solidFill>
              </a:rPr>
              <a:t>$4.2M</a:t>
            </a:r>
          </a:p>
        </p:txBody>
      </p:sp>
      <p:sp>
        <p:nvSpPr>
          <p:cNvPr id="38" name="TextBox 37"/>
          <p:cNvSpPr txBox="1"/>
          <p:nvPr/>
        </p:nvSpPr>
        <p:spPr>
          <a:xfrm>
            <a:off x="4572000" y="3886200"/>
            <a:ext cx="1005840" cy="320040"/>
          </a:xfrm>
          <a:prstGeom prst="rect">
            <a:avLst/>
          </a:prstGeom>
          <a:noFill/>
        </p:spPr>
        <p:txBody>
          <a:bodyPr wrap="square">
            <a:spAutoFit/>
          </a:bodyPr>
          <a:lstStyle/>
          <a:p>
            <a:pPr algn="l"/>
            <a:r>
              <a:rPr sz="900" b="0">
                <a:solidFill>
                  <a:srgbClr val="1E293B"/>
                </a:solidFill>
              </a:rPr>
              <a:t>B2</a:t>
            </a:r>
          </a:p>
        </p:txBody>
      </p:sp>
      <p:sp>
        <p:nvSpPr>
          <p:cNvPr id="39" name="TextBox 38"/>
          <p:cNvSpPr txBox="1"/>
          <p:nvPr/>
        </p:nvSpPr>
        <p:spPr>
          <a:xfrm>
            <a:off x="5577840" y="3886200"/>
            <a:ext cx="1645920" cy="320040"/>
          </a:xfrm>
          <a:prstGeom prst="rect">
            <a:avLst/>
          </a:prstGeom>
          <a:noFill/>
        </p:spPr>
        <p:txBody>
          <a:bodyPr wrap="square">
            <a:spAutoFit/>
          </a:bodyPr>
          <a:lstStyle/>
          <a:p>
            <a:pPr algn="l"/>
            <a:r>
              <a:rPr sz="900" b="0">
                <a:solidFill>
                  <a:srgbClr val="1E293B"/>
                </a:solidFill>
              </a:rPr>
              <a:t>→ Stable</a:t>
            </a:r>
          </a:p>
        </p:txBody>
      </p:sp>
      <p:sp>
        <p:nvSpPr>
          <p:cNvPr id="40" name="TextBox 39"/>
          <p:cNvSpPr txBox="1"/>
          <p:nvPr/>
        </p:nvSpPr>
        <p:spPr>
          <a:xfrm>
            <a:off x="7223760" y="3886200"/>
            <a:ext cx="1097280" cy="320040"/>
          </a:xfrm>
          <a:prstGeom prst="rect">
            <a:avLst/>
          </a:prstGeom>
          <a:noFill/>
        </p:spPr>
        <p:txBody>
          <a:bodyPr wrap="square">
            <a:spAutoFit/>
          </a:bodyPr>
          <a:lstStyle/>
          <a:p>
            <a:pPr algn="l"/>
            <a:r>
              <a:rPr sz="900" b="0">
                <a:solidFill>
                  <a:srgbClr val="1E293B"/>
                </a:solidFill>
              </a:rPr>
              <a:t>MEDIUM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5486400" cy="411480"/>
          </a:xfrm>
          <a:prstGeom prst="rect">
            <a:avLst/>
          </a:prstGeom>
          <a:noFill/>
        </p:spPr>
        <p:txBody>
          <a:bodyPr wrap="square">
            <a:spAutoFit/>
          </a:bodyPr>
          <a:lstStyle/>
          <a:p>
            <a:pPr algn="l"/>
            <a:r>
              <a:rPr sz="1600" b="1">
                <a:solidFill>
                  <a:srgbClr val="FFFFFF"/>
                </a:solidFill>
              </a:rPr>
              <a:t>APAC</a:t>
            </a:r>
          </a:p>
        </p:txBody>
      </p:sp>
      <p:sp>
        <p:nvSpPr>
          <p:cNvPr id="4" name="TextBox 3"/>
          <p:cNvSpPr txBox="1"/>
          <p:nvPr/>
        </p:nvSpPr>
        <p:spPr>
          <a:xfrm>
            <a:off x="274320" y="347472"/>
            <a:ext cx="5486400" cy="228600"/>
          </a:xfrm>
          <a:prstGeom prst="rect">
            <a:avLst/>
          </a:prstGeom>
          <a:noFill/>
        </p:spPr>
        <p:txBody>
          <a:bodyPr wrap="square">
            <a:spAutoFit/>
          </a:bodyPr>
          <a:lstStyle/>
          <a:p>
            <a:pPr algn="l"/>
            <a:r>
              <a:rPr sz="900" b="0">
                <a:solidFill>
                  <a:srgbClr val="BFDBFF"/>
                </a:solidFill>
              </a:rPr>
              <a:t>System intrusion</a:t>
            </a:r>
          </a:p>
        </p:txBody>
      </p:sp>
      <p:sp>
        <p:nvSpPr>
          <p:cNvPr id="5" name="Rectangle 4"/>
          <p:cNvSpPr/>
          <p:nvPr/>
        </p:nvSpPr>
        <p:spPr>
          <a:xfrm>
            <a:off x="7680960" y="109728"/>
            <a:ext cx="1188720"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46304"/>
            <a:ext cx="1188720" cy="274320"/>
          </a:xfrm>
          <a:prstGeom prst="rect">
            <a:avLst/>
          </a:prstGeom>
          <a:noFill/>
        </p:spPr>
        <p:txBody>
          <a:bodyPr wrap="square">
            <a:spAutoFit/>
          </a:bodyPr>
          <a:lstStyle/>
          <a:p>
            <a:pPr algn="ctr"/>
            <a:r>
              <a:rPr sz="800" b="1">
                <a:solidFill>
                  <a:srgbClr val="FFFFFF"/>
                </a:solidFill>
              </a:rPr>
              <a:t>ESCALATED</a:t>
            </a:r>
          </a:p>
        </p:txBody>
      </p:sp>
      <p:sp>
        <p:nvSpPr>
          <p:cNvPr id="7" name="TextBox 6"/>
          <p:cNvSpPr txBox="1"/>
          <p:nvPr/>
        </p:nvSpPr>
        <p:spPr>
          <a:xfrm>
            <a:off x="274320" y="777240"/>
            <a:ext cx="1280160" cy="274320"/>
          </a:xfrm>
          <a:prstGeom prst="rect">
            <a:avLst/>
          </a:prstGeom>
          <a:noFill/>
        </p:spPr>
        <p:txBody>
          <a:bodyPr wrap="square">
            <a:spAutoFit/>
          </a:bodyPr>
          <a:lstStyle/>
          <a:p>
            <a:pPr algn="l"/>
            <a:r>
              <a:rPr sz="700" b="0">
                <a:solidFill>
                  <a:srgbClr val="64748B"/>
                </a:solidFill>
              </a:rPr>
              <a:t>VaCR Exposure</a:t>
            </a:r>
          </a:p>
        </p:txBody>
      </p:sp>
      <p:sp>
        <p:nvSpPr>
          <p:cNvPr id="8" name="TextBox 7"/>
          <p:cNvSpPr txBox="1"/>
          <p:nvPr/>
        </p:nvSpPr>
        <p:spPr>
          <a:xfrm>
            <a:off x="274320" y="1069848"/>
            <a:ext cx="1280160" cy="640080"/>
          </a:xfrm>
          <a:prstGeom prst="rect">
            <a:avLst/>
          </a:prstGeom>
          <a:noFill/>
        </p:spPr>
        <p:txBody>
          <a:bodyPr wrap="square">
            <a:spAutoFit/>
          </a:bodyPr>
          <a:lstStyle/>
          <a:p>
            <a:pPr algn="l"/>
            <a:r>
              <a:rPr sz="1600" b="1">
                <a:solidFill>
                  <a:srgbClr val="104277"/>
                </a:solidFill>
              </a:rPr>
              <a:t>$18.5M</a:t>
            </a:r>
          </a:p>
        </p:txBody>
      </p:sp>
      <p:sp>
        <p:nvSpPr>
          <p:cNvPr id="9" name="TextBox 8"/>
          <p:cNvSpPr txBox="1"/>
          <p:nvPr/>
        </p:nvSpPr>
        <p:spPr>
          <a:xfrm>
            <a:off x="274320" y="2194560"/>
            <a:ext cx="1280160" cy="274320"/>
          </a:xfrm>
          <a:prstGeom prst="rect">
            <a:avLst/>
          </a:prstGeom>
          <a:noFill/>
        </p:spPr>
        <p:txBody>
          <a:bodyPr wrap="square">
            <a:spAutoFit/>
          </a:bodyPr>
          <a:lstStyle/>
          <a:p>
            <a:pPr algn="l"/>
            <a:r>
              <a:rPr sz="700" b="0">
                <a:solidFill>
                  <a:srgbClr val="64748B"/>
                </a:solidFill>
              </a:rPr>
              <a:t>Admiralty</a:t>
            </a:r>
          </a:p>
        </p:txBody>
      </p:sp>
      <p:sp>
        <p:nvSpPr>
          <p:cNvPr id="10" name="TextBox 9"/>
          <p:cNvSpPr txBox="1"/>
          <p:nvPr/>
        </p:nvSpPr>
        <p:spPr>
          <a:xfrm>
            <a:off x="274320" y="2487168"/>
            <a:ext cx="1280160" cy="640080"/>
          </a:xfrm>
          <a:prstGeom prst="rect">
            <a:avLst/>
          </a:prstGeom>
          <a:noFill/>
        </p:spPr>
        <p:txBody>
          <a:bodyPr wrap="square">
            <a:spAutoFit/>
          </a:bodyPr>
          <a:lstStyle/>
          <a:p>
            <a:pPr algn="l"/>
            <a:r>
              <a:rPr sz="1600" b="1">
                <a:solidFill>
                  <a:srgbClr val="104277"/>
                </a:solidFill>
              </a:rPr>
              <a:t>B2</a:t>
            </a:r>
          </a:p>
        </p:txBody>
      </p:sp>
      <p:sp>
        <p:nvSpPr>
          <p:cNvPr id="11" name="TextBox 10"/>
          <p:cNvSpPr txBox="1"/>
          <p:nvPr/>
        </p:nvSpPr>
        <p:spPr>
          <a:xfrm>
            <a:off x="274320" y="3611880"/>
            <a:ext cx="1280160" cy="274320"/>
          </a:xfrm>
          <a:prstGeom prst="rect">
            <a:avLst/>
          </a:prstGeom>
          <a:noFill/>
        </p:spPr>
        <p:txBody>
          <a:bodyPr wrap="square">
            <a:spAutoFit/>
          </a:bodyPr>
          <a:lstStyle/>
          <a:p>
            <a:pPr algn="l"/>
            <a:r>
              <a:rPr sz="700" b="0">
                <a:solidFill>
                  <a:srgbClr val="64748B"/>
                </a:solidFill>
              </a:rPr>
              <a:t>Velocity</a:t>
            </a:r>
          </a:p>
        </p:txBody>
      </p:sp>
      <p:sp>
        <p:nvSpPr>
          <p:cNvPr id="12" name="TextBox 11"/>
          <p:cNvSpPr txBox="1"/>
          <p:nvPr/>
        </p:nvSpPr>
        <p:spPr>
          <a:xfrm>
            <a:off x="274320" y="3904488"/>
            <a:ext cx="1280160" cy="640080"/>
          </a:xfrm>
          <a:prstGeom prst="rect">
            <a:avLst/>
          </a:prstGeom>
          <a:noFill/>
        </p:spPr>
        <p:txBody>
          <a:bodyPr wrap="square">
            <a:spAutoFit/>
          </a:bodyPr>
          <a:lstStyle/>
          <a:p>
            <a:pPr algn="l"/>
            <a:r>
              <a:rPr sz="1600" b="1">
                <a:solidFill>
                  <a:srgbClr val="64748B"/>
                </a:solidFill>
              </a:rPr>
              <a:t>→ Stable</a:t>
            </a:r>
          </a:p>
        </p:txBody>
      </p:sp>
      <p:sp>
        <p:nvSpPr>
          <p:cNvPr id="13" name="TextBox 12"/>
          <p:cNvSpPr txBox="1"/>
          <p:nvPr/>
        </p:nvSpPr>
        <p:spPr>
          <a:xfrm>
            <a:off x="274320" y="5029200"/>
            <a:ext cx="1280160" cy="274320"/>
          </a:xfrm>
          <a:prstGeom prst="rect">
            <a:avLst/>
          </a:prstGeom>
          <a:noFill/>
        </p:spPr>
        <p:txBody>
          <a:bodyPr wrap="square">
            <a:spAutoFit/>
          </a:bodyPr>
          <a:lstStyle/>
          <a:p>
            <a:pPr algn="l"/>
            <a:r>
              <a:rPr sz="700" b="0">
                <a:solidFill>
                  <a:srgbClr val="64748B"/>
                </a:solidFill>
              </a:rPr>
              <a:t>Severity</a:t>
            </a:r>
          </a:p>
        </p:txBody>
      </p:sp>
      <p:sp>
        <p:nvSpPr>
          <p:cNvPr id="14" name="TextBox 13"/>
          <p:cNvSpPr txBox="1"/>
          <p:nvPr/>
        </p:nvSpPr>
        <p:spPr>
          <a:xfrm>
            <a:off x="274320" y="5321808"/>
            <a:ext cx="1280160" cy="640080"/>
          </a:xfrm>
          <a:prstGeom prst="rect">
            <a:avLst/>
          </a:prstGeom>
          <a:noFill/>
        </p:spPr>
        <p:txBody>
          <a:bodyPr wrap="square">
            <a:spAutoFit/>
          </a:bodyPr>
          <a:lstStyle/>
          <a:p>
            <a:pPr algn="l"/>
            <a:r>
              <a:rPr sz="1600" b="1">
                <a:solidFill>
                  <a:srgbClr val="DC2626"/>
                </a:solidFill>
              </a:rPr>
              <a:t>HIGH</a:t>
            </a:r>
          </a:p>
        </p:txBody>
      </p:sp>
      <p:sp>
        <p:nvSpPr>
          <p:cNvPr id="15" name="TextBox 14"/>
          <p:cNvSpPr txBox="1"/>
          <p:nvPr/>
        </p:nvSpPr>
        <p:spPr>
          <a:xfrm>
            <a:off x="1737360" y="777240"/>
            <a:ext cx="7132320" cy="256032"/>
          </a:xfrm>
          <a:prstGeom prst="rect">
            <a:avLst/>
          </a:prstGeom>
          <a:noFill/>
        </p:spPr>
        <p:txBody>
          <a:bodyPr wrap="square">
            <a:spAutoFit/>
          </a:bodyPr>
          <a:lstStyle/>
          <a:p>
            <a:pPr algn="l"/>
            <a:r>
              <a:rPr sz="800" b="1">
                <a:solidFill>
                  <a:srgbClr val="104277"/>
                </a:solidFill>
              </a:rPr>
              <a:t>WHY — GEOPOLITICAL DRIVER</a:t>
            </a:r>
          </a:p>
        </p:txBody>
      </p:sp>
      <p:sp>
        <p:nvSpPr>
          <p:cNvPr id="16" name="TextBox 15"/>
          <p:cNvSpPr txBox="1"/>
          <p:nvPr/>
        </p:nvSpPr>
        <p:spPr>
          <a:xfrm>
            <a:off x="1737360" y="1051560"/>
            <a:ext cx="7132320" cy="1371600"/>
          </a:xfrm>
          <a:prstGeom prst="rect">
            <a:avLst/>
          </a:prstGeom>
          <a:noFill/>
        </p:spPr>
        <p:txBody>
          <a:bodyPr wrap="square">
            <a:spAutoFit/>
          </a:bodyPr>
          <a:lstStyle/>
          <a:p>
            <a:pPr algn="l"/>
            <a:r>
              <a:rPr sz="900" b="0">
                <a:solidFill>
                  <a:srgbClr val="1E293B"/>
                </a:solidFill>
              </a:rPr>
              <a:t>AeroGrid's ability to maintain uninterrupted blade manufacturing output across its APAC facilities faces growing pressure from escalating territorial disputes in the South China Sea. State-sponsored industrial espionage campaigns have intensified as multinational manufacturers accelerate supply chain diversification away from single-region dependencies. The convergence of China-Taiwan strait tensi</a:t>
            </a:r>
          </a:p>
        </p:txBody>
      </p:sp>
      <p:sp>
        <p:nvSpPr>
          <p:cNvPr id="17" name="TextBox 16"/>
          <p:cNvSpPr txBox="1"/>
          <p:nvPr/>
        </p:nvSpPr>
        <p:spPr>
          <a:xfrm>
            <a:off x="1737360" y="2697480"/>
            <a:ext cx="7132320" cy="256032"/>
          </a:xfrm>
          <a:prstGeom prst="rect">
            <a:avLst/>
          </a:prstGeom>
          <a:noFill/>
        </p:spPr>
        <p:txBody>
          <a:bodyPr wrap="square">
            <a:spAutoFit/>
          </a:bodyPr>
          <a:lstStyle/>
          <a:p>
            <a:pPr algn="l"/>
            <a:r>
              <a:rPr sz="800" b="1">
                <a:solidFill>
                  <a:srgbClr val="104277"/>
                </a:solidFill>
              </a:rPr>
              <a:t>HOW — CYBER VECTOR</a:t>
            </a:r>
          </a:p>
        </p:txBody>
      </p:sp>
      <p:sp>
        <p:nvSpPr>
          <p:cNvPr id="18" name="TextBox 17"/>
          <p:cNvSpPr txBox="1"/>
          <p:nvPr/>
        </p:nvSpPr>
        <p:spPr>
          <a:xfrm>
            <a:off x="1737360" y="2971800"/>
            <a:ext cx="7132320" cy="1371600"/>
          </a:xfrm>
          <a:prstGeom prst="rect">
            <a:avLst/>
          </a:prstGeom>
          <a:noFill/>
        </p:spPr>
        <p:txBody>
          <a:bodyPr wrap="square">
            <a:spAutoFit/>
          </a:bodyPr>
          <a:lstStyle/>
          <a:p>
            <a:pPr algn="l"/>
            <a:r>
              <a:rPr sz="900" b="0">
                <a:solidFill>
                  <a:srgbClr val="1E293B"/>
                </a:solidFill>
              </a:rPr>
              <a:t>This geopolitical pressure is manifesting as documented intrusion campaigns targeting operational technology networks in the Asia-Pacific manufacturing sector. Security researchers have identified a supply chain compromise through third-party industrial automation software updates — a vector that provides persistent access to blade production line control systems. AeroGrid's proprietary turbine ae</a:t>
            </a:r>
          </a:p>
        </p:txBody>
      </p:sp>
      <p:sp>
        <p:nvSpPr>
          <p:cNvPr id="19" name="TextBox 18"/>
          <p:cNvSpPr txBox="1"/>
          <p:nvPr/>
        </p:nvSpPr>
        <p:spPr>
          <a:xfrm>
            <a:off x="1737360" y="4617720"/>
            <a:ext cx="7132320" cy="256032"/>
          </a:xfrm>
          <a:prstGeom prst="rect">
            <a:avLst/>
          </a:prstGeom>
          <a:noFill/>
        </p:spPr>
        <p:txBody>
          <a:bodyPr wrap="square">
            <a:spAutoFit/>
          </a:bodyPr>
          <a:lstStyle/>
          <a:p>
            <a:pPr algn="l"/>
            <a:r>
              <a:rPr sz="800" b="1">
                <a:solidFill>
                  <a:srgbClr val="104277"/>
                </a:solidFill>
              </a:rPr>
              <a:t>SO WHAT — BUSINESS IMPACT</a:t>
            </a:r>
          </a:p>
        </p:txBody>
      </p:sp>
      <p:sp>
        <p:nvSpPr>
          <p:cNvPr id="20" name="TextBox 19"/>
          <p:cNvSpPr txBox="1"/>
          <p:nvPr/>
        </p:nvSpPr>
        <p:spPr>
          <a:xfrm>
            <a:off x="1737360" y="4892040"/>
            <a:ext cx="7132320" cy="1371600"/>
          </a:xfrm>
          <a:prstGeom prst="rect">
            <a:avLst/>
          </a:prstGeom>
          <a:noFill/>
        </p:spPr>
        <p:txBody>
          <a:bodyPr wrap="square">
            <a:spAutoFit/>
          </a:bodyPr>
          <a:lstStyle/>
          <a:p>
            <a:pPr algn="l"/>
            <a:r>
              <a:rPr sz="900" b="0">
                <a:solidFill>
                  <a:srgbClr val="1E293B"/>
                </a:solidFill>
              </a:rPr>
              <a:t>The Value at Cyber Risk exposure for APAC stands at $18,500,000. This pattern is consistent with the System intrusion scenario, ranked #3 globally by financial impact (21.4% of all losses) and #1 by event frequency (43.3% of all incidents). The trend trajectory indicates increasing state-sponsored targeting of wind energy manufacturing IP, with no near-term de-escalation signals from the underlyin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5486400" cy="411480"/>
          </a:xfrm>
          <a:prstGeom prst="rect">
            <a:avLst/>
          </a:prstGeom>
          <a:noFill/>
        </p:spPr>
        <p:txBody>
          <a:bodyPr wrap="square">
            <a:spAutoFit/>
          </a:bodyPr>
          <a:lstStyle/>
          <a:p>
            <a:pPr algn="l"/>
            <a:r>
              <a:rPr sz="1600" b="1">
                <a:solidFill>
                  <a:srgbClr val="FFFFFF"/>
                </a:solidFill>
              </a:rPr>
              <a:t>AME</a:t>
            </a:r>
          </a:p>
        </p:txBody>
      </p:sp>
      <p:sp>
        <p:nvSpPr>
          <p:cNvPr id="4" name="TextBox 3"/>
          <p:cNvSpPr txBox="1"/>
          <p:nvPr/>
        </p:nvSpPr>
        <p:spPr>
          <a:xfrm>
            <a:off x="274320" y="347472"/>
            <a:ext cx="5486400" cy="228600"/>
          </a:xfrm>
          <a:prstGeom prst="rect">
            <a:avLst/>
          </a:prstGeom>
          <a:noFill/>
        </p:spPr>
        <p:txBody>
          <a:bodyPr wrap="square">
            <a:spAutoFit/>
          </a:bodyPr>
          <a:lstStyle/>
          <a:p>
            <a:pPr algn="l"/>
            <a:r>
              <a:rPr sz="900" b="0">
                <a:solidFill>
                  <a:srgbClr val="BFDBFF"/>
                </a:solidFill>
              </a:rPr>
              <a:t>Ransomware</a:t>
            </a:r>
          </a:p>
        </p:txBody>
      </p:sp>
      <p:sp>
        <p:nvSpPr>
          <p:cNvPr id="5" name="Rectangle 4"/>
          <p:cNvSpPr/>
          <p:nvPr/>
        </p:nvSpPr>
        <p:spPr>
          <a:xfrm>
            <a:off x="7680960" y="109728"/>
            <a:ext cx="1188720"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46304"/>
            <a:ext cx="1188720" cy="274320"/>
          </a:xfrm>
          <a:prstGeom prst="rect">
            <a:avLst/>
          </a:prstGeom>
          <a:noFill/>
        </p:spPr>
        <p:txBody>
          <a:bodyPr wrap="square">
            <a:spAutoFit/>
          </a:bodyPr>
          <a:lstStyle/>
          <a:p>
            <a:pPr algn="ctr"/>
            <a:r>
              <a:rPr sz="800" b="1">
                <a:solidFill>
                  <a:srgbClr val="FFFFFF"/>
                </a:solidFill>
              </a:rPr>
              <a:t>ESCALATED</a:t>
            </a:r>
          </a:p>
        </p:txBody>
      </p:sp>
      <p:sp>
        <p:nvSpPr>
          <p:cNvPr id="7" name="TextBox 6"/>
          <p:cNvSpPr txBox="1"/>
          <p:nvPr/>
        </p:nvSpPr>
        <p:spPr>
          <a:xfrm>
            <a:off x="274320" y="777240"/>
            <a:ext cx="1280160" cy="274320"/>
          </a:xfrm>
          <a:prstGeom prst="rect">
            <a:avLst/>
          </a:prstGeom>
          <a:noFill/>
        </p:spPr>
        <p:txBody>
          <a:bodyPr wrap="square">
            <a:spAutoFit/>
          </a:bodyPr>
          <a:lstStyle/>
          <a:p>
            <a:pPr algn="l"/>
            <a:r>
              <a:rPr sz="700" b="0">
                <a:solidFill>
                  <a:srgbClr val="64748B"/>
                </a:solidFill>
              </a:rPr>
              <a:t>VaCR Exposure</a:t>
            </a:r>
          </a:p>
        </p:txBody>
      </p:sp>
      <p:sp>
        <p:nvSpPr>
          <p:cNvPr id="8" name="TextBox 7"/>
          <p:cNvSpPr txBox="1"/>
          <p:nvPr/>
        </p:nvSpPr>
        <p:spPr>
          <a:xfrm>
            <a:off x="274320" y="1069848"/>
            <a:ext cx="1280160" cy="640080"/>
          </a:xfrm>
          <a:prstGeom prst="rect">
            <a:avLst/>
          </a:prstGeom>
          <a:noFill/>
        </p:spPr>
        <p:txBody>
          <a:bodyPr wrap="square">
            <a:spAutoFit/>
          </a:bodyPr>
          <a:lstStyle/>
          <a:p>
            <a:pPr algn="l"/>
            <a:r>
              <a:rPr sz="1600" b="1">
                <a:solidFill>
                  <a:srgbClr val="104277"/>
                </a:solidFill>
              </a:rPr>
              <a:t>$22.0M</a:t>
            </a:r>
          </a:p>
        </p:txBody>
      </p:sp>
      <p:sp>
        <p:nvSpPr>
          <p:cNvPr id="9" name="TextBox 8"/>
          <p:cNvSpPr txBox="1"/>
          <p:nvPr/>
        </p:nvSpPr>
        <p:spPr>
          <a:xfrm>
            <a:off x="274320" y="2194560"/>
            <a:ext cx="1280160" cy="274320"/>
          </a:xfrm>
          <a:prstGeom prst="rect">
            <a:avLst/>
          </a:prstGeom>
          <a:noFill/>
        </p:spPr>
        <p:txBody>
          <a:bodyPr wrap="square">
            <a:spAutoFit/>
          </a:bodyPr>
          <a:lstStyle/>
          <a:p>
            <a:pPr algn="l"/>
            <a:r>
              <a:rPr sz="700" b="0">
                <a:solidFill>
                  <a:srgbClr val="64748B"/>
                </a:solidFill>
              </a:rPr>
              <a:t>Admiralty</a:t>
            </a:r>
          </a:p>
        </p:txBody>
      </p:sp>
      <p:sp>
        <p:nvSpPr>
          <p:cNvPr id="10" name="TextBox 9"/>
          <p:cNvSpPr txBox="1"/>
          <p:nvPr/>
        </p:nvSpPr>
        <p:spPr>
          <a:xfrm>
            <a:off x="274320" y="2487168"/>
            <a:ext cx="1280160" cy="640080"/>
          </a:xfrm>
          <a:prstGeom prst="rect">
            <a:avLst/>
          </a:prstGeom>
          <a:noFill/>
        </p:spPr>
        <p:txBody>
          <a:bodyPr wrap="square">
            <a:spAutoFit/>
          </a:bodyPr>
          <a:lstStyle/>
          <a:p>
            <a:pPr algn="l"/>
            <a:r>
              <a:rPr sz="1600" b="1">
                <a:solidFill>
                  <a:srgbClr val="104277"/>
                </a:solidFill>
              </a:rPr>
              <a:t>B2</a:t>
            </a:r>
          </a:p>
        </p:txBody>
      </p:sp>
      <p:sp>
        <p:nvSpPr>
          <p:cNvPr id="11" name="TextBox 10"/>
          <p:cNvSpPr txBox="1"/>
          <p:nvPr/>
        </p:nvSpPr>
        <p:spPr>
          <a:xfrm>
            <a:off x="274320" y="3611880"/>
            <a:ext cx="1280160" cy="274320"/>
          </a:xfrm>
          <a:prstGeom prst="rect">
            <a:avLst/>
          </a:prstGeom>
          <a:noFill/>
        </p:spPr>
        <p:txBody>
          <a:bodyPr wrap="square">
            <a:spAutoFit/>
          </a:bodyPr>
          <a:lstStyle/>
          <a:p>
            <a:pPr algn="l"/>
            <a:r>
              <a:rPr sz="700" b="0">
                <a:solidFill>
                  <a:srgbClr val="64748B"/>
                </a:solidFill>
              </a:rPr>
              <a:t>Velocity</a:t>
            </a:r>
          </a:p>
        </p:txBody>
      </p:sp>
      <p:sp>
        <p:nvSpPr>
          <p:cNvPr id="12" name="TextBox 11"/>
          <p:cNvSpPr txBox="1"/>
          <p:nvPr/>
        </p:nvSpPr>
        <p:spPr>
          <a:xfrm>
            <a:off x="274320" y="3904488"/>
            <a:ext cx="1280160" cy="640080"/>
          </a:xfrm>
          <a:prstGeom prst="rect">
            <a:avLst/>
          </a:prstGeom>
          <a:noFill/>
        </p:spPr>
        <p:txBody>
          <a:bodyPr wrap="square">
            <a:spAutoFit/>
          </a:bodyPr>
          <a:lstStyle/>
          <a:p>
            <a:pPr algn="l"/>
            <a:r>
              <a:rPr sz="1600" b="1">
                <a:solidFill>
                  <a:srgbClr val="64748B"/>
                </a:solidFill>
              </a:rPr>
              <a:t>→ Stable</a:t>
            </a:r>
          </a:p>
        </p:txBody>
      </p:sp>
      <p:sp>
        <p:nvSpPr>
          <p:cNvPr id="13" name="TextBox 12"/>
          <p:cNvSpPr txBox="1"/>
          <p:nvPr/>
        </p:nvSpPr>
        <p:spPr>
          <a:xfrm>
            <a:off x="274320" y="5029200"/>
            <a:ext cx="1280160" cy="274320"/>
          </a:xfrm>
          <a:prstGeom prst="rect">
            <a:avLst/>
          </a:prstGeom>
          <a:noFill/>
        </p:spPr>
        <p:txBody>
          <a:bodyPr wrap="square">
            <a:spAutoFit/>
          </a:bodyPr>
          <a:lstStyle/>
          <a:p>
            <a:pPr algn="l"/>
            <a:r>
              <a:rPr sz="700" b="0">
                <a:solidFill>
                  <a:srgbClr val="64748B"/>
                </a:solidFill>
              </a:rPr>
              <a:t>Severity</a:t>
            </a:r>
          </a:p>
        </p:txBody>
      </p:sp>
      <p:sp>
        <p:nvSpPr>
          <p:cNvPr id="14" name="TextBox 13"/>
          <p:cNvSpPr txBox="1"/>
          <p:nvPr/>
        </p:nvSpPr>
        <p:spPr>
          <a:xfrm>
            <a:off x="274320" y="5321808"/>
            <a:ext cx="1280160" cy="640080"/>
          </a:xfrm>
          <a:prstGeom prst="rect">
            <a:avLst/>
          </a:prstGeom>
          <a:noFill/>
        </p:spPr>
        <p:txBody>
          <a:bodyPr wrap="square">
            <a:spAutoFit/>
          </a:bodyPr>
          <a:lstStyle/>
          <a:p>
            <a:pPr algn="l"/>
            <a:r>
              <a:rPr sz="1600" b="1">
                <a:solidFill>
                  <a:srgbClr val="DC2626"/>
                </a:solidFill>
              </a:rPr>
              <a:t>CRITICAL</a:t>
            </a:r>
          </a:p>
        </p:txBody>
      </p:sp>
      <p:sp>
        <p:nvSpPr>
          <p:cNvPr id="15" name="TextBox 14"/>
          <p:cNvSpPr txBox="1"/>
          <p:nvPr/>
        </p:nvSpPr>
        <p:spPr>
          <a:xfrm>
            <a:off x="1737360" y="777240"/>
            <a:ext cx="7132320" cy="256032"/>
          </a:xfrm>
          <a:prstGeom prst="rect">
            <a:avLst/>
          </a:prstGeom>
          <a:noFill/>
        </p:spPr>
        <p:txBody>
          <a:bodyPr wrap="square">
            <a:spAutoFit/>
          </a:bodyPr>
          <a:lstStyle/>
          <a:p>
            <a:pPr algn="l"/>
            <a:r>
              <a:rPr sz="800" b="1">
                <a:solidFill>
                  <a:srgbClr val="104277"/>
                </a:solidFill>
              </a:rPr>
              <a:t>WHY — GEOPOLITICAL DRIVER</a:t>
            </a:r>
          </a:p>
        </p:txBody>
      </p:sp>
      <p:sp>
        <p:nvSpPr>
          <p:cNvPr id="16" name="TextBox 15"/>
          <p:cNvSpPr txBox="1"/>
          <p:nvPr/>
        </p:nvSpPr>
        <p:spPr>
          <a:xfrm>
            <a:off x="1737360" y="1051560"/>
            <a:ext cx="7132320" cy="1371600"/>
          </a:xfrm>
          <a:prstGeom prst="rect">
            <a:avLst/>
          </a:prstGeom>
          <a:noFill/>
        </p:spPr>
        <p:txBody>
          <a:bodyPr wrap="square">
            <a:spAutoFit/>
          </a:bodyPr>
          <a:lstStyle/>
          <a:p>
            <a:pPr algn="l"/>
            <a:r>
              <a:rPr sz="900" b="0">
                <a:solidFill>
                  <a:srgbClr val="1E293B"/>
                </a:solidFill>
              </a:rPr>
              <a:t>AeroGrid's ability to deliver uninterrupted wind farm service operations across North America faces heightened risk as the regulatory environment undergoes structural change. A US executive order has designated offshore wind farm operations as critical national infrastructure, placing AeroGrid's telemetry and maintenance systems under mandatory cybersecurity reporting obligations. Simultaneously, </a:t>
            </a:r>
          </a:p>
        </p:txBody>
      </p:sp>
      <p:sp>
        <p:nvSpPr>
          <p:cNvPr id="17" name="TextBox 16"/>
          <p:cNvSpPr txBox="1"/>
          <p:nvPr/>
        </p:nvSpPr>
        <p:spPr>
          <a:xfrm>
            <a:off x="1737360" y="2697480"/>
            <a:ext cx="7132320" cy="256032"/>
          </a:xfrm>
          <a:prstGeom prst="rect">
            <a:avLst/>
          </a:prstGeom>
          <a:noFill/>
        </p:spPr>
        <p:txBody>
          <a:bodyPr wrap="square">
            <a:spAutoFit/>
          </a:bodyPr>
          <a:lstStyle/>
          <a:p>
            <a:pPr algn="l"/>
            <a:r>
              <a:rPr sz="800" b="1">
                <a:solidFill>
                  <a:srgbClr val="104277"/>
                </a:solidFill>
              </a:rPr>
              <a:t>HOW — CYBER VECTOR</a:t>
            </a:r>
          </a:p>
        </p:txBody>
      </p:sp>
      <p:sp>
        <p:nvSpPr>
          <p:cNvPr id="18" name="TextBox 17"/>
          <p:cNvSpPr txBox="1"/>
          <p:nvPr/>
        </p:nvSpPr>
        <p:spPr>
          <a:xfrm>
            <a:off x="1737360" y="2971800"/>
            <a:ext cx="7132320" cy="1371600"/>
          </a:xfrm>
          <a:prstGeom prst="rect">
            <a:avLst/>
          </a:prstGeom>
          <a:noFill/>
        </p:spPr>
        <p:txBody>
          <a:bodyPr wrap="square">
            <a:spAutoFit/>
          </a:bodyPr>
          <a:lstStyle/>
          <a:p>
            <a:pPr algn="l"/>
            <a:r>
              <a:rPr sz="900" b="0">
                <a:solidFill>
                  <a:srgbClr val="1E293B"/>
                </a:solidFill>
              </a:rPr>
              <a:t>This geopolitical backdrop has materialized into a confirmed operational threat. A financially motivated criminal group has successfully encrypted business systems at a North American energy operator, demanding $22 million and threatening release of proprietary turbine efficiency data. A separate double-extortion campaign targeted a wind energy predictive maintenance platform, resulting in 18 days</a:t>
            </a:r>
          </a:p>
        </p:txBody>
      </p:sp>
      <p:sp>
        <p:nvSpPr>
          <p:cNvPr id="19" name="TextBox 18"/>
          <p:cNvSpPr txBox="1"/>
          <p:nvPr/>
        </p:nvSpPr>
        <p:spPr>
          <a:xfrm>
            <a:off x="1737360" y="4617720"/>
            <a:ext cx="7132320" cy="256032"/>
          </a:xfrm>
          <a:prstGeom prst="rect">
            <a:avLst/>
          </a:prstGeom>
          <a:noFill/>
        </p:spPr>
        <p:txBody>
          <a:bodyPr wrap="square">
            <a:spAutoFit/>
          </a:bodyPr>
          <a:lstStyle/>
          <a:p>
            <a:pPr algn="l"/>
            <a:r>
              <a:rPr sz="800" b="1">
                <a:solidFill>
                  <a:srgbClr val="104277"/>
                </a:solidFill>
              </a:rPr>
              <a:t>SO WHAT — BUSINESS IMPACT</a:t>
            </a:r>
          </a:p>
        </p:txBody>
      </p:sp>
      <p:sp>
        <p:nvSpPr>
          <p:cNvPr id="20" name="TextBox 19"/>
          <p:cNvSpPr txBox="1"/>
          <p:nvPr/>
        </p:nvSpPr>
        <p:spPr>
          <a:xfrm>
            <a:off x="1737360" y="4892040"/>
            <a:ext cx="7132320" cy="1371600"/>
          </a:xfrm>
          <a:prstGeom prst="rect">
            <a:avLst/>
          </a:prstGeom>
          <a:noFill/>
        </p:spPr>
        <p:txBody>
          <a:bodyPr wrap="square">
            <a:spAutoFit/>
          </a:bodyPr>
          <a:lstStyle/>
          <a:p>
            <a:pPr algn="l"/>
            <a:r>
              <a:rPr sz="900" b="0">
                <a:solidFill>
                  <a:srgbClr val="1E293B"/>
                </a:solidFill>
              </a:rPr>
              <a:t>The Value at Cyber Risk exposure for AME stands at $22,000,000. This pattern is consistent with the Ransomware scenario, ranked #1 globally by financial impact (37.6% of all cyber losses) and #2 by event frequency (31.7% of all events). The signals reflect a mixed pattern: a sustained trend of financially motivated groups targeting energy sector operational technology has now produced specific inc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5486400" cy="411480"/>
          </a:xfrm>
          <a:prstGeom prst="rect">
            <a:avLst/>
          </a:prstGeom>
          <a:noFill/>
        </p:spPr>
        <p:txBody>
          <a:bodyPr wrap="square">
            <a:spAutoFit/>
          </a:bodyPr>
          <a:lstStyle/>
          <a:p>
            <a:pPr algn="l"/>
            <a:r>
              <a:rPr sz="1600" b="1">
                <a:solidFill>
                  <a:srgbClr val="FFFFFF"/>
                </a:solidFill>
              </a:rPr>
              <a:t>MED</a:t>
            </a:r>
          </a:p>
        </p:txBody>
      </p:sp>
      <p:sp>
        <p:nvSpPr>
          <p:cNvPr id="4" name="TextBox 3"/>
          <p:cNvSpPr txBox="1"/>
          <p:nvPr/>
        </p:nvSpPr>
        <p:spPr>
          <a:xfrm>
            <a:off x="274320" y="347472"/>
            <a:ext cx="5486400" cy="228600"/>
          </a:xfrm>
          <a:prstGeom prst="rect">
            <a:avLst/>
          </a:prstGeom>
          <a:noFill/>
        </p:spPr>
        <p:txBody>
          <a:bodyPr wrap="square">
            <a:spAutoFit/>
          </a:bodyPr>
          <a:lstStyle/>
          <a:p>
            <a:pPr algn="l"/>
            <a:r>
              <a:rPr sz="900" b="0">
                <a:solidFill>
                  <a:srgbClr val="BFDBFF"/>
                </a:solidFill>
              </a:rPr>
              <a:t>Insider misuse</a:t>
            </a:r>
          </a:p>
        </p:txBody>
      </p:sp>
      <p:sp>
        <p:nvSpPr>
          <p:cNvPr id="5" name="Rectangle 4"/>
          <p:cNvSpPr/>
          <p:nvPr/>
        </p:nvSpPr>
        <p:spPr>
          <a:xfrm>
            <a:off x="7680960" y="109728"/>
            <a:ext cx="1188720"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46304"/>
            <a:ext cx="1188720" cy="274320"/>
          </a:xfrm>
          <a:prstGeom prst="rect">
            <a:avLst/>
          </a:prstGeom>
          <a:noFill/>
        </p:spPr>
        <p:txBody>
          <a:bodyPr wrap="square">
            <a:spAutoFit/>
          </a:bodyPr>
          <a:lstStyle/>
          <a:p>
            <a:pPr algn="ctr"/>
            <a:r>
              <a:rPr sz="800" b="1">
                <a:solidFill>
                  <a:srgbClr val="FFFFFF"/>
                </a:solidFill>
              </a:rPr>
              <a:t>ESCALATED</a:t>
            </a:r>
          </a:p>
        </p:txBody>
      </p:sp>
      <p:sp>
        <p:nvSpPr>
          <p:cNvPr id="7" name="TextBox 6"/>
          <p:cNvSpPr txBox="1"/>
          <p:nvPr/>
        </p:nvSpPr>
        <p:spPr>
          <a:xfrm>
            <a:off x="274320" y="777240"/>
            <a:ext cx="1280160" cy="274320"/>
          </a:xfrm>
          <a:prstGeom prst="rect">
            <a:avLst/>
          </a:prstGeom>
          <a:noFill/>
        </p:spPr>
        <p:txBody>
          <a:bodyPr wrap="square">
            <a:spAutoFit/>
          </a:bodyPr>
          <a:lstStyle/>
          <a:p>
            <a:pPr algn="l"/>
            <a:r>
              <a:rPr sz="700" b="0">
                <a:solidFill>
                  <a:srgbClr val="64748B"/>
                </a:solidFill>
              </a:rPr>
              <a:t>VaCR Exposure</a:t>
            </a:r>
          </a:p>
        </p:txBody>
      </p:sp>
      <p:sp>
        <p:nvSpPr>
          <p:cNvPr id="8" name="TextBox 7"/>
          <p:cNvSpPr txBox="1"/>
          <p:nvPr/>
        </p:nvSpPr>
        <p:spPr>
          <a:xfrm>
            <a:off x="274320" y="1069848"/>
            <a:ext cx="1280160" cy="640080"/>
          </a:xfrm>
          <a:prstGeom prst="rect">
            <a:avLst/>
          </a:prstGeom>
          <a:noFill/>
        </p:spPr>
        <p:txBody>
          <a:bodyPr wrap="square">
            <a:spAutoFit/>
          </a:bodyPr>
          <a:lstStyle/>
          <a:p>
            <a:pPr algn="l"/>
            <a:r>
              <a:rPr sz="1600" b="1">
                <a:solidFill>
                  <a:srgbClr val="104277"/>
                </a:solidFill>
              </a:rPr>
              <a:t>$4.2M</a:t>
            </a:r>
          </a:p>
        </p:txBody>
      </p:sp>
      <p:sp>
        <p:nvSpPr>
          <p:cNvPr id="9" name="TextBox 8"/>
          <p:cNvSpPr txBox="1"/>
          <p:nvPr/>
        </p:nvSpPr>
        <p:spPr>
          <a:xfrm>
            <a:off x="274320" y="2194560"/>
            <a:ext cx="1280160" cy="274320"/>
          </a:xfrm>
          <a:prstGeom prst="rect">
            <a:avLst/>
          </a:prstGeom>
          <a:noFill/>
        </p:spPr>
        <p:txBody>
          <a:bodyPr wrap="square">
            <a:spAutoFit/>
          </a:bodyPr>
          <a:lstStyle/>
          <a:p>
            <a:pPr algn="l"/>
            <a:r>
              <a:rPr sz="700" b="0">
                <a:solidFill>
                  <a:srgbClr val="64748B"/>
                </a:solidFill>
              </a:rPr>
              <a:t>Admiralty</a:t>
            </a:r>
          </a:p>
        </p:txBody>
      </p:sp>
      <p:sp>
        <p:nvSpPr>
          <p:cNvPr id="10" name="TextBox 9"/>
          <p:cNvSpPr txBox="1"/>
          <p:nvPr/>
        </p:nvSpPr>
        <p:spPr>
          <a:xfrm>
            <a:off x="274320" y="2487168"/>
            <a:ext cx="1280160" cy="640080"/>
          </a:xfrm>
          <a:prstGeom prst="rect">
            <a:avLst/>
          </a:prstGeom>
          <a:noFill/>
        </p:spPr>
        <p:txBody>
          <a:bodyPr wrap="square">
            <a:spAutoFit/>
          </a:bodyPr>
          <a:lstStyle/>
          <a:p>
            <a:pPr algn="l"/>
            <a:r>
              <a:rPr sz="1600" b="1">
                <a:solidFill>
                  <a:srgbClr val="104277"/>
                </a:solidFill>
              </a:rPr>
              <a:t>B2</a:t>
            </a:r>
          </a:p>
        </p:txBody>
      </p:sp>
      <p:sp>
        <p:nvSpPr>
          <p:cNvPr id="11" name="TextBox 10"/>
          <p:cNvSpPr txBox="1"/>
          <p:nvPr/>
        </p:nvSpPr>
        <p:spPr>
          <a:xfrm>
            <a:off x="274320" y="3611880"/>
            <a:ext cx="1280160" cy="274320"/>
          </a:xfrm>
          <a:prstGeom prst="rect">
            <a:avLst/>
          </a:prstGeom>
          <a:noFill/>
        </p:spPr>
        <p:txBody>
          <a:bodyPr wrap="square">
            <a:spAutoFit/>
          </a:bodyPr>
          <a:lstStyle/>
          <a:p>
            <a:pPr algn="l"/>
            <a:r>
              <a:rPr sz="700" b="0">
                <a:solidFill>
                  <a:srgbClr val="64748B"/>
                </a:solidFill>
              </a:rPr>
              <a:t>Velocity</a:t>
            </a:r>
          </a:p>
        </p:txBody>
      </p:sp>
      <p:sp>
        <p:nvSpPr>
          <p:cNvPr id="12" name="TextBox 11"/>
          <p:cNvSpPr txBox="1"/>
          <p:nvPr/>
        </p:nvSpPr>
        <p:spPr>
          <a:xfrm>
            <a:off x="274320" y="3904488"/>
            <a:ext cx="1280160" cy="640080"/>
          </a:xfrm>
          <a:prstGeom prst="rect">
            <a:avLst/>
          </a:prstGeom>
          <a:noFill/>
        </p:spPr>
        <p:txBody>
          <a:bodyPr wrap="square">
            <a:spAutoFit/>
          </a:bodyPr>
          <a:lstStyle/>
          <a:p>
            <a:pPr algn="l"/>
            <a:r>
              <a:rPr sz="1600" b="1">
                <a:solidFill>
                  <a:srgbClr val="64748B"/>
                </a:solidFill>
              </a:rPr>
              <a:t>→ Stable</a:t>
            </a:r>
          </a:p>
        </p:txBody>
      </p:sp>
      <p:sp>
        <p:nvSpPr>
          <p:cNvPr id="13" name="TextBox 12"/>
          <p:cNvSpPr txBox="1"/>
          <p:nvPr/>
        </p:nvSpPr>
        <p:spPr>
          <a:xfrm>
            <a:off x="274320" y="5029200"/>
            <a:ext cx="1280160" cy="274320"/>
          </a:xfrm>
          <a:prstGeom prst="rect">
            <a:avLst/>
          </a:prstGeom>
          <a:noFill/>
        </p:spPr>
        <p:txBody>
          <a:bodyPr wrap="square">
            <a:spAutoFit/>
          </a:bodyPr>
          <a:lstStyle/>
          <a:p>
            <a:pPr algn="l"/>
            <a:r>
              <a:rPr sz="700" b="0">
                <a:solidFill>
                  <a:srgbClr val="64748B"/>
                </a:solidFill>
              </a:rPr>
              <a:t>Severity</a:t>
            </a:r>
          </a:p>
        </p:txBody>
      </p:sp>
      <p:sp>
        <p:nvSpPr>
          <p:cNvPr id="14" name="TextBox 13"/>
          <p:cNvSpPr txBox="1"/>
          <p:nvPr/>
        </p:nvSpPr>
        <p:spPr>
          <a:xfrm>
            <a:off x="274320" y="5321808"/>
            <a:ext cx="1280160" cy="640080"/>
          </a:xfrm>
          <a:prstGeom prst="rect">
            <a:avLst/>
          </a:prstGeom>
          <a:noFill/>
        </p:spPr>
        <p:txBody>
          <a:bodyPr wrap="square">
            <a:spAutoFit/>
          </a:bodyPr>
          <a:lstStyle/>
          <a:p>
            <a:pPr algn="l"/>
            <a:r>
              <a:rPr sz="1600" b="1">
                <a:solidFill>
                  <a:srgbClr val="D97706"/>
                </a:solidFill>
              </a:rPr>
              <a:t>MEDIUM</a:t>
            </a:r>
          </a:p>
        </p:txBody>
      </p:sp>
      <p:sp>
        <p:nvSpPr>
          <p:cNvPr id="15" name="TextBox 14"/>
          <p:cNvSpPr txBox="1"/>
          <p:nvPr/>
        </p:nvSpPr>
        <p:spPr>
          <a:xfrm>
            <a:off x="1737360" y="777240"/>
            <a:ext cx="7132320" cy="256032"/>
          </a:xfrm>
          <a:prstGeom prst="rect">
            <a:avLst/>
          </a:prstGeom>
          <a:noFill/>
        </p:spPr>
        <p:txBody>
          <a:bodyPr wrap="square">
            <a:spAutoFit/>
          </a:bodyPr>
          <a:lstStyle/>
          <a:p>
            <a:pPr algn="l"/>
            <a:r>
              <a:rPr sz="800" b="1">
                <a:solidFill>
                  <a:srgbClr val="104277"/>
                </a:solidFill>
              </a:rPr>
              <a:t>WHY — GEOPOLITICAL DRIVER</a:t>
            </a:r>
          </a:p>
        </p:txBody>
      </p:sp>
      <p:sp>
        <p:nvSpPr>
          <p:cNvPr id="16" name="TextBox 15"/>
          <p:cNvSpPr txBox="1"/>
          <p:nvPr/>
        </p:nvSpPr>
        <p:spPr>
          <a:xfrm>
            <a:off x="1737360" y="1051560"/>
            <a:ext cx="7132320" cy="1371600"/>
          </a:xfrm>
          <a:prstGeom prst="rect">
            <a:avLst/>
          </a:prstGeom>
          <a:noFill/>
        </p:spPr>
        <p:txBody>
          <a:bodyPr wrap="square">
            <a:spAutoFit/>
          </a:bodyPr>
          <a:lstStyle/>
          <a:p>
            <a:pPr algn="l"/>
            <a:r>
              <a:rPr sz="900" b="0">
                <a:solidFill>
                  <a:srgbClr val="1E293B"/>
                </a:solidFill>
              </a:rPr>
              <a:t>Prolonged economic instability across southern Europe is undermining the reliability of AeroGrid's service and maintenance workforce in the Mediterranean region. Austerity measures and persistently high unemployment in key operating markets are creating financial stress conditions that elevate the risk of personnel seeking unauthorized income from proprietary company data. Simultaneously, the Euro</a:t>
            </a:r>
          </a:p>
        </p:txBody>
      </p:sp>
      <p:sp>
        <p:nvSpPr>
          <p:cNvPr id="17" name="TextBox 16"/>
          <p:cNvSpPr txBox="1"/>
          <p:nvPr/>
        </p:nvSpPr>
        <p:spPr>
          <a:xfrm>
            <a:off x="1737360" y="2697480"/>
            <a:ext cx="7132320" cy="256032"/>
          </a:xfrm>
          <a:prstGeom prst="rect">
            <a:avLst/>
          </a:prstGeom>
          <a:noFill/>
        </p:spPr>
        <p:txBody>
          <a:bodyPr wrap="square">
            <a:spAutoFit/>
          </a:bodyPr>
          <a:lstStyle/>
          <a:p>
            <a:pPr algn="l"/>
            <a:r>
              <a:rPr sz="800" b="1">
                <a:solidFill>
                  <a:srgbClr val="104277"/>
                </a:solidFill>
              </a:rPr>
              <a:t>HOW — CYBER VECTOR</a:t>
            </a:r>
          </a:p>
        </p:txBody>
      </p:sp>
      <p:sp>
        <p:nvSpPr>
          <p:cNvPr id="18" name="TextBox 17"/>
          <p:cNvSpPr txBox="1"/>
          <p:nvPr/>
        </p:nvSpPr>
        <p:spPr>
          <a:xfrm>
            <a:off x="1737360" y="2971800"/>
            <a:ext cx="7132320" cy="1371600"/>
          </a:xfrm>
          <a:prstGeom prst="rect">
            <a:avLst/>
          </a:prstGeom>
          <a:noFill/>
        </p:spPr>
        <p:txBody>
          <a:bodyPr wrap="square">
            <a:spAutoFit/>
          </a:bodyPr>
          <a:lstStyle/>
          <a:p>
            <a:pPr algn="l"/>
            <a:r>
              <a:rPr sz="900" b="0">
                <a:solidFill>
                  <a:srgbClr val="1E293B"/>
                </a:solidFill>
              </a:rPr>
              <a:t>This geopolitical pressure is materializing through anomalous access patterns on two of AeroGrid's crown jewels: the real-time predictive maintenance algorithms and offshore servicing contract documentation. Signals indicate that a former maintenance contractor retained active system credentials for six months after contract termination, with access events inconsistent with any operational role — </a:t>
            </a:r>
          </a:p>
        </p:txBody>
      </p:sp>
      <p:sp>
        <p:nvSpPr>
          <p:cNvPr id="19" name="TextBox 18"/>
          <p:cNvSpPr txBox="1"/>
          <p:nvPr/>
        </p:nvSpPr>
        <p:spPr>
          <a:xfrm>
            <a:off x="1737360" y="4617720"/>
            <a:ext cx="7132320" cy="256032"/>
          </a:xfrm>
          <a:prstGeom prst="rect">
            <a:avLst/>
          </a:prstGeom>
          <a:noFill/>
        </p:spPr>
        <p:txBody>
          <a:bodyPr wrap="square">
            <a:spAutoFit/>
          </a:bodyPr>
          <a:lstStyle/>
          <a:p>
            <a:pPr algn="l"/>
            <a:r>
              <a:rPr sz="800" b="1">
                <a:solidFill>
                  <a:srgbClr val="104277"/>
                </a:solidFill>
              </a:rPr>
              <a:t>SO WHAT — BUSINESS IMPACT</a:t>
            </a:r>
          </a:p>
        </p:txBody>
      </p:sp>
      <p:sp>
        <p:nvSpPr>
          <p:cNvPr id="20" name="TextBox 19"/>
          <p:cNvSpPr txBox="1"/>
          <p:nvPr/>
        </p:nvSpPr>
        <p:spPr>
          <a:xfrm>
            <a:off x="1737360" y="4892040"/>
            <a:ext cx="7132320" cy="1371600"/>
          </a:xfrm>
          <a:prstGeom prst="rect">
            <a:avLst/>
          </a:prstGeom>
          <a:noFill/>
        </p:spPr>
        <p:txBody>
          <a:bodyPr wrap="square">
            <a:spAutoFit/>
          </a:bodyPr>
          <a:lstStyle/>
          <a:p>
            <a:pPr algn="l"/>
            <a:r>
              <a:rPr sz="900" b="0">
                <a:solidFill>
                  <a:srgbClr val="1E293B"/>
                </a:solidFill>
              </a:rPr>
              <a:t>The value at cyber risk for the Mediterranean region stands at $4,200,000. This pattern is consistent with the Insider misuse scenario, ranked #4 globally by financial impact (4.4% of all industry losses) and #5 by event frequency. While Insider misuse incidents occur less frequently than external intrusions, the signals here reflect both a sustained trend of deteriorating workforce financial cond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6400800" cy="411480"/>
          </a:xfrm>
          <a:prstGeom prst="rect">
            <a:avLst/>
          </a:prstGeom>
          <a:noFill/>
        </p:spPr>
        <p:txBody>
          <a:bodyPr wrap="square">
            <a:spAutoFit/>
          </a:bodyPr>
          <a:lstStyle/>
          <a:p>
            <a:pPr algn="l"/>
            <a:r>
              <a:rPr sz="1600" b="1">
                <a:solidFill>
                  <a:srgbClr val="FFFFFF"/>
                </a:solidFill>
              </a:rPr>
              <a:t>Appendix</a:t>
            </a:r>
          </a:p>
        </p:txBody>
      </p:sp>
      <p:sp>
        <p:nvSpPr>
          <p:cNvPr id="4" name="TextBox 3"/>
          <p:cNvSpPr txBox="1"/>
          <p:nvPr/>
        </p:nvSpPr>
        <p:spPr>
          <a:xfrm>
            <a:off x="365760" y="777240"/>
            <a:ext cx="8229600" cy="274320"/>
          </a:xfrm>
          <a:prstGeom prst="rect">
            <a:avLst/>
          </a:prstGeom>
          <a:noFill/>
        </p:spPr>
        <p:txBody>
          <a:bodyPr wrap="square">
            <a:spAutoFit/>
          </a:bodyPr>
          <a:lstStyle/>
          <a:p>
            <a:pPr algn="l"/>
            <a:r>
              <a:rPr sz="900" b="1">
                <a:solidFill>
                  <a:srgbClr val="16A34A"/>
                </a:solidFill>
              </a:rPr>
              <a:t>CLEAR REGIONS</a:t>
            </a:r>
          </a:p>
        </p:txBody>
      </p:sp>
      <p:sp>
        <p:nvSpPr>
          <p:cNvPr id="5" name="TextBox 4"/>
          <p:cNvSpPr txBox="1"/>
          <p:nvPr/>
        </p:nvSpPr>
        <p:spPr>
          <a:xfrm>
            <a:off x="548640" y="1097280"/>
            <a:ext cx="8229600" cy="320040"/>
          </a:xfrm>
          <a:prstGeom prst="rect">
            <a:avLst/>
          </a:prstGeom>
          <a:noFill/>
        </p:spPr>
        <p:txBody>
          <a:bodyPr wrap="square">
            <a:spAutoFit/>
          </a:bodyPr>
          <a:lstStyle/>
          <a:p>
            <a:pPr algn="l"/>
            <a:r>
              <a:rPr sz="900" b="0">
                <a:solidFill>
                  <a:srgbClr val="1E293B"/>
                </a:solidFill>
              </a:rPr>
              <a:t>LATAM  —  No active threat detected this cycle.</a:t>
            </a:r>
          </a:p>
        </p:txBody>
      </p:sp>
      <p:sp>
        <p:nvSpPr>
          <p:cNvPr id="6" name="TextBox 5"/>
          <p:cNvSpPr txBox="1"/>
          <p:nvPr/>
        </p:nvSpPr>
        <p:spPr>
          <a:xfrm>
            <a:off x="548640" y="1444752"/>
            <a:ext cx="8229600" cy="320040"/>
          </a:xfrm>
          <a:prstGeom prst="rect">
            <a:avLst/>
          </a:prstGeom>
          <a:noFill/>
        </p:spPr>
        <p:txBody>
          <a:bodyPr wrap="square">
            <a:spAutoFit/>
          </a:bodyPr>
          <a:lstStyle/>
          <a:p>
            <a:pPr algn="l"/>
            <a:r>
              <a:rPr sz="900" b="0">
                <a:solidFill>
                  <a:srgbClr val="1E293B"/>
                </a:solidFill>
              </a:rPr>
              <a:t>NCE  —  No active threat detected this cycle.</a:t>
            </a:r>
          </a:p>
        </p:txBody>
      </p:sp>
      <p:sp>
        <p:nvSpPr>
          <p:cNvPr id="7" name="TextBox 6"/>
          <p:cNvSpPr txBox="1"/>
          <p:nvPr/>
        </p:nvSpPr>
        <p:spPr>
          <a:xfrm>
            <a:off x="365760" y="1975104"/>
            <a:ext cx="8229600" cy="274320"/>
          </a:xfrm>
          <a:prstGeom prst="rect">
            <a:avLst/>
          </a:prstGeom>
          <a:noFill/>
        </p:spPr>
        <p:txBody>
          <a:bodyPr wrap="square">
            <a:spAutoFit/>
          </a:bodyPr>
          <a:lstStyle/>
          <a:p>
            <a:pPr algn="l"/>
            <a:r>
              <a:rPr sz="900" b="1">
                <a:solidFill>
                  <a:srgbClr val="64748B"/>
                </a:solidFill>
              </a:rPr>
              <a:t>RUN METADATA</a:t>
            </a:r>
          </a:p>
        </p:txBody>
      </p:sp>
      <p:sp>
        <p:nvSpPr>
          <p:cNvPr id="8" name="TextBox 7"/>
          <p:cNvSpPr txBox="1"/>
          <p:nvPr/>
        </p:nvSpPr>
        <p:spPr>
          <a:xfrm>
            <a:off x="548640" y="2295144"/>
            <a:ext cx="8229600" cy="274320"/>
          </a:xfrm>
          <a:prstGeom prst="rect">
            <a:avLst/>
          </a:prstGeom>
          <a:noFill/>
        </p:spPr>
        <p:txBody>
          <a:bodyPr wrap="square">
            <a:spAutoFit/>
          </a:bodyPr>
          <a:lstStyle/>
          <a:p>
            <a:pPr algn="l"/>
            <a:r>
              <a:rPr sz="900" b="0">
                <a:solidFill>
                  <a:srgbClr val="1E293B"/>
                </a:solidFill>
              </a:rPr>
              <a:t>Pipeline ID:  crq-2026-03-12T190254Z</a:t>
            </a:r>
          </a:p>
        </p:txBody>
      </p:sp>
      <p:sp>
        <p:nvSpPr>
          <p:cNvPr id="9" name="TextBox 8"/>
          <p:cNvSpPr txBox="1"/>
          <p:nvPr/>
        </p:nvSpPr>
        <p:spPr>
          <a:xfrm>
            <a:off x="548640" y="2569464"/>
            <a:ext cx="8229600" cy="274320"/>
          </a:xfrm>
          <a:prstGeom prst="rect">
            <a:avLst/>
          </a:prstGeom>
          <a:noFill/>
        </p:spPr>
        <p:txBody>
          <a:bodyPr wrap="square">
            <a:spAutoFit/>
          </a:bodyPr>
          <a:lstStyle/>
          <a:p>
            <a:pPr algn="l"/>
            <a:r>
              <a:rPr sz="900" b="0">
                <a:solidFill>
                  <a:srgbClr val="1E293B"/>
                </a:solidFill>
              </a:rPr>
              <a:t>Timestamp:  2026-03-12T19:02:54Z</a:t>
            </a:r>
          </a:p>
        </p:txBody>
      </p:sp>
      <p:sp>
        <p:nvSpPr>
          <p:cNvPr id="10" name="TextBox 9"/>
          <p:cNvSpPr txBox="1"/>
          <p:nvPr/>
        </p:nvSpPr>
        <p:spPr>
          <a:xfrm>
            <a:off x="548640" y="2843784"/>
            <a:ext cx="8229600" cy="274320"/>
          </a:xfrm>
          <a:prstGeom prst="rect">
            <a:avLst/>
          </a:prstGeom>
          <a:noFill/>
        </p:spPr>
        <p:txBody>
          <a:bodyPr wrap="square">
            <a:spAutoFit/>
          </a:bodyPr>
          <a:lstStyle/>
          <a:p>
            <a:pPr algn="l"/>
            <a:r>
              <a:rPr sz="900" b="0">
                <a:solidFill>
                  <a:srgbClr val="1E293B"/>
                </a:solidFill>
              </a:rPr>
              <a:t>Escalated:  3</a:t>
            </a:r>
          </a:p>
        </p:txBody>
      </p:sp>
      <p:sp>
        <p:nvSpPr>
          <p:cNvPr id="11" name="TextBox 10"/>
          <p:cNvSpPr txBox="1"/>
          <p:nvPr/>
        </p:nvSpPr>
        <p:spPr>
          <a:xfrm>
            <a:off x="548640" y="3118104"/>
            <a:ext cx="8229600" cy="274320"/>
          </a:xfrm>
          <a:prstGeom prst="rect">
            <a:avLst/>
          </a:prstGeom>
          <a:noFill/>
        </p:spPr>
        <p:txBody>
          <a:bodyPr wrap="square">
            <a:spAutoFit/>
          </a:bodyPr>
          <a:lstStyle/>
          <a:p>
            <a:pPr algn="l"/>
            <a:r>
              <a:rPr sz="900" b="0">
                <a:solidFill>
                  <a:srgbClr val="1E293B"/>
                </a:solidFill>
              </a:rPr>
              <a:t>Monitor:  0</a:t>
            </a:r>
          </a:p>
        </p:txBody>
      </p:sp>
      <p:sp>
        <p:nvSpPr>
          <p:cNvPr id="12" name="TextBox 11"/>
          <p:cNvSpPr txBox="1"/>
          <p:nvPr/>
        </p:nvSpPr>
        <p:spPr>
          <a:xfrm>
            <a:off x="548640" y="3392424"/>
            <a:ext cx="8229600" cy="274320"/>
          </a:xfrm>
          <a:prstGeom prst="rect">
            <a:avLst/>
          </a:prstGeom>
          <a:noFill/>
        </p:spPr>
        <p:txBody>
          <a:bodyPr wrap="square">
            <a:spAutoFit/>
          </a:bodyPr>
          <a:lstStyle/>
          <a:p>
            <a:pPr algn="l"/>
            <a:r>
              <a:rPr sz="900" b="0">
                <a:solidFill>
                  <a:srgbClr val="1E293B"/>
                </a:solidFill>
              </a:rPr>
              <a:t>Clear: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