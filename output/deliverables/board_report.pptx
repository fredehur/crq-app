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310896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0"/>
            <a:ext cx="8046720" cy="457200"/>
          </a:xfrm>
          <a:prstGeom prst="rect">
            <a:avLst/>
          </a:prstGeom>
          <a:noFill/>
        </p:spPr>
        <p:txBody>
          <a:bodyPr wrap="square">
            <a:spAutoFit/>
          </a:bodyPr>
          <a:lstStyle/>
          <a:p>
            <a:pPr algn="l"/>
            <a:r>
              <a:rPr sz="1300" b="0">
                <a:solidFill>
                  <a:srgbClr val="BFDBFF"/>
                </a:solidFill>
              </a:rPr>
              <a:t>AeroGrid Wind Solutions</a:t>
            </a:r>
          </a:p>
        </p:txBody>
      </p:sp>
      <p:sp>
        <p:nvSpPr>
          <p:cNvPr id="4" name="TextBox 3"/>
          <p:cNvSpPr txBox="1"/>
          <p:nvPr/>
        </p:nvSpPr>
        <p:spPr>
          <a:xfrm>
            <a:off x="548640" y="1005840"/>
            <a:ext cx="8046720" cy="1828800"/>
          </a:xfrm>
          <a:prstGeom prst="rect">
            <a:avLst/>
          </a:prstGeom>
          <a:noFill/>
        </p:spPr>
        <p:txBody>
          <a:bodyPr wrap="square">
            <a:spAutoFit/>
          </a:bodyPr>
          <a:lstStyle/>
          <a:p>
            <a:pPr algn="l"/>
            <a:r>
              <a:rPr sz="2800" b="1">
                <a:solidFill>
                  <a:srgbClr val="FFFFFF"/>
                </a:solidFill>
              </a:rPr>
              <a:t>Global Cyber Risk
Intelligence Brief</a:t>
            </a:r>
          </a:p>
        </p:txBody>
      </p:sp>
      <p:sp>
        <p:nvSpPr>
          <p:cNvPr id="5" name="Rectangle 4"/>
          <p:cNvSpPr/>
          <p:nvPr/>
        </p:nvSpPr>
        <p:spPr>
          <a:xfrm>
            <a:off x="548640" y="3383280"/>
            <a:ext cx="1097280" cy="6858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3410712"/>
            <a:ext cx="1097280" cy="365760"/>
          </a:xfrm>
          <a:prstGeom prst="rect">
            <a:avLst/>
          </a:prstGeom>
          <a:noFill/>
        </p:spPr>
        <p:txBody>
          <a:bodyPr wrap="square">
            <a:spAutoFit/>
          </a:bodyPr>
          <a:lstStyle/>
          <a:p>
            <a:pPr algn="ctr"/>
            <a:r>
              <a:rPr sz="2000" b="1">
                <a:solidFill>
                  <a:srgbClr val="FFFFFF"/>
                </a:solidFill>
              </a:rPr>
              <a:t>0</a:t>
            </a:r>
          </a:p>
        </p:txBody>
      </p:sp>
      <p:sp>
        <p:nvSpPr>
          <p:cNvPr id="7" name="TextBox 6"/>
          <p:cNvSpPr txBox="1"/>
          <p:nvPr/>
        </p:nvSpPr>
        <p:spPr>
          <a:xfrm>
            <a:off x="548640" y="3749039"/>
            <a:ext cx="1097280" cy="274320"/>
          </a:xfrm>
          <a:prstGeom prst="rect">
            <a:avLst/>
          </a:prstGeom>
          <a:noFill/>
        </p:spPr>
        <p:txBody>
          <a:bodyPr wrap="square">
            <a:spAutoFit/>
          </a:bodyPr>
          <a:lstStyle/>
          <a:p>
            <a:pPr algn="ctr"/>
            <a:r>
              <a:rPr sz="700" b="0">
                <a:solidFill>
                  <a:srgbClr val="FFFFFF"/>
                </a:solidFill>
              </a:rPr>
              <a:t>ESCALATED</a:t>
            </a:r>
          </a:p>
        </p:txBody>
      </p:sp>
      <p:sp>
        <p:nvSpPr>
          <p:cNvPr id="8" name="Rectangle 7"/>
          <p:cNvSpPr/>
          <p:nvPr/>
        </p:nvSpPr>
        <p:spPr>
          <a:xfrm>
            <a:off x="1920240" y="3383280"/>
            <a:ext cx="1097280" cy="6858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20240" y="3410712"/>
            <a:ext cx="1097280" cy="365760"/>
          </a:xfrm>
          <a:prstGeom prst="rect">
            <a:avLst/>
          </a:prstGeom>
          <a:noFill/>
        </p:spPr>
        <p:txBody>
          <a:bodyPr wrap="square">
            <a:spAutoFit/>
          </a:bodyPr>
          <a:lstStyle/>
          <a:p>
            <a:pPr algn="ctr"/>
            <a:r>
              <a:rPr sz="2000" b="1">
                <a:solidFill>
                  <a:srgbClr val="FFFFFF"/>
                </a:solidFill>
              </a:rPr>
              <a:t>0</a:t>
            </a:r>
          </a:p>
        </p:txBody>
      </p:sp>
      <p:sp>
        <p:nvSpPr>
          <p:cNvPr id="10" name="TextBox 9"/>
          <p:cNvSpPr txBox="1"/>
          <p:nvPr/>
        </p:nvSpPr>
        <p:spPr>
          <a:xfrm>
            <a:off x="1920240" y="3749039"/>
            <a:ext cx="1097280" cy="274320"/>
          </a:xfrm>
          <a:prstGeom prst="rect">
            <a:avLst/>
          </a:prstGeom>
          <a:noFill/>
        </p:spPr>
        <p:txBody>
          <a:bodyPr wrap="square">
            <a:spAutoFit/>
          </a:bodyPr>
          <a:lstStyle/>
          <a:p>
            <a:pPr algn="ctr"/>
            <a:r>
              <a:rPr sz="700" b="0">
                <a:solidFill>
                  <a:srgbClr val="FFFFFF"/>
                </a:solidFill>
              </a:rPr>
              <a:t>MONITOR</a:t>
            </a:r>
          </a:p>
        </p:txBody>
      </p:sp>
      <p:sp>
        <p:nvSpPr>
          <p:cNvPr id="11" name="Rectangle 10"/>
          <p:cNvSpPr/>
          <p:nvPr/>
        </p:nvSpPr>
        <p:spPr>
          <a:xfrm>
            <a:off x="3291840" y="3383280"/>
            <a:ext cx="1097280" cy="6858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3410712"/>
            <a:ext cx="1097280" cy="365760"/>
          </a:xfrm>
          <a:prstGeom prst="rect">
            <a:avLst/>
          </a:prstGeom>
          <a:noFill/>
        </p:spPr>
        <p:txBody>
          <a:bodyPr wrap="square">
            <a:spAutoFit/>
          </a:bodyPr>
          <a:lstStyle/>
          <a:p>
            <a:pPr algn="ctr"/>
            <a:r>
              <a:rPr sz="2000" b="1">
                <a:solidFill>
                  <a:srgbClr val="FFFFFF"/>
                </a:solidFill>
              </a:rPr>
              <a:t>0</a:t>
            </a:r>
          </a:p>
        </p:txBody>
      </p:sp>
      <p:sp>
        <p:nvSpPr>
          <p:cNvPr id="13" name="TextBox 12"/>
          <p:cNvSpPr txBox="1"/>
          <p:nvPr/>
        </p:nvSpPr>
        <p:spPr>
          <a:xfrm>
            <a:off x="3291840" y="3749039"/>
            <a:ext cx="1097280" cy="274320"/>
          </a:xfrm>
          <a:prstGeom prst="rect">
            <a:avLst/>
          </a:prstGeom>
          <a:noFill/>
        </p:spPr>
        <p:txBody>
          <a:bodyPr wrap="square">
            <a:spAutoFit/>
          </a:bodyPr>
          <a:lstStyle/>
          <a:p>
            <a:pPr algn="ctr"/>
            <a:r>
              <a:rPr sz="700" b="0">
                <a:solidFill>
                  <a:srgbClr val="FFFFFF"/>
                </a:solidFill>
              </a:rPr>
              <a:t>CLEAR</a:t>
            </a:r>
          </a:p>
        </p:txBody>
      </p:sp>
      <p:sp>
        <p:nvSpPr>
          <p:cNvPr id="14" name="TextBox 13"/>
          <p:cNvSpPr txBox="1"/>
          <p:nvPr/>
        </p:nvSpPr>
        <p:spPr>
          <a:xfrm>
            <a:off x="548640" y="4572000"/>
            <a:ext cx="7315200" cy="365760"/>
          </a:xfrm>
          <a:prstGeom prst="rect">
            <a:avLst/>
          </a:prstGeom>
          <a:noFill/>
        </p:spPr>
        <p:txBody>
          <a:bodyPr wrap="square">
            <a:spAutoFit/>
          </a:bodyPr>
          <a:lstStyle/>
          <a:p>
            <a:pPr algn="l"/>
            <a:r>
              <a:rPr sz="900" b="0">
                <a:solidFill>
                  <a:srgbClr val="64748B"/>
                </a:solidFill>
              </a:rPr>
              <a:t>Pipeline ID: crq-2026-04-06T094950Z   |   2026-04-06T09:49:50Z</a:t>
            </a:r>
          </a:p>
        </p:txBody>
      </p:sp>
      <p:sp>
        <p:nvSpPr>
          <p:cNvPr id="15" name="TextBox 14"/>
          <p:cNvSpPr txBox="1"/>
          <p:nvPr/>
        </p:nvSpPr>
        <p:spPr>
          <a:xfrm>
            <a:off x="6858000" y="6309360"/>
            <a:ext cx="2103120" cy="365760"/>
          </a:xfrm>
          <a:prstGeom prst="rect">
            <a:avLst/>
          </a:prstGeom>
          <a:noFill/>
        </p:spPr>
        <p:txBody>
          <a:bodyPr wrap="square">
            <a:spAutoFit/>
          </a:bodyPr>
          <a:lstStyle/>
          <a:p>
            <a:pPr algn="r"/>
            <a:r>
              <a:rPr sz="800" b="1">
                <a:solidFill>
                  <a:srgbClr val="DC2626"/>
                </a:solidFill>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6400800" cy="411480"/>
          </a:xfrm>
          <a:prstGeom prst="rect">
            <a:avLst/>
          </a:prstGeom>
          <a:noFill/>
        </p:spPr>
        <p:txBody>
          <a:bodyPr wrap="square">
            <a:spAutoFit/>
          </a:bodyPr>
          <a:lstStyle/>
          <a:p>
            <a:pPr algn="l"/>
            <a:r>
              <a:rPr sz="1600" b="1">
                <a:solidFill>
                  <a:srgbClr val="FFFFFF"/>
                </a:solidFill>
              </a:rPr>
              <a:t>Executive Summary</a:t>
            </a:r>
          </a:p>
        </p:txBody>
      </p:sp>
      <p:sp>
        <p:nvSpPr>
          <p:cNvPr id="4" name="Rectangle 3"/>
          <p:cNvSpPr/>
          <p:nvPr/>
        </p:nvSpPr>
        <p:spPr>
          <a:xfrm>
            <a:off x="365760" y="777240"/>
            <a:ext cx="1005840" cy="6858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804672"/>
            <a:ext cx="1005840" cy="365760"/>
          </a:xfrm>
          <a:prstGeom prst="rect">
            <a:avLst/>
          </a:prstGeom>
          <a:noFill/>
        </p:spPr>
        <p:txBody>
          <a:bodyPr wrap="square">
            <a:spAutoFit/>
          </a:bodyPr>
          <a:lstStyle/>
          <a:p>
            <a:pPr algn="ctr"/>
            <a:r>
              <a:rPr sz="2000" b="1">
                <a:solidFill>
                  <a:srgbClr val="FFFFFF"/>
                </a:solidFill>
              </a:rPr>
              <a:t>0</a:t>
            </a:r>
          </a:p>
        </p:txBody>
      </p:sp>
      <p:sp>
        <p:nvSpPr>
          <p:cNvPr id="6" name="TextBox 5"/>
          <p:cNvSpPr txBox="1"/>
          <p:nvPr/>
        </p:nvSpPr>
        <p:spPr>
          <a:xfrm>
            <a:off x="365760" y="1143000"/>
            <a:ext cx="1005840" cy="274320"/>
          </a:xfrm>
          <a:prstGeom prst="rect">
            <a:avLst/>
          </a:prstGeom>
          <a:noFill/>
        </p:spPr>
        <p:txBody>
          <a:bodyPr wrap="square">
            <a:spAutoFit/>
          </a:bodyPr>
          <a:lstStyle/>
          <a:p>
            <a:pPr algn="ctr"/>
            <a:r>
              <a:rPr sz="700" b="0">
                <a:solidFill>
                  <a:srgbClr val="FFFFFF"/>
                </a:solidFill>
              </a:rPr>
              <a:t>ESCALATED</a:t>
            </a:r>
          </a:p>
        </p:txBody>
      </p:sp>
      <p:sp>
        <p:nvSpPr>
          <p:cNvPr id="7" name="Rectangle 6"/>
          <p:cNvSpPr/>
          <p:nvPr/>
        </p:nvSpPr>
        <p:spPr>
          <a:xfrm>
            <a:off x="1554480" y="777240"/>
            <a:ext cx="1005840" cy="6858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54480" y="804672"/>
            <a:ext cx="1005840" cy="365760"/>
          </a:xfrm>
          <a:prstGeom prst="rect">
            <a:avLst/>
          </a:prstGeom>
          <a:noFill/>
        </p:spPr>
        <p:txBody>
          <a:bodyPr wrap="square">
            <a:spAutoFit/>
          </a:bodyPr>
          <a:lstStyle/>
          <a:p>
            <a:pPr algn="ctr"/>
            <a:r>
              <a:rPr sz="2000" b="1">
                <a:solidFill>
                  <a:srgbClr val="FFFFFF"/>
                </a:solidFill>
              </a:rPr>
              <a:t>0</a:t>
            </a:r>
          </a:p>
        </p:txBody>
      </p:sp>
      <p:sp>
        <p:nvSpPr>
          <p:cNvPr id="9" name="TextBox 8"/>
          <p:cNvSpPr txBox="1"/>
          <p:nvPr/>
        </p:nvSpPr>
        <p:spPr>
          <a:xfrm>
            <a:off x="1554480" y="1143000"/>
            <a:ext cx="1005840" cy="274320"/>
          </a:xfrm>
          <a:prstGeom prst="rect">
            <a:avLst/>
          </a:prstGeom>
          <a:noFill/>
        </p:spPr>
        <p:txBody>
          <a:bodyPr wrap="square">
            <a:spAutoFit/>
          </a:bodyPr>
          <a:lstStyle/>
          <a:p>
            <a:pPr algn="ctr"/>
            <a:r>
              <a:rPr sz="700" b="0">
                <a:solidFill>
                  <a:srgbClr val="FFFFFF"/>
                </a:solidFill>
              </a:rPr>
              <a:t>MONITOR</a:t>
            </a:r>
          </a:p>
        </p:txBody>
      </p:sp>
      <p:sp>
        <p:nvSpPr>
          <p:cNvPr id="10" name="Rectangle 9"/>
          <p:cNvSpPr/>
          <p:nvPr/>
        </p:nvSpPr>
        <p:spPr>
          <a:xfrm>
            <a:off x="2743200" y="777240"/>
            <a:ext cx="1005840" cy="6858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0" y="804672"/>
            <a:ext cx="1005840" cy="365760"/>
          </a:xfrm>
          <a:prstGeom prst="rect">
            <a:avLst/>
          </a:prstGeom>
          <a:noFill/>
        </p:spPr>
        <p:txBody>
          <a:bodyPr wrap="square">
            <a:spAutoFit/>
          </a:bodyPr>
          <a:lstStyle/>
          <a:p>
            <a:pPr algn="ctr"/>
            <a:r>
              <a:rPr sz="2000" b="1">
                <a:solidFill>
                  <a:srgbClr val="FFFFFF"/>
                </a:solidFill>
              </a:rPr>
              <a:t>0</a:t>
            </a:r>
          </a:p>
        </p:txBody>
      </p:sp>
      <p:sp>
        <p:nvSpPr>
          <p:cNvPr id="12" name="TextBox 11"/>
          <p:cNvSpPr txBox="1"/>
          <p:nvPr/>
        </p:nvSpPr>
        <p:spPr>
          <a:xfrm>
            <a:off x="2743200" y="1143000"/>
            <a:ext cx="1005840" cy="274320"/>
          </a:xfrm>
          <a:prstGeom prst="rect">
            <a:avLst/>
          </a:prstGeom>
          <a:noFill/>
        </p:spPr>
        <p:txBody>
          <a:bodyPr wrap="square">
            <a:spAutoFit/>
          </a:bodyPr>
          <a:lstStyle/>
          <a:p>
            <a:pPr algn="ctr"/>
            <a:r>
              <a:rPr sz="700" b="0">
                <a:solidFill>
                  <a:srgbClr val="FFFFFF"/>
                </a:solidFill>
              </a:rPr>
              <a:t>CLEAR</a:t>
            </a:r>
          </a:p>
        </p:txBody>
      </p:sp>
      <p:sp>
        <p:nvSpPr>
          <p:cNvPr id="13" name="TextBox 12"/>
          <p:cNvSpPr txBox="1"/>
          <p:nvPr/>
        </p:nvSpPr>
        <p:spPr>
          <a:xfrm>
            <a:off x="365760" y="1645920"/>
            <a:ext cx="8412480" cy="914400"/>
          </a:xfrm>
          <a:prstGeom prst="rect">
            <a:avLst/>
          </a:prstGeom>
          <a:noFill/>
        </p:spPr>
        <p:txBody>
          <a:bodyPr wrap="square">
            <a:spAutoFit/>
          </a:bodyPr>
          <a:lstStyle/>
          <a:p>
            <a:pPr algn="l"/>
            <a:r>
              <a:rPr sz="1000" b="0">
                <a:solidFill>
                  <a:srgbClr val="1E293B"/>
                </a:solidFill>
              </a:rPr>
              <a:t>CURRENT-CYCLE HEADLINE: All five operating regions have escalated simultaneously to System intrusion as their primary scenario — a complete global convergence unprecedented in this pipeline's history — reflecting a structural threat environment in which state-sponsored actors are targeting wind turbine IP, manufacturing operational technology, and service delivery infrastructure across every geography in which AeroGrid operates, with combined quantified exposure of $44.7 million USD concentrated in AME and APAC. CROSS-REGIONAL PATTERN: System intrusion is the primary scenario in all five regions, driven in four of five cases by the Geopolitical pillar — state-directed pressure on clean energy supply chains and wind technology acquisition is the single unifying driver globally; all five escalations carry a B2 Admiralty rating, meaning the board is working with a uniformly corroborated confidence level, though three of the five assessments rest on inferred rather than confirmed cyber indicators: AME and LATAM have no confirmed cyber indicators and the adversary mechanism is inferred from geopolitical conditions and sector precedent, while NCE has no publicly attributed incident against wind OT environments in the current collection window. VELOCITY/HISTORICAL CONTEXT: Global risk is not stable — LATAM and NCE are both assessed as accelerating, with LATAM completing its first confirmed full-escalation trajectory after eight consecutive clear or monitor assessments; APAC has returned System intrusion as its primary scenario for 12 consecutive runs, representing sustained structural exposure rooted in China's state-backed wind technology programme rather than cyclical variance; LATAM has returned System intrusion for 4 consecutive runs and MED for 3 consecutive runs, both indicating that the geopolitical supply chain pressure driving those assessments is hardening into a persistent condition. CORRECTIONS/CAVEATS: The NCE primary scenario reflects an analyst override of the automated classification, which returned System failure; the override is analytically grounded in confirmed state-actor intrusion tradecraft against adjacent manufacturing sectors but represents analyst judgment rather than a direct indicator match against wind OT environments; NCE and LATAM both carry a VaCR of zero, reflecting the absence of assigned quantified exposure in the CRQ register rather than the absence of operational risk.</a:t>
            </a:r>
          </a:p>
        </p:txBody>
      </p:sp>
      <p:sp>
        <p:nvSpPr>
          <p:cNvPr id="14" name="TextBox 13"/>
          <p:cNvSpPr txBox="1"/>
          <p:nvPr/>
        </p:nvSpPr>
        <p:spPr>
          <a:xfrm>
            <a:off x="365760" y="2743200"/>
            <a:ext cx="1097280" cy="274320"/>
          </a:xfrm>
          <a:prstGeom prst="rect">
            <a:avLst/>
          </a:prstGeom>
          <a:noFill/>
        </p:spPr>
        <p:txBody>
          <a:bodyPr wrap="square">
            <a:spAutoFit/>
          </a:bodyPr>
          <a:lstStyle/>
          <a:p>
            <a:pPr algn="l"/>
            <a:r>
              <a:rPr sz="800" b="1">
                <a:solidFill>
                  <a:srgbClr val="64748B"/>
                </a:solidFill>
              </a:rPr>
              <a:t>Region</a:t>
            </a:r>
          </a:p>
        </p:txBody>
      </p:sp>
      <p:sp>
        <p:nvSpPr>
          <p:cNvPr id="15" name="TextBox 14"/>
          <p:cNvSpPr txBox="1"/>
          <p:nvPr/>
        </p:nvSpPr>
        <p:spPr>
          <a:xfrm>
            <a:off x="1463040" y="2743200"/>
            <a:ext cx="2011680" cy="274320"/>
          </a:xfrm>
          <a:prstGeom prst="rect">
            <a:avLst/>
          </a:prstGeom>
          <a:noFill/>
        </p:spPr>
        <p:txBody>
          <a:bodyPr wrap="square">
            <a:spAutoFit/>
          </a:bodyPr>
          <a:lstStyle/>
          <a:p>
            <a:pPr algn="l"/>
            <a:r>
              <a:rPr sz="800" b="1">
                <a:solidFill>
                  <a:srgbClr val="64748B"/>
                </a:solidFill>
              </a:rPr>
              <a:t>Scenario</a:t>
            </a:r>
          </a:p>
        </p:txBody>
      </p:sp>
      <p:sp>
        <p:nvSpPr>
          <p:cNvPr id="16" name="TextBox 15"/>
          <p:cNvSpPr txBox="1"/>
          <p:nvPr/>
        </p:nvSpPr>
        <p:spPr>
          <a:xfrm>
            <a:off x="3474720" y="2743200"/>
            <a:ext cx="1280160" cy="274320"/>
          </a:xfrm>
          <a:prstGeom prst="rect">
            <a:avLst/>
          </a:prstGeom>
          <a:noFill/>
        </p:spPr>
        <p:txBody>
          <a:bodyPr wrap="square">
            <a:spAutoFit/>
          </a:bodyPr>
          <a:lstStyle/>
          <a:p>
            <a:pPr algn="l"/>
            <a:r>
              <a:rPr sz="800" b="1">
                <a:solidFill>
                  <a:srgbClr val="64748B"/>
                </a:solidFill>
              </a:rPr>
              <a:t>Severity</a:t>
            </a:r>
          </a:p>
        </p:txBody>
      </p:sp>
      <p:sp>
        <p:nvSpPr>
          <p:cNvPr id="17" name="TextBox 16"/>
          <p:cNvSpPr txBox="1"/>
          <p:nvPr/>
        </p:nvSpPr>
        <p:spPr>
          <a:xfrm>
            <a:off x="4754880" y="2743200"/>
            <a:ext cx="1645920" cy="274320"/>
          </a:xfrm>
          <a:prstGeom prst="rect">
            <a:avLst/>
          </a:prstGeom>
          <a:noFill/>
        </p:spPr>
        <p:txBody>
          <a:bodyPr wrap="square">
            <a:spAutoFit/>
          </a:bodyPr>
          <a:lstStyle/>
          <a:p>
            <a:pPr algn="l"/>
            <a:r>
              <a:rPr sz="800" b="1">
                <a:solidFill>
                  <a:srgbClr val="64748B"/>
                </a:solidFill>
              </a:rPr>
              <a:t>Velocity</a:t>
            </a:r>
          </a:p>
        </p:txBody>
      </p:sp>
      <p:sp>
        <p:nvSpPr>
          <p:cNvPr id="18" name="TextBox 17"/>
          <p:cNvSpPr txBox="1"/>
          <p:nvPr/>
        </p:nvSpPr>
        <p:spPr>
          <a:xfrm>
            <a:off x="6400800" y="2743200"/>
            <a:ext cx="1280160" cy="274320"/>
          </a:xfrm>
          <a:prstGeom prst="rect">
            <a:avLst/>
          </a:prstGeom>
          <a:noFill/>
        </p:spPr>
        <p:txBody>
          <a:bodyPr wrap="square">
            <a:spAutoFit/>
          </a:bodyPr>
          <a:lstStyle/>
          <a:p>
            <a:pPr algn="l"/>
            <a:r>
              <a:rPr sz="800" b="1">
                <a:solidFill>
                  <a:srgbClr val="64748B"/>
                </a:solidFill>
              </a:rPr>
              <a:t>Confidence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6400800" cy="411480"/>
          </a:xfrm>
          <a:prstGeom prst="rect">
            <a:avLst/>
          </a:prstGeom>
          <a:noFill/>
        </p:spPr>
        <p:txBody>
          <a:bodyPr wrap="square">
            <a:spAutoFit/>
          </a:bodyPr>
          <a:lstStyle/>
          <a:p>
            <a:pPr algn="l"/>
            <a:r>
              <a:rPr sz="1600" b="1">
                <a:solidFill>
                  <a:srgbClr val="FFFFFF"/>
                </a:solidFill>
              </a:rPr>
              <a:t>Appendix</a:t>
            </a:r>
          </a:p>
        </p:txBody>
      </p:sp>
      <p:sp>
        <p:nvSpPr>
          <p:cNvPr id="4" name="TextBox 3"/>
          <p:cNvSpPr txBox="1"/>
          <p:nvPr/>
        </p:nvSpPr>
        <p:spPr>
          <a:xfrm>
            <a:off x="365760" y="777240"/>
            <a:ext cx="8229600" cy="274320"/>
          </a:xfrm>
          <a:prstGeom prst="rect">
            <a:avLst/>
          </a:prstGeom>
          <a:noFill/>
        </p:spPr>
        <p:txBody>
          <a:bodyPr wrap="square">
            <a:spAutoFit/>
          </a:bodyPr>
          <a:lstStyle/>
          <a:p>
            <a:pPr algn="l"/>
            <a:r>
              <a:rPr sz="900" b="1">
                <a:solidFill>
                  <a:srgbClr val="64748B"/>
                </a:solidFill>
              </a:rPr>
              <a:t>RUN METADATA</a:t>
            </a:r>
          </a:p>
        </p:txBody>
      </p:sp>
      <p:sp>
        <p:nvSpPr>
          <p:cNvPr id="5" name="TextBox 4"/>
          <p:cNvSpPr txBox="1"/>
          <p:nvPr/>
        </p:nvSpPr>
        <p:spPr>
          <a:xfrm>
            <a:off x="548640" y="1097280"/>
            <a:ext cx="8229600" cy="274320"/>
          </a:xfrm>
          <a:prstGeom prst="rect">
            <a:avLst/>
          </a:prstGeom>
          <a:noFill/>
        </p:spPr>
        <p:txBody>
          <a:bodyPr wrap="square">
            <a:spAutoFit/>
          </a:bodyPr>
          <a:lstStyle/>
          <a:p>
            <a:pPr algn="l"/>
            <a:r>
              <a:rPr sz="900" b="0">
                <a:solidFill>
                  <a:srgbClr val="1E293B"/>
                </a:solidFill>
              </a:rPr>
              <a:t>Pipeline ID:  crq-2026-04-06T094950Z</a:t>
            </a:r>
          </a:p>
        </p:txBody>
      </p:sp>
      <p:sp>
        <p:nvSpPr>
          <p:cNvPr id="6" name="TextBox 5"/>
          <p:cNvSpPr txBox="1"/>
          <p:nvPr/>
        </p:nvSpPr>
        <p:spPr>
          <a:xfrm>
            <a:off x="548640" y="1371600"/>
            <a:ext cx="8229600" cy="274320"/>
          </a:xfrm>
          <a:prstGeom prst="rect">
            <a:avLst/>
          </a:prstGeom>
          <a:noFill/>
        </p:spPr>
        <p:txBody>
          <a:bodyPr wrap="square">
            <a:spAutoFit/>
          </a:bodyPr>
          <a:lstStyle/>
          <a:p>
            <a:pPr algn="l"/>
            <a:r>
              <a:rPr sz="900" b="0">
                <a:solidFill>
                  <a:srgbClr val="1E293B"/>
                </a:solidFill>
              </a:rPr>
              <a:t>Timestamp:  2026-04-06T09:49:50Z</a:t>
            </a:r>
          </a:p>
        </p:txBody>
      </p:sp>
      <p:sp>
        <p:nvSpPr>
          <p:cNvPr id="7" name="TextBox 6"/>
          <p:cNvSpPr txBox="1"/>
          <p:nvPr/>
        </p:nvSpPr>
        <p:spPr>
          <a:xfrm>
            <a:off x="548640" y="1645920"/>
            <a:ext cx="8229600" cy="274320"/>
          </a:xfrm>
          <a:prstGeom prst="rect">
            <a:avLst/>
          </a:prstGeom>
          <a:noFill/>
        </p:spPr>
        <p:txBody>
          <a:bodyPr wrap="square">
            <a:spAutoFit/>
          </a:bodyPr>
          <a:lstStyle/>
          <a:p>
            <a:pPr algn="l"/>
            <a:r>
              <a:rPr sz="900" b="0">
                <a:solidFill>
                  <a:srgbClr val="1E293B"/>
                </a:solidFill>
              </a:rPr>
              <a:t>Escalated:  0</a:t>
            </a:r>
          </a:p>
        </p:txBody>
      </p:sp>
      <p:sp>
        <p:nvSpPr>
          <p:cNvPr id="8" name="TextBox 7"/>
          <p:cNvSpPr txBox="1"/>
          <p:nvPr/>
        </p:nvSpPr>
        <p:spPr>
          <a:xfrm>
            <a:off x="548640" y="1920240"/>
            <a:ext cx="8229600" cy="274320"/>
          </a:xfrm>
          <a:prstGeom prst="rect">
            <a:avLst/>
          </a:prstGeom>
          <a:noFill/>
        </p:spPr>
        <p:txBody>
          <a:bodyPr wrap="square">
            <a:spAutoFit/>
          </a:bodyPr>
          <a:lstStyle/>
          <a:p>
            <a:pPr algn="l"/>
            <a:r>
              <a:rPr sz="900" b="0">
                <a:solidFill>
                  <a:srgbClr val="1E293B"/>
                </a:solidFill>
              </a:rPr>
              <a:t>Monitor:  0</a:t>
            </a:r>
          </a:p>
        </p:txBody>
      </p:sp>
      <p:sp>
        <p:nvSpPr>
          <p:cNvPr id="9" name="TextBox 8"/>
          <p:cNvSpPr txBox="1"/>
          <p:nvPr/>
        </p:nvSpPr>
        <p:spPr>
          <a:xfrm>
            <a:off x="548640" y="2194560"/>
            <a:ext cx="8229600" cy="274320"/>
          </a:xfrm>
          <a:prstGeom prst="rect">
            <a:avLst/>
          </a:prstGeom>
          <a:noFill/>
        </p:spPr>
        <p:txBody>
          <a:bodyPr wrap="square">
            <a:spAutoFit/>
          </a:bodyPr>
          <a:lstStyle/>
          <a:p>
            <a:pPr algn="l"/>
            <a:r>
              <a:rPr sz="900" b="0">
                <a:solidFill>
                  <a:srgbClr val="1E293B"/>
                </a:solidFill>
              </a:rPr>
              <a:t>Clear:  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