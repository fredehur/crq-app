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INTEL FINDINGS:</a:t>
            </a:r>
          </a:p>
          <a:p>
            <a:r>
              <a:t>• Sinovel Wind Group convicted in US federal court for systematic theft of AMSC wind turbine control software, establishing state-aligned corporate espionage precedent against the wind sector.</a:t>
            </a:r>
          </a:p>
          <a:p>
            <a:r>
              <a:t>• Five Eyes intelligence chiefs publicly assess coordinated Chinese IP theft campaigns targeting renewable energy and advanced manufacturing sectors.</a:t>
            </a:r>
          </a:p>
          <a:p>
            <a:r>
              <a:t>• Quad Resilient Supply Chain Initiative launched in direct response to APAC overdependence on Chinese manufacturing, marking clean energy supply chains as a contested geopolitical domain.</a:t>
            </a:r>
          </a:p>
          <a:p/>
          <a:p>
            <a:r>
              <a:t>ADVERSARY ACTIVITY:</a:t>
            </a:r>
          </a:p>
          <a:p>
            <a:r>
              <a:t>• Sinovel case confirmed insider recruitment combined with cyber-enabled exfiltration of proprietary control software — a proven attack pattern against wind OT environments.</a:t>
            </a:r>
          </a:p>
          <a:p>
            <a:r>
              <a:t>• PLA Unit 61398 conducted sustained intrusion campaigns against advanced manufacturing corporations, with tradecraft directly transferable to wind sector operational technology networks.</a:t>
            </a:r>
          </a:p>
          <a:p/>
          <a:p>
            <a:r>
              <a:t>IMPACT FOR AEROGRID:</a:t>
            </a:r>
          </a:p>
          <a:p>
            <a:r>
              <a:t>• Disruption to blade manufacturing at the Kaohsiung hub would directly affect Series 7 production and fulfilment of the TEPCO five-year turbine supply agreement.</a:t>
            </a:r>
          </a:p>
          <a:p>
            <a:r>
              <a:t>• Shanghai service hub proximity to state-aligned collection actors elevates credential harvesting risk against privileged systems shared between APAC sites.</a:t>
            </a:r>
          </a:p>
          <a:p/>
          <a:p>
            <a:r>
              <a:t>WATCH FOR:</a:t>
            </a:r>
          </a:p>
          <a:p>
            <a:r>
              <a:t>• Public disclosure of intrusion activity at wind or renewable energy manufacturers in Taiwan, Japan, or South Korea.</a:t>
            </a:r>
          </a:p>
          <a:p>
            <a:r>
              <a:t>• New indictments or sanctions targeting Chinese entities for energy sector IP theft.</a:t>
            </a:r>
          </a:p>
          <a:p>
            <a:r>
              <a:t>• Confirmed supply chain compromise affecting Taiwanese semiconductor components or Korean rare earth materials used in blade manufacturing.</a:t>
            </a:r>
          </a:p>
          <a:p/>
          <a:p>
            <a:r>
              <a:t>RECOMMENDED ACTIONS:</a:t>
            </a:r>
          </a:p>
          <a:p>
            <a:r>
              <a:t>• Audit third-party and supply chain access credentials for privileged systems.</a:t>
            </a:r>
          </a:p>
          <a:p>
            <a:r>
              <a:t>• Review hardware integrity for recently sourced components in affected manufacturing sites.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INTEL FINDINGS:</a:t>
            </a:r>
          </a:p>
          <a:p>
            <a:r>
              <a:t>• China's rare earth and permanent magnet export controls now require individualized government approval, enabling strategic delay of wind turbine component flows to LATAM assemblers.</a:t>
            </a:r>
          </a:p>
          <a:p>
            <a:r>
              <a:t>• GWEC has identified LATAM wind supply chain weakness as a critical barrier to regional capacity growth toward 120 GW by 2035.</a:t>
            </a:r>
          </a:p>
          <a:p>
            <a:r>
              <a:t>• US-aligned geopolitical realignment in South America may trigger Chinese counter-pressure through supply chain leverage against regional wind manufacturers.</a:t>
            </a:r>
          </a:p>
          <a:p/>
          <a:p>
            <a:r>
              <a:t>ADVERSARY ACTIVITY:</a:t>
            </a:r>
          </a:p>
          <a:p>
            <a:r>
              <a:t>• APT41 and Volt Typhoon documented conducting OT network reconnaissance against energy sector targets via poorly segmented environments and third-party remote access vectors.</a:t>
            </a:r>
          </a:p>
          <a:p>
            <a:r>
              <a:t>• Russian GRU-affiliated units have deployed ICS-focused tools and exfiltrated OT data from international energy operators — no confirmed targeting of LATAM wind facilities.</a:t>
            </a:r>
          </a:p>
          <a:p/>
          <a:p>
            <a:r>
              <a:t>IMPACT FOR AEROGRID:</a:t>
            </a:r>
          </a:p>
          <a:p>
            <a:r>
              <a:t>• Disruption to Chinese-origin component supply chains would threaten continuity of regional blade production and logistics platform supporting the Sao Paulo and Santiago service operations.</a:t>
            </a:r>
          </a:p>
          <a:p>
            <a:r>
              <a:t>• The Enel Chile wind maintenance contract and Neoenergia turbine service agreement in Brazil both depend on component availability now subject to Beijing's export approval process.</a:t>
            </a:r>
          </a:p>
          <a:p/>
          <a:p>
            <a:r>
              <a:t>WATCH FOR:</a:t>
            </a:r>
          </a:p>
          <a:p>
            <a:r>
              <a:t>• Chinese government delays or denials of rare earth export approvals affecting wind component shipments to Brazil or Chile.</a:t>
            </a:r>
          </a:p>
          <a:p>
            <a:r>
              <a:t>• Reports of OT network scanning or reconnaissance activity against energy infrastructure operators in South America.</a:t>
            </a:r>
          </a:p>
          <a:p>
            <a:r>
              <a:t>• South American government announcements of security reviews targeting Chinese infrastructure investment in the energy sector.</a:t>
            </a:r>
          </a:p>
          <a:p/>
          <a:p>
            <a:r>
              <a:t>RECOMMENDED ACTIONS:</a:t>
            </a:r>
          </a:p>
          <a:p>
            <a:r>
              <a:t>• Audit third-party and supply chain access credentials for privileged systems.</a:t>
            </a:r>
          </a:p>
          <a:p>
            <a:r>
              <a:t>• Review hardware integrity for recently sourced components in affected manufacturing sites.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INTEL FINDINGS:</a:t>
            </a:r>
          </a:p>
          <a:p>
            <a:r>
              <a:t>• IRGC-aligned actors escalated reconnaissance and espionage operations against energy infrastructure post-Operation Epic Fury, with documented expansion toward EU systems.</a:t>
            </a:r>
          </a:p>
          <a:p>
            <a:r>
              <a:t>• Italy's offshore wind build-out (64 expressions of interest across four coasts) creates concentrated OT and IP targets in the Mediterranean corridor.</a:t>
            </a:r>
          </a:p>
          <a:p>
            <a:r>
              <a:t>• EU and UK probes into Chinese manufacturers Goldwind and Mingyang expose a parallel supply-chain integrity risk in the European wind sector.</a:t>
            </a:r>
          </a:p>
          <a:p/>
          <a:p>
            <a:r>
              <a:t>ADVERSARY ACTIVITY:</a:t>
            </a:r>
          </a:p>
          <a:p>
            <a:r>
              <a:t>• CyberAv3ngers achieved confirmed compromise of 75+ Unitronics Vision PLCs in US critical infrastructure via default credential exploitation, demonstrating capability transferable to wind turbine control systems.</a:t>
            </a:r>
          </a:p>
          <a:p>
            <a:r>
              <a:t>• Pioneer Kitten has exploited internet-facing edge devices as initial access vectors against energy targets, with escalated activity post-February 2026.</a:t>
            </a:r>
          </a:p>
          <a:p/>
          <a:p>
            <a:r>
              <a:t>IMPACT FOR AEROGRID:</a:t>
            </a:r>
          </a:p>
          <a:p>
            <a:r>
              <a:t>• Disruption to predictive maintenance algorithms or exfiltration of offshore servicing documentation would compromise contracted maintenance delivery across the Mediterranean, affecting the Palermo manufacturing site and Malaga service hub.</a:t>
            </a:r>
          </a:p>
          <a:p>
            <a:r>
              <a:t>• The Iberdrola offshore maintenance and ENEL MED service contracts are directly exposed if operational technology integrity is compromised.</a:t>
            </a:r>
          </a:p>
          <a:p/>
          <a:p>
            <a:r>
              <a:t>WATCH FOR:</a:t>
            </a:r>
          </a:p>
          <a:p>
            <a:r>
              <a:t>• Anomalous access to predictive maintenance repositories or offshore servicing documentation by accounts inconsistent with operational roles at Palermo or Malaga.</a:t>
            </a:r>
          </a:p>
          <a:p>
            <a:r>
              <a:t>• EU or national cyber authority advisories naming Iranian APT activity against offshore wind or renewable energy OT in Southern Europe.</a:t>
            </a:r>
          </a:p>
          <a:p>
            <a:r>
              <a:t>• Credential harvesting campaigns targeting wind energy vendor management portals or NIS2 compliance audit platforms in Italy or Spain.</a:t>
            </a:r>
          </a:p>
          <a:p/>
          <a:p>
            <a:r>
              <a:t>RECOMMENDED ACTIONS:</a:t>
            </a:r>
          </a:p>
          <a:p>
            <a:r>
              <a:t>• Audit third-party and supply chain access credentials for privileged systems.</a:t>
            </a:r>
          </a:p>
          <a:p>
            <a:r>
              <a:t>• Review hardware integrity for recently sourced components in affected manufacturing sites.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INTEL FINDINGS:</a:t>
            </a:r>
          </a:p>
          <a:p>
            <a:r>
              <a:t>• Germany failed to transpose NIS2 and the CER Directive before federal elections, leaving wind energy operators in the EU's largest manufacturing jurisdiction without a legal enforcement baseline.</a:t>
            </a:r>
          </a:p>
          <a:p>
            <a:r>
              <a:t>• Multiple EU member states remain non-compliant with CER transposition deadlines, creating a structural regulatory gap across Europe's primary wind manufacturing jurisdictions.</a:t>
            </a:r>
          </a:p>
          <a:p>
            <a:r>
              <a:t>• Wind turbine blade and nacelle manufacturing capacity is geographically concentrated in European hubs, making these facilities high-value targets for state actors competing for clean energy technology advantage.</a:t>
            </a:r>
          </a:p>
          <a:p/>
          <a:p>
            <a:r>
              <a:t>ADVERSARY ACTIVITY:</a:t>
            </a:r>
          </a:p>
          <a:p>
            <a:r>
              <a:t>• No named threat actor has been confirmed as directly targeting NCE wind manufacturing networks in the current collection window — this represents an intelligence gap, not confirmed threat absence.</a:t>
            </a:r>
          </a:p>
          <a:p>
            <a:r>
              <a:t>• Strider Intel's platform expansion to detect state-sponsored IP theft and talent targeting campaigns signals industry-wide recognition that such operations against technology manufacturers are active and growing in scale.</a:t>
            </a:r>
          </a:p>
          <a:p/>
          <a:p>
            <a:r>
              <a:t>IMPACT FOR AEROGRID:</a:t>
            </a:r>
          </a:p>
          <a:p>
            <a:r>
              <a:t>• A successful intrusion at the Hamburg Manufacturing Hub or Gdansk Blade Plant could halt manufacturing output across AeroGrid's largest European production footprint, placing Ørsted and Vattenfall contract commitments at risk.</a:t>
            </a:r>
          </a:p>
          <a:p>
            <a:r>
              <a:t>• Core turbine aerodynamic IP and R&amp;D prototype designs held at the Copenhagen Engineering Hub represent the category of intellectual property most directly sought in the documented state-actor threat pattern.</a:t>
            </a:r>
          </a:p>
          <a:p/>
          <a:p>
            <a:r>
              <a:t>WATCH FOR:</a:t>
            </a:r>
          </a:p>
          <a:p>
            <a:r>
              <a:t>• German federal transposition of NIS2 and CER stalling beyond Q3 2026, extending the enforcement gap through the next Ørsted and Vattenfall contract review cycle.</a:t>
            </a:r>
          </a:p>
          <a:p>
            <a:r>
              <a:t>• Public disclosure of a confirmed intrusion at a named European turbine manufacturer with state attribution and IP exfiltration as the assessed objective.</a:t>
            </a:r>
          </a:p>
          <a:p>
            <a:r>
              <a:t>• Strider Intel or peer platform reporting of talent recruitment campaigns specifically targeting Hamburg- or Copenhagen-based engineering staff.</a:t>
            </a:r>
          </a:p>
          <a:p/>
          <a:p>
            <a:r>
              <a:t>RECOMMENDED ACTIONS:</a:t>
            </a:r>
          </a:p>
          <a:p>
            <a:r>
              <a:t>• Audit third-party and supply chain access credentials for privileged systems at Hamburg and Gdansk manufacturing sites.</a:t>
            </a:r>
          </a:p>
          <a:p>
            <a:r>
              <a:t>• Review hardware integrity for recently sourced components in the German precision engineering supply chain feeding turbine assembly.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310896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046720" cy="457200"/>
          </a:xfrm>
          <a:prstGeom prst="rect">
            <a:avLst/>
          </a:prstGeom>
          <a:noFill/>
        </p:spPr>
        <p:txBody>
          <a:bodyPr wrap="square">
            <a:spAutoFit/>
          </a:bodyPr>
          <a:lstStyle/>
          <a:p>
            <a:pPr algn="l"/>
            <a:r>
              <a:rPr sz="1300" b="0">
                <a:solidFill>
                  <a:srgbClr val="BFDBFF"/>
                </a:solidFill>
              </a:rPr>
              <a:t>AeroGrid Wind Solutions</a:t>
            </a:r>
          </a:p>
        </p:txBody>
      </p:sp>
      <p:sp>
        <p:nvSpPr>
          <p:cNvPr id="4" name="TextBox 3"/>
          <p:cNvSpPr txBox="1"/>
          <p:nvPr/>
        </p:nvSpPr>
        <p:spPr>
          <a:xfrm>
            <a:off x="548640" y="1005840"/>
            <a:ext cx="8046720" cy="1828800"/>
          </a:xfrm>
          <a:prstGeom prst="rect">
            <a:avLst/>
          </a:prstGeom>
          <a:noFill/>
        </p:spPr>
        <p:txBody>
          <a:bodyPr wrap="square">
            <a:spAutoFit/>
          </a:bodyPr>
          <a:lstStyle/>
          <a:p>
            <a:pPr algn="l"/>
            <a:r>
              <a:rPr sz="2800" b="1">
                <a:solidFill>
                  <a:srgbClr val="FFFFFF"/>
                </a:solidFill>
              </a:rPr>
              <a:t>Global Cyber Risk
Intelligence Brief</a:t>
            </a:r>
          </a:p>
        </p:txBody>
      </p:sp>
      <p:sp>
        <p:nvSpPr>
          <p:cNvPr id="5" name="Rectangle 4"/>
          <p:cNvSpPr/>
          <p:nvPr/>
        </p:nvSpPr>
        <p:spPr>
          <a:xfrm>
            <a:off x="548640" y="3383280"/>
            <a:ext cx="1097280" cy="6858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410712"/>
            <a:ext cx="1097280" cy="365760"/>
          </a:xfrm>
          <a:prstGeom prst="rect">
            <a:avLst/>
          </a:prstGeom>
          <a:noFill/>
        </p:spPr>
        <p:txBody>
          <a:bodyPr wrap="square">
            <a:spAutoFit/>
          </a:bodyPr>
          <a:lstStyle/>
          <a:p>
            <a:pPr algn="ctr"/>
            <a:r>
              <a:rPr sz="2000" b="1">
                <a:solidFill>
                  <a:srgbClr val="FFFFFF"/>
                </a:solidFill>
              </a:rPr>
              <a:t>4</a:t>
            </a:r>
          </a:p>
        </p:txBody>
      </p:sp>
      <p:sp>
        <p:nvSpPr>
          <p:cNvPr id="7" name="TextBox 6"/>
          <p:cNvSpPr txBox="1"/>
          <p:nvPr/>
        </p:nvSpPr>
        <p:spPr>
          <a:xfrm>
            <a:off x="548640" y="3749039"/>
            <a:ext cx="1097280" cy="274320"/>
          </a:xfrm>
          <a:prstGeom prst="rect">
            <a:avLst/>
          </a:prstGeom>
          <a:noFill/>
        </p:spPr>
        <p:txBody>
          <a:bodyPr wrap="square">
            <a:spAutoFit/>
          </a:bodyPr>
          <a:lstStyle/>
          <a:p>
            <a:pPr algn="ctr"/>
            <a:r>
              <a:rPr sz="700" b="0">
                <a:solidFill>
                  <a:srgbClr val="FFFFFF"/>
                </a:solidFill>
              </a:rPr>
              <a:t>ESCALATED</a:t>
            </a:r>
          </a:p>
        </p:txBody>
      </p:sp>
      <p:sp>
        <p:nvSpPr>
          <p:cNvPr id="8" name="Rectangle 7"/>
          <p:cNvSpPr/>
          <p:nvPr/>
        </p:nvSpPr>
        <p:spPr>
          <a:xfrm>
            <a:off x="1920240" y="3383280"/>
            <a:ext cx="1097280" cy="6858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20240" y="3410712"/>
            <a:ext cx="1097280" cy="365760"/>
          </a:xfrm>
          <a:prstGeom prst="rect">
            <a:avLst/>
          </a:prstGeom>
          <a:noFill/>
        </p:spPr>
        <p:txBody>
          <a:bodyPr wrap="square">
            <a:spAutoFit/>
          </a:bodyPr>
          <a:lstStyle/>
          <a:p>
            <a:pPr algn="ctr"/>
            <a:r>
              <a:rPr sz="2000" b="1">
                <a:solidFill>
                  <a:srgbClr val="FFFFFF"/>
                </a:solidFill>
              </a:rPr>
              <a:t>1</a:t>
            </a:r>
          </a:p>
        </p:txBody>
      </p:sp>
      <p:sp>
        <p:nvSpPr>
          <p:cNvPr id="10" name="TextBox 9"/>
          <p:cNvSpPr txBox="1"/>
          <p:nvPr/>
        </p:nvSpPr>
        <p:spPr>
          <a:xfrm>
            <a:off x="1920240" y="3749039"/>
            <a:ext cx="1097280" cy="274320"/>
          </a:xfrm>
          <a:prstGeom prst="rect">
            <a:avLst/>
          </a:prstGeom>
          <a:noFill/>
        </p:spPr>
        <p:txBody>
          <a:bodyPr wrap="square">
            <a:spAutoFit/>
          </a:bodyPr>
          <a:lstStyle/>
          <a:p>
            <a:pPr algn="ctr"/>
            <a:r>
              <a:rPr sz="700" b="0">
                <a:solidFill>
                  <a:srgbClr val="FFFFFF"/>
                </a:solidFill>
              </a:rPr>
              <a:t>MONITOR</a:t>
            </a:r>
          </a:p>
        </p:txBody>
      </p:sp>
      <p:sp>
        <p:nvSpPr>
          <p:cNvPr id="11" name="Rectangle 10"/>
          <p:cNvSpPr/>
          <p:nvPr/>
        </p:nvSpPr>
        <p:spPr>
          <a:xfrm>
            <a:off x="3291840" y="3383280"/>
            <a:ext cx="1097280" cy="6858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3410712"/>
            <a:ext cx="1097280" cy="365760"/>
          </a:xfrm>
          <a:prstGeom prst="rect">
            <a:avLst/>
          </a:prstGeom>
          <a:noFill/>
        </p:spPr>
        <p:txBody>
          <a:bodyPr wrap="square">
            <a:spAutoFit/>
          </a:bodyPr>
          <a:lstStyle/>
          <a:p>
            <a:pPr algn="ctr"/>
            <a:r>
              <a:rPr sz="2000" b="1">
                <a:solidFill>
                  <a:srgbClr val="FFFFFF"/>
                </a:solidFill>
              </a:rPr>
              <a:t>0</a:t>
            </a:r>
          </a:p>
        </p:txBody>
      </p:sp>
      <p:sp>
        <p:nvSpPr>
          <p:cNvPr id="13" name="TextBox 12"/>
          <p:cNvSpPr txBox="1"/>
          <p:nvPr/>
        </p:nvSpPr>
        <p:spPr>
          <a:xfrm>
            <a:off x="3291840" y="3749039"/>
            <a:ext cx="1097280" cy="274320"/>
          </a:xfrm>
          <a:prstGeom prst="rect">
            <a:avLst/>
          </a:prstGeom>
          <a:noFill/>
        </p:spPr>
        <p:txBody>
          <a:bodyPr wrap="square">
            <a:spAutoFit/>
          </a:bodyPr>
          <a:lstStyle/>
          <a:p>
            <a:pPr algn="ctr"/>
            <a:r>
              <a:rPr sz="700" b="0">
                <a:solidFill>
                  <a:srgbClr val="FFFFFF"/>
                </a:solidFill>
              </a:rPr>
              <a:t>CLEAR</a:t>
            </a:r>
          </a:p>
        </p:txBody>
      </p:sp>
      <p:sp>
        <p:nvSpPr>
          <p:cNvPr id="14" name="TextBox 13"/>
          <p:cNvSpPr txBox="1"/>
          <p:nvPr/>
        </p:nvSpPr>
        <p:spPr>
          <a:xfrm>
            <a:off x="548640" y="4572000"/>
            <a:ext cx="7315200" cy="365760"/>
          </a:xfrm>
          <a:prstGeom prst="rect">
            <a:avLst/>
          </a:prstGeom>
          <a:noFill/>
        </p:spPr>
        <p:txBody>
          <a:bodyPr wrap="square">
            <a:spAutoFit/>
          </a:bodyPr>
          <a:lstStyle/>
          <a:p>
            <a:pPr algn="l"/>
            <a:r>
              <a:rPr sz="900" b="0">
                <a:solidFill>
                  <a:srgbClr val="64748B"/>
                </a:solidFill>
              </a:rPr>
              <a:t>Pipeline ID: crq-2026-04-05T130036Z   |   2026-04-05T13:00:36Z</a:t>
            </a:r>
          </a:p>
        </p:txBody>
      </p:sp>
      <p:sp>
        <p:nvSpPr>
          <p:cNvPr id="15" name="TextBox 14"/>
          <p:cNvSpPr txBox="1"/>
          <p:nvPr/>
        </p:nvSpPr>
        <p:spPr>
          <a:xfrm>
            <a:off x="6858000" y="6309360"/>
            <a:ext cx="2103120" cy="365760"/>
          </a:xfrm>
          <a:prstGeom prst="rect">
            <a:avLst/>
          </a:prstGeom>
          <a:noFill/>
        </p:spPr>
        <p:txBody>
          <a:bodyPr wrap="square">
            <a:spAutoFit/>
          </a:bodyPr>
          <a:lstStyle/>
          <a:p>
            <a:pPr algn="r"/>
            <a:r>
              <a:rPr sz="800" b="1">
                <a:solidFill>
                  <a:srgbClr val="DC2626"/>
                </a:solidFill>
              </a:rPr>
              <a:t>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6400800" cy="411480"/>
          </a:xfrm>
          <a:prstGeom prst="rect">
            <a:avLst/>
          </a:prstGeom>
          <a:noFill/>
        </p:spPr>
        <p:txBody>
          <a:bodyPr wrap="square">
            <a:spAutoFit/>
          </a:bodyPr>
          <a:lstStyle/>
          <a:p>
            <a:pPr algn="l"/>
            <a:r>
              <a:rPr sz="1600" b="1">
                <a:solidFill>
                  <a:srgbClr val="FFFFFF"/>
                </a:solidFill>
              </a:rPr>
              <a:t>Executive Summary</a:t>
            </a:r>
          </a:p>
        </p:txBody>
      </p:sp>
      <p:sp>
        <p:nvSpPr>
          <p:cNvPr id="4" name="Rectangle 3"/>
          <p:cNvSpPr/>
          <p:nvPr/>
        </p:nvSpPr>
        <p:spPr>
          <a:xfrm>
            <a:off x="365760" y="777240"/>
            <a:ext cx="1005840" cy="6858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804672"/>
            <a:ext cx="1005840" cy="365760"/>
          </a:xfrm>
          <a:prstGeom prst="rect">
            <a:avLst/>
          </a:prstGeom>
          <a:noFill/>
        </p:spPr>
        <p:txBody>
          <a:bodyPr wrap="square">
            <a:spAutoFit/>
          </a:bodyPr>
          <a:lstStyle/>
          <a:p>
            <a:pPr algn="ctr"/>
            <a:r>
              <a:rPr sz="2000" b="1">
                <a:solidFill>
                  <a:srgbClr val="FFFFFF"/>
                </a:solidFill>
              </a:rPr>
              <a:t>4</a:t>
            </a:r>
          </a:p>
        </p:txBody>
      </p:sp>
      <p:sp>
        <p:nvSpPr>
          <p:cNvPr id="6" name="TextBox 5"/>
          <p:cNvSpPr txBox="1"/>
          <p:nvPr/>
        </p:nvSpPr>
        <p:spPr>
          <a:xfrm>
            <a:off x="365760" y="1143000"/>
            <a:ext cx="1005840" cy="274320"/>
          </a:xfrm>
          <a:prstGeom prst="rect">
            <a:avLst/>
          </a:prstGeom>
          <a:noFill/>
        </p:spPr>
        <p:txBody>
          <a:bodyPr wrap="square">
            <a:spAutoFit/>
          </a:bodyPr>
          <a:lstStyle/>
          <a:p>
            <a:pPr algn="ctr"/>
            <a:r>
              <a:rPr sz="700" b="0">
                <a:solidFill>
                  <a:srgbClr val="FFFFFF"/>
                </a:solidFill>
              </a:rPr>
              <a:t>ESCALATED</a:t>
            </a:r>
          </a:p>
        </p:txBody>
      </p:sp>
      <p:sp>
        <p:nvSpPr>
          <p:cNvPr id="7" name="Rectangle 6"/>
          <p:cNvSpPr/>
          <p:nvPr/>
        </p:nvSpPr>
        <p:spPr>
          <a:xfrm>
            <a:off x="1554480" y="777240"/>
            <a:ext cx="1005840" cy="6858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54480" y="804672"/>
            <a:ext cx="1005840" cy="365760"/>
          </a:xfrm>
          <a:prstGeom prst="rect">
            <a:avLst/>
          </a:prstGeom>
          <a:noFill/>
        </p:spPr>
        <p:txBody>
          <a:bodyPr wrap="square">
            <a:spAutoFit/>
          </a:bodyPr>
          <a:lstStyle/>
          <a:p>
            <a:pPr algn="ctr"/>
            <a:r>
              <a:rPr sz="2000" b="1">
                <a:solidFill>
                  <a:srgbClr val="FFFFFF"/>
                </a:solidFill>
              </a:rPr>
              <a:t>1</a:t>
            </a:r>
          </a:p>
        </p:txBody>
      </p:sp>
      <p:sp>
        <p:nvSpPr>
          <p:cNvPr id="9" name="TextBox 8"/>
          <p:cNvSpPr txBox="1"/>
          <p:nvPr/>
        </p:nvSpPr>
        <p:spPr>
          <a:xfrm>
            <a:off x="1554480" y="1143000"/>
            <a:ext cx="1005840" cy="274320"/>
          </a:xfrm>
          <a:prstGeom prst="rect">
            <a:avLst/>
          </a:prstGeom>
          <a:noFill/>
        </p:spPr>
        <p:txBody>
          <a:bodyPr wrap="square">
            <a:spAutoFit/>
          </a:bodyPr>
          <a:lstStyle/>
          <a:p>
            <a:pPr algn="ctr"/>
            <a:r>
              <a:rPr sz="700" b="0">
                <a:solidFill>
                  <a:srgbClr val="FFFFFF"/>
                </a:solidFill>
              </a:rPr>
              <a:t>MONITOR</a:t>
            </a:r>
          </a:p>
        </p:txBody>
      </p:sp>
      <p:sp>
        <p:nvSpPr>
          <p:cNvPr id="10" name="Rectangle 9"/>
          <p:cNvSpPr/>
          <p:nvPr/>
        </p:nvSpPr>
        <p:spPr>
          <a:xfrm>
            <a:off x="2743200" y="777240"/>
            <a:ext cx="1005840" cy="6858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0" y="804672"/>
            <a:ext cx="1005840" cy="365760"/>
          </a:xfrm>
          <a:prstGeom prst="rect">
            <a:avLst/>
          </a:prstGeom>
          <a:noFill/>
        </p:spPr>
        <p:txBody>
          <a:bodyPr wrap="square">
            <a:spAutoFit/>
          </a:bodyPr>
          <a:lstStyle/>
          <a:p>
            <a:pPr algn="ctr"/>
            <a:r>
              <a:rPr sz="2000" b="1">
                <a:solidFill>
                  <a:srgbClr val="FFFFFF"/>
                </a:solidFill>
              </a:rPr>
              <a:t>0</a:t>
            </a:r>
          </a:p>
        </p:txBody>
      </p:sp>
      <p:sp>
        <p:nvSpPr>
          <p:cNvPr id="12" name="TextBox 11"/>
          <p:cNvSpPr txBox="1"/>
          <p:nvPr/>
        </p:nvSpPr>
        <p:spPr>
          <a:xfrm>
            <a:off x="2743200" y="1143000"/>
            <a:ext cx="1005840" cy="274320"/>
          </a:xfrm>
          <a:prstGeom prst="rect">
            <a:avLst/>
          </a:prstGeom>
          <a:noFill/>
        </p:spPr>
        <p:txBody>
          <a:bodyPr wrap="square">
            <a:spAutoFit/>
          </a:bodyPr>
          <a:lstStyle/>
          <a:p>
            <a:pPr algn="ctr"/>
            <a:r>
              <a:rPr sz="700" b="0">
                <a:solidFill>
                  <a:srgbClr val="FFFFFF"/>
                </a:solidFill>
              </a:rPr>
              <a:t>CLEAR</a:t>
            </a:r>
          </a:p>
        </p:txBody>
      </p:sp>
      <p:sp>
        <p:nvSpPr>
          <p:cNvPr id="13" name="TextBox 12"/>
          <p:cNvSpPr txBox="1"/>
          <p:nvPr/>
        </p:nvSpPr>
        <p:spPr>
          <a:xfrm>
            <a:off x="365760" y="1645920"/>
            <a:ext cx="8412480" cy="914400"/>
          </a:xfrm>
          <a:prstGeom prst="rect">
            <a:avLst/>
          </a:prstGeom>
          <a:noFill/>
        </p:spPr>
        <p:txBody>
          <a:bodyPr wrap="square">
            <a:spAutoFit/>
          </a:bodyPr>
          <a:lstStyle/>
          <a:p>
            <a:pPr algn="l"/>
            <a:r>
              <a:rPr sz="1000" b="0">
                <a:solidFill>
                  <a:srgbClr val="1E293B"/>
                </a:solidFill>
              </a:rPr>
              <a:t>CURRENT-CYCLE HEADLINE: Four of five AeroGrid regions are simultaneously escalated — the broadest global exposure posture recorded in this pipeline — driven by a common root cause: Iranian kinetic strikes on Gulf energy infrastructure in March 2026 have raised the strategic value of renewable energy assets globally, while Chinese state-aligned actors continue documented campaigns targeting wind sector intellectual property, creating compound geopolitical pressure on AeroGrid manufacturing IP and service delivery across every major operating theater. CROSS-REGIONAL PATTERN: Three of four escalated regions (APAC, LATAM, NCE) share System intrusion as the primary scenario, indicating that targeted access to manufacturing networks and design repositories is the dominant threat modality this cycle; MED also carries System intrusion, reinforcing the cross-regional convergence on IP acquisition and OT disruption as the dominant adversary objective. Board calibration note: APAC carries the highest-confidence escalation at B3 (usually reliable sources, probably true), while LATAM, MED, and NCE are all assessed at B2 (usually reliable sources, probably true); the board should treat all four escalated regions as well-grounded assessments resting on corroborated indicators. AME, currently in monitor status, is assessed at C3 (fairly reliable sources, possibly true) and did not breach the escalation threshold this cycle. VELOCITY/HISTORICAL CONTEXT: LATAM carries an accelerating velocity flag, indicating growing momentum in adversary capability and positioning. MED is stable; NCE is improving. APAC has returned System intrusion as its primary scenario for 10 consecutive runs — representing sustained structural exposure rooted in China's documented wind IP acquisition programs, not cyclical variance. AME, in monitor status, is stable and warrants continued observation given the documented DHS advisory on Iranian retaliation risk against energy operators. CORRECTIONS/CAVEATS: LATAM carries a VaCR of zero, as escalation rests on demonstrated adversary capability and geopolitical positioning rather than a confirmed event. NCE similarly carries a VaCR of zero, with escalation grounded in structural regulatory gaps and sector-level targeting precedent rather than a confirmed incident at an AeroGrid site. No region this cycle returned a verified intrusion or extortion incident against an AeroGrid facility.</a:t>
            </a:r>
          </a:p>
        </p:txBody>
      </p:sp>
      <p:sp>
        <p:nvSpPr>
          <p:cNvPr id="14" name="TextBox 13"/>
          <p:cNvSpPr txBox="1"/>
          <p:nvPr/>
        </p:nvSpPr>
        <p:spPr>
          <a:xfrm>
            <a:off x="365760" y="2743200"/>
            <a:ext cx="1097280" cy="274320"/>
          </a:xfrm>
          <a:prstGeom prst="rect">
            <a:avLst/>
          </a:prstGeom>
          <a:noFill/>
        </p:spPr>
        <p:txBody>
          <a:bodyPr wrap="square">
            <a:spAutoFit/>
          </a:bodyPr>
          <a:lstStyle/>
          <a:p>
            <a:pPr algn="l"/>
            <a:r>
              <a:rPr sz="800" b="1">
                <a:solidFill>
                  <a:srgbClr val="64748B"/>
                </a:solidFill>
              </a:rPr>
              <a:t>Region</a:t>
            </a:r>
          </a:p>
        </p:txBody>
      </p:sp>
      <p:sp>
        <p:nvSpPr>
          <p:cNvPr id="15" name="TextBox 14"/>
          <p:cNvSpPr txBox="1"/>
          <p:nvPr/>
        </p:nvSpPr>
        <p:spPr>
          <a:xfrm>
            <a:off x="1463040" y="2743200"/>
            <a:ext cx="2011680" cy="274320"/>
          </a:xfrm>
          <a:prstGeom prst="rect">
            <a:avLst/>
          </a:prstGeom>
          <a:noFill/>
        </p:spPr>
        <p:txBody>
          <a:bodyPr wrap="square">
            <a:spAutoFit/>
          </a:bodyPr>
          <a:lstStyle/>
          <a:p>
            <a:pPr algn="l"/>
            <a:r>
              <a:rPr sz="800" b="1">
                <a:solidFill>
                  <a:srgbClr val="64748B"/>
                </a:solidFill>
              </a:rPr>
              <a:t>Scenario</a:t>
            </a:r>
          </a:p>
        </p:txBody>
      </p:sp>
      <p:sp>
        <p:nvSpPr>
          <p:cNvPr id="16" name="TextBox 15"/>
          <p:cNvSpPr txBox="1"/>
          <p:nvPr/>
        </p:nvSpPr>
        <p:spPr>
          <a:xfrm>
            <a:off x="3474720" y="2743200"/>
            <a:ext cx="1280160" cy="274320"/>
          </a:xfrm>
          <a:prstGeom prst="rect">
            <a:avLst/>
          </a:prstGeom>
          <a:noFill/>
        </p:spPr>
        <p:txBody>
          <a:bodyPr wrap="square">
            <a:spAutoFit/>
          </a:bodyPr>
          <a:lstStyle/>
          <a:p>
            <a:pPr algn="l"/>
            <a:r>
              <a:rPr sz="800" b="1">
                <a:solidFill>
                  <a:srgbClr val="64748B"/>
                </a:solidFill>
              </a:rPr>
              <a:t>Severity</a:t>
            </a:r>
          </a:p>
        </p:txBody>
      </p:sp>
      <p:sp>
        <p:nvSpPr>
          <p:cNvPr id="17" name="TextBox 16"/>
          <p:cNvSpPr txBox="1"/>
          <p:nvPr/>
        </p:nvSpPr>
        <p:spPr>
          <a:xfrm>
            <a:off x="4754880" y="2743200"/>
            <a:ext cx="1645920" cy="274320"/>
          </a:xfrm>
          <a:prstGeom prst="rect">
            <a:avLst/>
          </a:prstGeom>
          <a:noFill/>
        </p:spPr>
        <p:txBody>
          <a:bodyPr wrap="square">
            <a:spAutoFit/>
          </a:bodyPr>
          <a:lstStyle/>
          <a:p>
            <a:pPr algn="l"/>
            <a:r>
              <a:rPr sz="800" b="1">
                <a:solidFill>
                  <a:srgbClr val="64748B"/>
                </a:solidFill>
              </a:rPr>
              <a:t>Velocity</a:t>
            </a:r>
          </a:p>
        </p:txBody>
      </p:sp>
      <p:sp>
        <p:nvSpPr>
          <p:cNvPr id="18" name="TextBox 17"/>
          <p:cNvSpPr txBox="1"/>
          <p:nvPr/>
        </p:nvSpPr>
        <p:spPr>
          <a:xfrm>
            <a:off x="6400800" y="2743200"/>
            <a:ext cx="1280160" cy="274320"/>
          </a:xfrm>
          <a:prstGeom prst="rect">
            <a:avLst/>
          </a:prstGeom>
          <a:noFill/>
        </p:spPr>
        <p:txBody>
          <a:bodyPr wrap="square">
            <a:spAutoFit/>
          </a:bodyPr>
          <a:lstStyle/>
          <a:p>
            <a:pPr algn="l"/>
            <a:r>
              <a:rPr sz="800" b="1">
                <a:solidFill>
                  <a:srgbClr val="64748B"/>
                </a:solidFill>
              </a:rPr>
              <a:t>Confidence</a:t>
            </a:r>
          </a:p>
        </p:txBody>
      </p:sp>
      <p:sp>
        <p:nvSpPr>
          <p:cNvPr id="19" name="TextBox 18"/>
          <p:cNvSpPr txBox="1"/>
          <p:nvPr/>
        </p:nvSpPr>
        <p:spPr>
          <a:xfrm>
            <a:off x="365760" y="3063240"/>
            <a:ext cx="1097280" cy="320040"/>
          </a:xfrm>
          <a:prstGeom prst="rect">
            <a:avLst/>
          </a:prstGeom>
          <a:noFill/>
        </p:spPr>
        <p:txBody>
          <a:bodyPr wrap="square">
            <a:spAutoFit/>
          </a:bodyPr>
          <a:lstStyle/>
          <a:p>
            <a:pPr algn="l"/>
            <a:r>
              <a:rPr sz="900" b="0">
                <a:solidFill>
                  <a:srgbClr val="1E293B"/>
                </a:solidFill>
              </a:rPr>
              <a:t>APAC</a:t>
            </a:r>
          </a:p>
        </p:txBody>
      </p:sp>
      <p:sp>
        <p:nvSpPr>
          <p:cNvPr id="20" name="TextBox 19"/>
          <p:cNvSpPr txBox="1"/>
          <p:nvPr/>
        </p:nvSpPr>
        <p:spPr>
          <a:xfrm>
            <a:off x="1463040" y="3063240"/>
            <a:ext cx="2011680" cy="320040"/>
          </a:xfrm>
          <a:prstGeom prst="rect">
            <a:avLst/>
          </a:prstGeom>
          <a:noFill/>
        </p:spPr>
        <p:txBody>
          <a:bodyPr wrap="square">
            <a:spAutoFit/>
          </a:bodyPr>
          <a:lstStyle/>
          <a:p>
            <a:pPr algn="l"/>
            <a:r>
              <a:rPr sz="900" b="0">
                <a:solidFill>
                  <a:srgbClr val="1E293B"/>
                </a:solidFill>
              </a:rPr>
              <a:t>System intrusion</a:t>
            </a:r>
          </a:p>
        </p:txBody>
      </p:sp>
      <p:sp>
        <p:nvSpPr>
          <p:cNvPr id="21" name="TextBox 20"/>
          <p:cNvSpPr txBox="1"/>
          <p:nvPr/>
        </p:nvSpPr>
        <p:spPr>
          <a:xfrm>
            <a:off x="3474720" y="3063240"/>
            <a:ext cx="1280160" cy="320040"/>
          </a:xfrm>
          <a:prstGeom prst="rect">
            <a:avLst/>
          </a:prstGeom>
          <a:noFill/>
        </p:spPr>
        <p:txBody>
          <a:bodyPr wrap="square">
            <a:spAutoFit/>
          </a:bodyPr>
          <a:lstStyle/>
          <a:p>
            <a:pPr algn="l"/>
            <a:r>
              <a:rPr sz="900" b="0">
                <a:solidFill>
                  <a:srgbClr val="1E293B"/>
                </a:solidFill>
              </a:rPr>
              <a:t>HIGH</a:t>
            </a:r>
          </a:p>
        </p:txBody>
      </p:sp>
      <p:sp>
        <p:nvSpPr>
          <p:cNvPr id="22" name="TextBox 21"/>
          <p:cNvSpPr txBox="1"/>
          <p:nvPr/>
        </p:nvSpPr>
        <p:spPr>
          <a:xfrm>
            <a:off x="4754880" y="3063240"/>
            <a:ext cx="1645920" cy="320040"/>
          </a:xfrm>
          <a:prstGeom prst="rect">
            <a:avLst/>
          </a:prstGeom>
          <a:noFill/>
        </p:spPr>
        <p:txBody>
          <a:bodyPr wrap="square">
            <a:spAutoFit/>
          </a:bodyPr>
          <a:lstStyle/>
          <a:p>
            <a:pPr algn="l"/>
            <a:r>
              <a:rPr sz="900" b="0">
                <a:solidFill>
                  <a:srgbClr val="1E293B"/>
                </a:solidFill>
              </a:rPr>
              <a:t>→ Stable</a:t>
            </a:r>
          </a:p>
        </p:txBody>
      </p:sp>
      <p:sp>
        <p:nvSpPr>
          <p:cNvPr id="23" name="TextBox 22"/>
          <p:cNvSpPr txBox="1"/>
          <p:nvPr/>
        </p:nvSpPr>
        <p:spPr>
          <a:xfrm>
            <a:off x="6400800" y="3063240"/>
            <a:ext cx="1280160" cy="320040"/>
          </a:xfrm>
          <a:prstGeom prst="rect">
            <a:avLst/>
          </a:prstGeom>
          <a:noFill/>
        </p:spPr>
        <p:txBody>
          <a:bodyPr wrap="square">
            <a:spAutoFit/>
          </a:bodyPr>
          <a:lstStyle/>
          <a:p>
            <a:pPr algn="l"/>
            <a:r>
              <a:rPr sz="900" b="0">
                <a:solidFill>
                  <a:srgbClr val="1E293B"/>
                </a:solidFill>
              </a:rPr>
              <a:t>High</a:t>
            </a:r>
          </a:p>
        </p:txBody>
      </p:sp>
      <p:sp>
        <p:nvSpPr>
          <p:cNvPr id="24" name="TextBox 23"/>
          <p:cNvSpPr txBox="1"/>
          <p:nvPr/>
        </p:nvSpPr>
        <p:spPr>
          <a:xfrm>
            <a:off x="365760" y="3474720"/>
            <a:ext cx="1097280" cy="320040"/>
          </a:xfrm>
          <a:prstGeom prst="rect">
            <a:avLst/>
          </a:prstGeom>
          <a:noFill/>
        </p:spPr>
        <p:txBody>
          <a:bodyPr wrap="square">
            <a:spAutoFit/>
          </a:bodyPr>
          <a:lstStyle/>
          <a:p>
            <a:pPr algn="l"/>
            <a:r>
              <a:rPr sz="900" b="0">
                <a:solidFill>
                  <a:srgbClr val="1E293B"/>
                </a:solidFill>
              </a:rPr>
              <a:t>LATAM</a:t>
            </a:r>
          </a:p>
        </p:txBody>
      </p:sp>
      <p:sp>
        <p:nvSpPr>
          <p:cNvPr id="25" name="TextBox 24"/>
          <p:cNvSpPr txBox="1"/>
          <p:nvPr/>
        </p:nvSpPr>
        <p:spPr>
          <a:xfrm>
            <a:off x="1463040" y="3474720"/>
            <a:ext cx="2011680" cy="320040"/>
          </a:xfrm>
          <a:prstGeom prst="rect">
            <a:avLst/>
          </a:prstGeom>
          <a:noFill/>
        </p:spPr>
        <p:txBody>
          <a:bodyPr wrap="square">
            <a:spAutoFit/>
          </a:bodyPr>
          <a:lstStyle/>
          <a:p>
            <a:pPr algn="l"/>
            <a:r>
              <a:rPr sz="900" b="0">
                <a:solidFill>
                  <a:srgbClr val="1E293B"/>
                </a:solidFill>
              </a:rPr>
              <a:t>System intrusion</a:t>
            </a:r>
          </a:p>
        </p:txBody>
      </p:sp>
      <p:sp>
        <p:nvSpPr>
          <p:cNvPr id="26" name="TextBox 25"/>
          <p:cNvSpPr txBox="1"/>
          <p:nvPr/>
        </p:nvSpPr>
        <p:spPr>
          <a:xfrm>
            <a:off x="3474720" y="3474720"/>
            <a:ext cx="1280160" cy="320040"/>
          </a:xfrm>
          <a:prstGeom prst="rect">
            <a:avLst/>
          </a:prstGeom>
          <a:noFill/>
        </p:spPr>
        <p:txBody>
          <a:bodyPr wrap="square">
            <a:spAutoFit/>
          </a:bodyPr>
          <a:lstStyle/>
          <a:p>
            <a:pPr algn="l"/>
            <a:r>
              <a:rPr sz="900" b="0">
                <a:solidFill>
                  <a:srgbClr val="1E293B"/>
                </a:solidFill>
              </a:rPr>
              <a:t>HIGH</a:t>
            </a:r>
          </a:p>
        </p:txBody>
      </p:sp>
      <p:sp>
        <p:nvSpPr>
          <p:cNvPr id="27" name="TextBox 26"/>
          <p:cNvSpPr txBox="1"/>
          <p:nvPr/>
        </p:nvSpPr>
        <p:spPr>
          <a:xfrm>
            <a:off x="4754880" y="3474720"/>
            <a:ext cx="1645920" cy="320040"/>
          </a:xfrm>
          <a:prstGeom prst="rect">
            <a:avLst/>
          </a:prstGeom>
          <a:noFill/>
        </p:spPr>
        <p:txBody>
          <a:bodyPr wrap="square">
            <a:spAutoFit/>
          </a:bodyPr>
          <a:lstStyle/>
          <a:p>
            <a:pPr algn="l"/>
            <a:r>
              <a:rPr sz="900" b="0">
                <a:solidFill>
                  <a:srgbClr val="1E293B"/>
                </a:solidFill>
              </a:rPr>
              <a:t>↑ Accelerating</a:t>
            </a:r>
          </a:p>
        </p:txBody>
      </p:sp>
      <p:sp>
        <p:nvSpPr>
          <p:cNvPr id="28" name="TextBox 27"/>
          <p:cNvSpPr txBox="1"/>
          <p:nvPr/>
        </p:nvSpPr>
        <p:spPr>
          <a:xfrm>
            <a:off x="6400800" y="3474720"/>
            <a:ext cx="1280160" cy="320040"/>
          </a:xfrm>
          <a:prstGeom prst="rect">
            <a:avLst/>
          </a:prstGeom>
          <a:noFill/>
        </p:spPr>
        <p:txBody>
          <a:bodyPr wrap="square">
            <a:spAutoFit/>
          </a:bodyPr>
          <a:lstStyle/>
          <a:p>
            <a:pPr algn="l"/>
            <a:r>
              <a:rPr sz="900" b="0">
                <a:solidFill>
                  <a:srgbClr val="1E293B"/>
                </a:solidFill>
              </a:rPr>
              <a:t>High</a:t>
            </a:r>
          </a:p>
        </p:txBody>
      </p:sp>
      <p:sp>
        <p:nvSpPr>
          <p:cNvPr id="29" name="TextBox 28"/>
          <p:cNvSpPr txBox="1"/>
          <p:nvPr/>
        </p:nvSpPr>
        <p:spPr>
          <a:xfrm>
            <a:off x="365760" y="3886200"/>
            <a:ext cx="1097280" cy="320040"/>
          </a:xfrm>
          <a:prstGeom prst="rect">
            <a:avLst/>
          </a:prstGeom>
          <a:noFill/>
        </p:spPr>
        <p:txBody>
          <a:bodyPr wrap="square">
            <a:spAutoFit/>
          </a:bodyPr>
          <a:lstStyle/>
          <a:p>
            <a:pPr algn="l"/>
            <a:r>
              <a:rPr sz="900" b="0">
                <a:solidFill>
                  <a:srgbClr val="1E293B"/>
                </a:solidFill>
              </a:rPr>
              <a:t>MED</a:t>
            </a:r>
          </a:p>
        </p:txBody>
      </p:sp>
      <p:sp>
        <p:nvSpPr>
          <p:cNvPr id="30" name="TextBox 29"/>
          <p:cNvSpPr txBox="1"/>
          <p:nvPr/>
        </p:nvSpPr>
        <p:spPr>
          <a:xfrm>
            <a:off x="1463040" y="3886200"/>
            <a:ext cx="2011680" cy="320040"/>
          </a:xfrm>
          <a:prstGeom prst="rect">
            <a:avLst/>
          </a:prstGeom>
          <a:noFill/>
        </p:spPr>
        <p:txBody>
          <a:bodyPr wrap="square">
            <a:spAutoFit/>
          </a:bodyPr>
          <a:lstStyle/>
          <a:p>
            <a:pPr algn="l"/>
            <a:r>
              <a:rPr sz="900" b="0">
                <a:solidFill>
                  <a:srgbClr val="1E293B"/>
                </a:solidFill>
              </a:rPr>
              <a:t>System intrusion</a:t>
            </a:r>
          </a:p>
        </p:txBody>
      </p:sp>
      <p:sp>
        <p:nvSpPr>
          <p:cNvPr id="31" name="TextBox 30"/>
          <p:cNvSpPr txBox="1"/>
          <p:nvPr/>
        </p:nvSpPr>
        <p:spPr>
          <a:xfrm>
            <a:off x="3474720" y="3886200"/>
            <a:ext cx="1280160" cy="320040"/>
          </a:xfrm>
          <a:prstGeom prst="rect">
            <a:avLst/>
          </a:prstGeom>
          <a:noFill/>
        </p:spPr>
        <p:txBody>
          <a:bodyPr wrap="square">
            <a:spAutoFit/>
          </a:bodyPr>
          <a:lstStyle/>
          <a:p>
            <a:pPr algn="l"/>
            <a:r>
              <a:rPr sz="900" b="0">
                <a:solidFill>
                  <a:srgbClr val="1E293B"/>
                </a:solidFill>
              </a:rPr>
              <a:t>MEDIUM</a:t>
            </a:r>
          </a:p>
        </p:txBody>
      </p:sp>
      <p:sp>
        <p:nvSpPr>
          <p:cNvPr id="32" name="TextBox 31"/>
          <p:cNvSpPr txBox="1"/>
          <p:nvPr/>
        </p:nvSpPr>
        <p:spPr>
          <a:xfrm>
            <a:off x="4754880" y="3886200"/>
            <a:ext cx="1645920" cy="320040"/>
          </a:xfrm>
          <a:prstGeom prst="rect">
            <a:avLst/>
          </a:prstGeom>
          <a:noFill/>
        </p:spPr>
        <p:txBody>
          <a:bodyPr wrap="square">
            <a:spAutoFit/>
          </a:bodyPr>
          <a:lstStyle/>
          <a:p>
            <a:pPr algn="l"/>
            <a:r>
              <a:rPr sz="900" b="0">
                <a:solidFill>
                  <a:srgbClr val="1E293B"/>
                </a:solidFill>
              </a:rPr>
              <a:t>→ Stable</a:t>
            </a:r>
          </a:p>
        </p:txBody>
      </p:sp>
      <p:sp>
        <p:nvSpPr>
          <p:cNvPr id="33" name="TextBox 32"/>
          <p:cNvSpPr txBox="1"/>
          <p:nvPr/>
        </p:nvSpPr>
        <p:spPr>
          <a:xfrm>
            <a:off x="6400800" y="3886200"/>
            <a:ext cx="1280160" cy="320040"/>
          </a:xfrm>
          <a:prstGeom prst="rect">
            <a:avLst/>
          </a:prstGeom>
          <a:noFill/>
        </p:spPr>
        <p:txBody>
          <a:bodyPr wrap="square">
            <a:spAutoFit/>
          </a:bodyPr>
          <a:lstStyle/>
          <a:p>
            <a:pPr algn="l"/>
            <a:r>
              <a:rPr sz="900" b="0">
                <a:solidFill>
                  <a:srgbClr val="1E293B"/>
                </a:solidFill>
              </a:rPr>
              <a:t>High</a:t>
            </a:r>
          </a:p>
        </p:txBody>
      </p:sp>
      <p:sp>
        <p:nvSpPr>
          <p:cNvPr id="34" name="TextBox 33"/>
          <p:cNvSpPr txBox="1"/>
          <p:nvPr/>
        </p:nvSpPr>
        <p:spPr>
          <a:xfrm>
            <a:off x="365760" y="4297680"/>
            <a:ext cx="1097280" cy="320040"/>
          </a:xfrm>
          <a:prstGeom prst="rect">
            <a:avLst/>
          </a:prstGeom>
          <a:noFill/>
        </p:spPr>
        <p:txBody>
          <a:bodyPr wrap="square">
            <a:spAutoFit/>
          </a:bodyPr>
          <a:lstStyle/>
          <a:p>
            <a:pPr algn="l"/>
            <a:r>
              <a:rPr sz="900" b="0">
                <a:solidFill>
                  <a:srgbClr val="1E293B"/>
                </a:solidFill>
              </a:rPr>
              <a:t>NCE</a:t>
            </a:r>
          </a:p>
        </p:txBody>
      </p:sp>
      <p:sp>
        <p:nvSpPr>
          <p:cNvPr id="35" name="TextBox 34"/>
          <p:cNvSpPr txBox="1"/>
          <p:nvPr/>
        </p:nvSpPr>
        <p:spPr>
          <a:xfrm>
            <a:off x="1463040" y="4297680"/>
            <a:ext cx="2011680" cy="320040"/>
          </a:xfrm>
          <a:prstGeom prst="rect">
            <a:avLst/>
          </a:prstGeom>
          <a:noFill/>
        </p:spPr>
        <p:txBody>
          <a:bodyPr wrap="square">
            <a:spAutoFit/>
          </a:bodyPr>
          <a:lstStyle/>
          <a:p>
            <a:pPr algn="l"/>
            <a:r>
              <a:rPr sz="900" b="0">
                <a:solidFill>
                  <a:srgbClr val="1E293B"/>
                </a:solidFill>
              </a:rPr>
              <a:t>System intrusion</a:t>
            </a:r>
          </a:p>
        </p:txBody>
      </p:sp>
      <p:sp>
        <p:nvSpPr>
          <p:cNvPr id="36" name="TextBox 35"/>
          <p:cNvSpPr txBox="1"/>
          <p:nvPr/>
        </p:nvSpPr>
        <p:spPr>
          <a:xfrm>
            <a:off x="3474720" y="4297680"/>
            <a:ext cx="1280160" cy="320040"/>
          </a:xfrm>
          <a:prstGeom prst="rect">
            <a:avLst/>
          </a:prstGeom>
          <a:noFill/>
        </p:spPr>
        <p:txBody>
          <a:bodyPr wrap="square">
            <a:spAutoFit/>
          </a:bodyPr>
          <a:lstStyle/>
          <a:p>
            <a:pPr algn="l"/>
            <a:r>
              <a:rPr sz="900" b="0">
                <a:solidFill>
                  <a:srgbClr val="1E293B"/>
                </a:solidFill>
              </a:rPr>
              <a:t>HIGH</a:t>
            </a:r>
          </a:p>
        </p:txBody>
      </p:sp>
      <p:sp>
        <p:nvSpPr>
          <p:cNvPr id="37" name="TextBox 36"/>
          <p:cNvSpPr txBox="1"/>
          <p:nvPr/>
        </p:nvSpPr>
        <p:spPr>
          <a:xfrm>
            <a:off x="4754880" y="4297680"/>
            <a:ext cx="1645920" cy="320040"/>
          </a:xfrm>
          <a:prstGeom prst="rect">
            <a:avLst/>
          </a:prstGeom>
          <a:noFill/>
        </p:spPr>
        <p:txBody>
          <a:bodyPr wrap="square">
            <a:spAutoFit/>
          </a:bodyPr>
          <a:lstStyle/>
          <a:p>
            <a:pPr algn="l"/>
            <a:r>
              <a:rPr sz="900" b="0">
                <a:solidFill>
                  <a:srgbClr val="1E293B"/>
                </a:solidFill>
              </a:rPr>
              <a:t>↓ Improving</a:t>
            </a:r>
          </a:p>
        </p:txBody>
      </p:sp>
      <p:sp>
        <p:nvSpPr>
          <p:cNvPr id="38" name="TextBox 37"/>
          <p:cNvSpPr txBox="1"/>
          <p:nvPr/>
        </p:nvSpPr>
        <p:spPr>
          <a:xfrm>
            <a:off x="6400800" y="4297680"/>
            <a:ext cx="1280160" cy="320040"/>
          </a:xfrm>
          <a:prstGeom prst="rect">
            <a:avLst/>
          </a:prstGeom>
          <a:noFill/>
        </p:spPr>
        <p:txBody>
          <a:bodyPr wrap="square">
            <a:spAutoFit/>
          </a:bodyPr>
          <a:lstStyle/>
          <a:p>
            <a:pPr algn="l"/>
            <a:r>
              <a:rPr sz="900" b="0">
                <a:solidFill>
                  <a:srgbClr val="1E293B"/>
                </a:solidFill>
              </a:rPr>
              <a:t>High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411480"/>
          </a:xfrm>
          <a:prstGeom prst="rect">
            <a:avLst/>
          </a:prstGeom>
          <a:noFill/>
        </p:spPr>
        <p:txBody>
          <a:bodyPr wrap="square">
            <a:spAutoFit/>
          </a:bodyPr>
          <a:lstStyle/>
          <a:p>
            <a:pPr algn="l"/>
            <a:r>
              <a:rPr sz="1600" b="1">
                <a:solidFill>
                  <a:srgbClr val="FFFFFF"/>
                </a:solidFill>
              </a:rPr>
              <a:t>APAC</a:t>
            </a:r>
          </a:p>
        </p:txBody>
      </p:sp>
      <p:sp>
        <p:nvSpPr>
          <p:cNvPr id="4" name="TextBox 3"/>
          <p:cNvSpPr txBox="1"/>
          <p:nvPr/>
        </p:nvSpPr>
        <p:spPr>
          <a:xfrm>
            <a:off x="274320" y="347472"/>
            <a:ext cx="5486400" cy="228600"/>
          </a:xfrm>
          <a:prstGeom prst="rect">
            <a:avLst/>
          </a:prstGeom>
          <a:noFill/>
        </p:spPr>
        <p:txBody>
          <a:bodyPr wrap="square">
            <a:spAutoFit/>
          </a:bodyPr>
          <a:lstStyle/>
          <a:p>
            <a:pPr algn="l"/>
            <a:r>
              <a:rPr sz="900" b="0">
                <a:solidFill>
                  <a:srgbClr val="BFDBFF"/>
                </a:solidFill>
              </a:rPr>
              <a:t>System intrusion</a:t>
            </a:r>
          </a:p>
        </p:txBody>
      </p:sp>
      <p:sp>
        <p:nvSpPr>
          <p:cNvPr id="5" name="Rectangle 4"/>
          <p:cNvSpPr/>
          <p:nvPr/>
        </p:nvSpPr>
        <p:spPr>
          <a:xfrm>
            <a:off x="7680960" y="109728"/>
            <a:ext cx="1188720" cy="34747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46304"/>
            <a:ext cx="1188720" cy="274320"/>
          </a:xfrm>
          <a:prstGeom prst="rect">
            <a:avLst/>
          </a:prstGeom>
          <a:noFill/>
        </p:spPr>
        <p:txBody>
          <a:bodyPr wrap="square">
            <a:spAutoFit/>
          </a:bodyPr>
          <a:lstStyle/>
          <a:p>
            <a:pPr algn="ctr"/>
            <a:r>
              <a:rPr sz="800" b="1">
                <a:solidFill>
                  <a:srgbClr val="FFFFFF"/>
                </a:solidFill>
              </a:rPr>
              <a:t>HIGH</a:t>
            </a:r>
          </a:p>
        </p:txBody>
      </p:sp>
      <p:sp>
        <p:nvSpPr>
          <p:cNvPr id="7" name="TextBox 6"/>
          <p:cNvSpPr txBox="1"/>
          <p:nvPr/>
        </p:nvSpPr>
        <p:spPr>
          <a:xfrm>
            <a:off x="274320" y="685800"/>
            <a:ext cx="8229600" cy="256032"/>
          </a:xfrm>
          <a:prstGeom prst="rect">
            <a:avLst/>
          </a:prstGeom>
          <a:noFill/>
        </p:spPr>
        <p:txBody>
          <a:bodyPr wrap="square">
            <a:spAutoFit/>
          </a:bodyPr>
          <a:lstStyle/>
          <a:p>
            <a:pPr algn="l"/>
            <a:r>
              <a:rPr sz="900" b="0">
                <a:solidFill>
                  <a:srgbClr val="64748B"/>
                </a:solidFill>
              </a:rPr>
              <a:t>ESCALATED — GEO-LED  ·  Threat Actor: PLA Unit 61398  ·  Emerging Pattern  ·  Confidence: High</a:t>
            </a:r>
          </a:p>
        </p:txBody>
      </p:sp>
      <p:sp>
        <p:nvSpPr>
          <p:cNvPr id="8" name="Rectangle 7"/>
          <p:cNvSpPr/>
          <p:nvPr/>
        </p:nvSpPr>
        <p:spPr>
          <a:xfrm>
            <a:off x="274320" y="1005840"/>
            <a:ext cx="45720" cy="82296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005840"/>
            <a:ext cx="8229600" cy="201168"/>
          </a:xfrm>
          <a:prstGeom prst="rect">
            <a:avLst/>
          </a:prstGeom>
          <a:noFill/>
        </p:spPr>
        <p:txBody>
          <a:bodyPr wrap="square">
            <a:spAutoFit/>
          </a:bodyPr>
          <a:lstStyle/>
          <a:p>
            <a:pPr algn="l"/>
            <a:r>
              <a:rPr sz="700" b="1">
                <a:solidFill>
                  <a:srgbClr val="64748B"/>
                </a:solidFill>
              </a:rPr>
              <a:t>INTEL FINDINGS</a:t>
            </a:r>
          </a:p>
        </p:txBody>
      </p:sp>
      <p:sp>
        <p:nvSpPr>
          <p:cNvPr id="10" name="TextBox 9"/>
          <p:cNvSpPr txBox="1"/>
          <p:nvPr/>
        </p:nvSpPr>
        <p:spPr>
          <a:xfrm>
            <a:off x="411480" y="1207008"/>
            <a:ext cx="8321040" cy="621792"/>
          </a:xfrm>
          <a:prstGeom prst="rect">
            <a:avLst/>
          </a:prstGeom>
          <a:noFill/>
        </p:spPr>
        <p:txBody>
          <a:bodyPr wrap="square">
            <a:spAutoFit/>
          </a:bodyPr>
          <a:lstStyle/>
          <a:p>
            <a:pPr algn="l"/>
            <a:r>
              <a:rPr sz="900" b="0">
                <a:solidFill>
                  <a:srgbClr val="1E293B"/>
                </a:solidFill>
              </a:rPr>
              <a:t>Sinovel Wind Group convicted in US federal court for systematic theft of AMSC wind turbine control software, establishing state-aligned corporate espionage precedent against the wind sector.</a:t>
            </a:r>
          </a:p>
        </p:txBody>
      </p:sp>
      <p:sp>
        <p:nvSpPr>
          <p:cNvPr id="11" name="Rectangle 10"/>
          <p:cNvSpPr/>
          <p:nvPr/>
        </p:nvSpPr>
        <p:spPr>
          <a:xfrm>
            <a:off x="274320" y="1920240"/>
            <a:ext cx="45720" cy="82296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920240"/>
            <a:ext cx="8229600" cy="201168"/>
          </a:xfrm>
          <a:prstGeom prst="rect">
            <a:avLst/>
          </a:prstGeom>
          <a:noFill/>
        </p:spPr>
        <p:txBody>
          <a:bodyPr wrap="square">
            <a:spAutoFit/>
          </a:bodyPr>
          <a:lstStyle/>
          <a:p>
            <a:pPr algn="l"/>
            <a:r>
              <a:rPr sz="700" b="1">
                <a:solidFill>
                  <a:srgbClr val="64748B"/>
                </a:solidFill>
              </a:rPr>
              <a:t>ADVERSARY ACTIVITY</a:t>
            </a:r>
          </a:p>
        </p:txBody>
      </p:sp>
      <p:sp>
        <p:nvSpPr>
          <p:cNvPr id="13" name="TextBox 12"/>
          <p:cNvSpPr txBox="1"/>
          <p:nvPr/>
        </p:nvSpPr>
        <p:spPr>
          <a:xfrm>
            <a:off x="411480" y="2121408"/>
            <a:ext cx="8321040" cy="621792"/>
          </a:xfrm>
          <a:prstGeom prst="rect">
            <a:avLst/>
          </a:prstGeom>
          <a:noFill/>
        </p:spPr>
        <p:txBody>
          <a:bodyPr wrap="square">
            <a:spAutoFit/>
          </a:bodyPr>
          <a:lstStyle/>
          <a:p>
            <a:pPr algn="l"/>
            <a:r>
              <a:rPr sz="900" b="0">
                <a:solidFill>
                  <a:srgbClr val="1E293B"/>
                </a:solidFill>
              </a:rPr>
              <a:t>Sinovel case confirmed insider recruitment combined with cyber-enabled exfiltration of proprietary control software — a proven attack pattern against wind OT environments.</a:t>
            </a:r>
          </a:p>
        </p:txBody>
      </p:sp>
      <p:sp>
        <p:nvSpPr>
          <p:cNvPr id="14" name="Rectangle 13"/>
          <p:cNvSpPr/>
          <p:nvPr/>
        </p:nvSpPr>
        <p:spPr>
          <a:xfrm>
            <a:off x="274320" y="2834640"/>
            <a:ext cx="45720" cy="8229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2834640"/>
            <a:ext cx="8229600" cy="201168"/>
          </a:xfrm>
          <a:prstGeom prst="rect">
            <a:avLst/>
          </a:prstGeom>
          <a:noFill/>
        </p:spPr>
        <p:txBody>
          <a:bodyPr wrap="square">
            <a:spAutoFit/>
          </a:bodyPr>
          <a:lstStyle/>
          <a:p>
            <a:pPr algn="l"/>
            <a:r>
              <a:rPr sz="700" b="1">
                <a:solidFill>
                  <a:srgbClr val="64748B"/>
                </a:solidFill>
              </a:rPr>
              <a:t>IMPACT FOR AEROGRID</a:t>
            </a:r>
          </a:p>
        </p:txBody>
      </p:sp>
      <p:sp>
        <p:nvSpPr>
          <p:cNvPr id="16" name="TextBox 15"/>
          <p:cNvSpPr txBox="1"/>
          <p:nvPr/>
        </p:nvSpPr>
        <p:spPr>
          <a:xfrm>
            <a:off x="411480" y="3035808"/>
            <a:ext cx="8321040" cy="621792"/>
          </a:xfrm>
          <a:prstGeom prst="rect">
            <a:avLst/>
          </a:prstGeom>
          <a:noFill/>
        </p:spPr>
        <p:txBody>
          <a:bodyPr wrap="square">
            <a:spAutoFit/>
          </a:bodyPr>
          <a:lstStyle/>
          <a:p>
            <a:pPr algn="l"/>
            <a:r>
              <a:rPr sz="900" b="0">
                <a:solidFill>
                  <a:srgbClr val="1E293B"/>
                </a:solidFill>
              </a:rPr>
              <a:t>Disruption to blade manufacturing at the Kaohsiung hub would directly affect Series 7 production and fulfilment of the TEPCO five-year turbine supply agreement.</a:t>
            </a:r>
          </a:p>
        </p:txBody>
      </p:sp>
      <p:sp>
        <p:nvSpPr>
          <p:cNvPr id="17" name="Rectangle 16"/>
          <p:cNvSpPr/>
          <p:nvPr/>
        </p:nvSpPr>
        <p:spPr>
          <a:xfrm>
            <a:off x="274320" y="3749040"/>
            <a:ext cx="45720" cy="8229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3749040"/>
            <a:ext cx="8229600" cy="201168"/>
          </a:xfrm>
          <a:prstGeom prst="rect">
            <a:avLst/>
          </a:prstGeom>
          <a:noFill/>
        </p:spPr>
        <p:txBody>
          <a:bodyPr wrap="square">
            <a:spAutoFit/>
          </a:bodyPr>
          <a:lstStyle/>
          <a:p>
            <a:pPr algn="l"/>
            <a:r>
              <a:rPr sz="700" b="1">
                <a:solidFill>
                  <a:srgbClr val="64748B"/>
                </a:solidFill>
              </a:rPr>
              <a:t>WATCH FOR</a:t>
            </a:r>
          </a:p>
        </p:txBody>
      </p:sp>
      <p:sp>
        <p:nvSpPr>
          <p:cNvPr id="19" name="TextBox 18"/>
          <p:cNvSpPr txBox="1"/>
          <p:nvPr/>
        </p:nvSpPr>
        <p:spPr>
          <a:xfrm>
            <a:off x="411480" y="3950208"/>
            <a:ext cx="8321040" cy="621792"/>
          </a:xfrm>
          <a:prstGeom prst="rect">
            <a:avLst/>
          </a:prstGeom>
          <a:noFill/>
        </p:spPr>
        <p:txBody>
          <a:bodyPr wrap="square">
            <a:spAutoFit/>
          </a:bodyPr>
          <a:lstStyle/>
          <a:p>
            <a:pPr algn="l"/>
            <a:r>
              <a:rPr sz="900" b="0">
                <a:solidFill>
                  <a:srgbClr val="1E293B"/>
                </a:solidFill>
              </a:rPr>
              <a:t>Public disclosure of intrusion activity at wind or renewable energy manufacturers in Taiwan, Japan, or South Korea.</a:t>
            </a:r>
          </a:p>
        </p:txBody>
      </p:sp>
      <p:sp>
        <p:nvSpPr>
          <p:cNvPr id="20" name="Rectangle 19"/>
          <p:cNvSpPr/>
          <p:nvPr/>
        </p:nvSpPr>
        <p:spPr>
          <a:xfrm>
            <a:off x="274320" y="4663440"/>
            <a:ext cx="45720" cy="82296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4663440"/>
            <a:ext cx="8229600" cy="201168"/>
          </a:xfrm>
          <a:prstGeom prst="rect">
            <a:avLst/>
          </a:prstGeom>
          <a:noFill/>
        </p:spPr>
        <p:txBody>
          <a:bodyPr wrap="square">
            <a:spAutoFit/>
          </a:bodyPr>
          <a:lstStyle/>
          <a:p>
            <a:pPr algn="l"/>
            <a:r>
              <a:rPr sz="700" b="1">
                <a:solidFill>
                  <a:srgbClr val="64748B"/>
                </a:solidFill>
              </a:rPr>
              <a:t>RECOMMENDED ACTION</a:t>
            </a:r>
          </a:p>
        </p:txBody>
      </p:sp>
      <p:sp>
        <p:nvSpPr>
          <p:cNvPr id="22" name="TextBox 21"/>
          <p:cNvSpPr txBox="1"/>
          <p:nvPr/>
        </p:nvSpPr>
        <p:spPr>
          <a:xfrm>
            <a:off x="411480" y="4864608"/>
            <a:ext cx="8321040" cy="621792"/>
          </a:xfrm>
          <a:prstGeom prst="rect">
            <a:avLst/>
          </a:prstGeom>
          <a:noFill/>
        </p:spPr>
        <p:txBody>
          <a:bodyPr wrap="square">
            <a:spAutoFit/>
          </a:bodyPr>
          <a:lstStyle/>
          <a:p>
            <a:pPr algn="l"/>
            <a:r>
              <a:rPr sz="900" b="0">
                <a:solidFill>
                  <a:srgbClr val="1E293B"/>
                </a:solidFill>
              </a:rPr>
              <a:t>Audit third-party and supply chain access credentials for privileged systems.</a:t>
            </a:r>
          </a:p>
        </p:txBody>
      </p:sp>
      <p:sp>
        <p:nvSpPr>
          <p:cNvPr id="23" name="TextBox 22"/>
          <p:cNvSpPr txBox="1"/>
          <p:nvPr/>
        </p:nvSpPr>
        <p:spPr>
          <a:xfrm>
            <a:off x="274320" y="5852160"/>
            <a:ext cx="2286000" cy="274320"/>
          </a:xfrm>
          <a:prstGeom prst="rect">
            <a:avLst/>
          </a:prstGeom>
          <a:noFill/>
        </p:spPr>
        <p:txBody>
          <a:bodyPr wrap="square">
            <a:spAutoFit/>
          </a:bodyPr>
          <a:lstStyle/>
          <a:p>
            <a:pPr algn="l"/>
            <a:r>
              <a:rPr sz="800" b="0">
                <a:solidFill>
                  <a:srgbClr val="64748B"/>
                </a:solidFill>
              </a:rPr>
              <a:t>→ Stable</a:t>
            </a:r>
          </a:p>
        </p:txBody>
      </p:sp>
      <p:sp>
        <p:nvSpPr>
          <p:cNvPr id="24" name="TextBox 23"/>
          <p:cNvSpPr txBox="1"/>
          <p:nvPr/>
        </p:nvSpPr>
        <p:spPr>
          <a:xfrm>
            <a:off x="2743200" y="5852160"/>
            <a:ext cx="3657600" cy="274320"/>
          </a:xfrm>
          <a:prstGeom prst="rect">
            <a:avLst/>
          </a:prstGeom>
          <a:noFill/>
        </p:spPr>
        <p:txBody>
          <a:bodyPr wrap="square">
            <a:spAutoFit/>
          </a:bodyPr>
          <a:lstStyle/>
          <a:p>
            <a:pPr algn="l"/>
            <a:r>
              <a:rPr sz="800" b="0">
                <a:solidFill>
                  <a:srgbClr val="64748B"/>
                </a:solidFill>
              </a:rPr>
              <a:t>State-directed threat</a:t>
            </a:r>
          </a:p>
        </p:txBody>
      </p:sp>
      <p:sp>
        <p:nvSpPr>
          <p:cNvPr id="25" name="TextBox 24"/>
          <p:cNvSpPr txBox="1"/>
          <p:nvPr/>
        </p:nvSpPr>
        <p:spPr>
          <a:xfrm>
            <a:off x="274320" y="6217920"/>
            <a:ext cx="8595360" cy="256032"/>
          </a:xfrm>
          <a:prstGeom prst="rect">
            <a:avLst/>
          </a:prstGeom>
          <a:noFill/>
        </p:spPr>
        <p:txBody>
          <a:bodyPr wrap="square">
            <a:spAutoFit/>
          </a:bodyPr>
          <a:lstStyle/>
          <a:p>
            <a:pPr algn="l"/>
            <a:r>
              <a:rPr sz="700" b="0">
                <a:solidFill>
                  <a:srgbClr val="64748B"/>
                </a:solidFill>
              </a:rPr>
              <a:t>Sources: Reuters · NPR · Heritage Foundation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411480"/>
          </a:xfrm>
          <a:prstGeom prst="rect">
            <a:avLst/>
          </a:prstGeom>
          <a:noFill/>
        </p:spPr>
        <p:txBody>
          <a:bodyPr wrap="square">
            <a:spAutoFit/>
          </a:bodyPr>
          <a:lstStyle/>
          <a:p>
            <a:pPr algn="l"/>
            <a:r>
              <a:rPr sz="1600" b="1">
                <a:solidFill>
                  <a:srgbClr val="FFFFFF"/>
                </a:solidFill>
              </a:rPr>
              <a:t>LATAM</a:t>
            </a:r>
          </a:p>
        </p:txBody>
      </p:sp>
      <p:sp>
        <p:nvSpPr>
          <p:cNvPr id="4" name="TextBox 3"/>
          <p:cNvSpPr txBox="1"/>
          <p:nvPr/>
        </p:nvSpPr>
        <p:spPr>
          <a:xfrm>
            <a:off x="274320" y="347472"/>
            <a:ext cx="5486400" cy="228600"/>
          </a:xfrm>
          <a:prstGeom prst="rect">
            <a:avLst/>
          </a:prstGeom>
          <a:noFill/>
        </p:spPr>
        <p:txBody>
          <a:bodyPr wrap="square">
            <a:spAutoFit/>
          </a:bodyPr>
          <a:lstStyle/>
          <a:p>
            <a:pPr algn="l"/>
            <a:r>
              <a:rPr sz="900" b="0">
                <a:solidFill>
                  <a:srgbClr val="BFDBFF"/>
                </a:solidFill>
              </a:rPr>
              <a:t>System intrusion</a:t>
            </a:r>
          </a:p>
        </p:txBody>
      </p:sp>
      <p:sp>
        <p:nvSpPr>
          <p:cNvPr id="5" name="Rectangle 4"/>
          <p:cNvSpPr/>
          <p:nvPr/>
        </p:nvSpPr>
        <p:spPr>
          <a:xfrm>
            <a:off x="7680960" y="109728"/>
            <a:ext cx="1188720" cy="34747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46304"/>
            <a:ext cx="1188720" cy="274320"/>
          </a:xfrm>
          <a:prstGeom prst="rect">
            <a:avLst/>
          </a:prstGeom>
          <a:noFill/>
        </p:spPr>
        <p:txBody>
          <a:bodyPr wrap="square">
            <a:spAutoFit/>
          </a:bodyPr>
          <a:lstStyle/>
          <a:p>
            <a:pPr algn="ctr"/>
            <a:r>
              <a:rPr sz="800" b="1">
                <a:solidFill>
                  <a:srgbClr val="FFFFFF"/>
                </a:solidFill>
              </a:rPr>
              <a:t>HIGH</a:t>
            </a:r>
          </a:p>
        </p:txBody>
      </p:sp>
      <p:sp>
        <p:nvSpPr>
          <p:cNvPr id="7" name="TextBox 6"/>
          <p:cNvSpPr txBox="1"/>
          <p:nvPr/>
        </p:nvSpPr>
        <p:spPr>
          <a:xfrm>
            <a:off x="274320" y="685800"/>
            <a:ext cx="8229600" cy="256032"/>
          </a:xfrm>
          <a:prstGeom prst="rect">
            <a:avLst/>
          </a:prstGeom>
          <a:noFill/>
        </p:spPr>
        <p:txBody>
          <a:bodyPr wrap="square">
            <a:spAutoFit/>
          </a:bodyPr>
          <a:lstStyle/>
          <a:p>
            <a:pPr algn="l"/>
            <a:r>
              <a:rPr sz="900" b="0">
                <a:solidFill>
                  <a:srgbClr val="64748B"/>
                </a:solidFill>
              </a:rPr>
              <a:t>ESCALATED — GEO-LED  ·  Threat Actor: APT41 / Volt Typhoon (capability-based, not confirmed in region)  ·  Emerging Pattern  ·  Confidence: High</a:t>
            </a:r>
          </a:p>
        </p:txBody>
      </p:sp>
      <p:sp>
        <p:nvSpPr>
          <p:cNvPr id="8" name="Rectangle 7"/>
          <p:cNvSpPr/>
          <p:nvPr/>
        </p:nvSpPr>
        <p:spPr>
          <a:xfrm>
            <a:off x="274320" y="1005840"/>
            <a:ext cx="45720" cy="82296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005840"/>
            <a:ext cx="8229600" cy="201168"/>
          </a:xfrm>
          <a:prstGeom prst="rect">
            <a:avLst/>
          </a:prstGeom>
          <a:noFill/>
        </p:spPr>
        <p:txBody>
          <a:bodyPr wrap="square">
            <a:spAutoFit/>
          </a:bodyPr>
          <a:lstStyle/>
          <a:p>
            <a:pPr algn="l"/>
            <a:r>
              <a:rPr sz="700" b="1">
                <a:solidFill>
                  <a:srgbClr val="64748B"/>
                </a:solidFill>
              </a:rPr>
              <a:t>INTEL FINDINGS</a:t>
            </a:r>
          </a:p>
        </p:txBody>
      </p:sp>
      <p:sp>
        <p:nvSpPr>
          <p:cNvPr id="10" name="TextBox 9"/>
          <p:cNvSpPr txBox="1"/>
          <p:nvPr/>
        </p:nvSpPr>
        <p:spPr>
          <a:xfrm>
            <a:off x="411480" y="1207008"/>
            <a:ext cx="8321040" cy="621792"/>
          </a:xfrm>
          <a:prstGeom prst="rect">
            <a:avLst/>
          </a:prstGeom>
          <a:noFill/>
        </p:spPr>
        <p:txBody>
          <a:bodyPr wrap="square">
            <a:spAutoFit/>
          </a:bodyPr>
          <a:lstStyle/>
          <a:p>
            <a:pPr algn="l"/>
            <a:r>
              <a:rPr sz="900" b="0">
                <a:solidFill>
                  <a:srgbClr val="1E293B"/>
                </a:solidFill>
              </a:rPr>
              <a:t>China's rare earth and permanent magnet export controls now require individualized government approval, enabling strategic delay of wind turbine component flows to LATAM assemblers.</a:t>
            </a:r>
          </a:p>
        </p:txBody>
      </p:sp>
      <p:sp>
        <p:nvSpPr>
          <p:cNvPr id="11" name="Rectangle 10"/>
          <p:cNvSpPr/>
          <p:nvPr/>
        </p:nvSpPr>
        <p:spPr>
          <a:xfrm>
            <a:off x="274320" y="1920240"/>
            <a:ext cx="45720" cy="82296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920240"/>
            <a:ext cx="8229600" cy="201168"/>
          </a:xfrm>
          <a:prstGeom prst="rect">
            <a:avLst/>
          </a:prstGeom>
          <a:noFill/>
        </p:spPr>
        <p:txBody>
          <a:bodyPr wrap="square">
            <a:spAutoFit/>
          </a:bodyPr>
          <a:lstStyle/>
          <a:p>
            <a:pPr algn="l"/>
            <a:r>
              <a:rPr sz="700" b="1">
                <a:solidFill>
                  <a:srgbClr val="64748B"/>
                </a:solidFill>
              </a:rPr>
              <a:t>ADVERSARY ACTIVITY</a:t>
            </a:r>
          </a:p>
        </p:txBody>
      </p:sp>
      <p:sp>
        <p:nvSpPr>
          <p:cNvPr id="13" name="TextBox 12"/>
          <p:cNvSpPr txBox="1"/>
          <p:nvPr/>
        </p:nvSpPr>
        <p:spPr>
          <a:xfrm>
            <a:off x="411480" y="2121408"/>
            <a:ext cx="8321040" cy="621792"/>
          </a:xfrm>
          <a:prstGeom prst="rect">
            <a:avLst/>
          </a:prstGeom>
          <a:noFill/>
        </p:spPr>
        <p:txBody>
          <a:bodyPr wrap="square">
            <a:spAutoFit/>
          </a:bodyPr>
          <a:lstStyle/>
          <a:p>
            <a:pPr algn="l"/>
            <a:r>
              <a:rPr sz="900" b="0">
                <a:solidFill>
                  <a:srgbClr val="1E293B"/>
                </a:solidFill>
              </a:rPr>
              <a:t>APT41 and Volt Typhoon documented conducting OT network reconnaissance against energy sector targets via poorly segmented environments and third-party remote access vectors.</a:t>
            </a:r>
          </a:p>
        </p:txBody>
      </p:sp>
      <p:sp>
        <p:nvSpPr>
          <p:cNvPr id="14" name="Rectangle 13"/>
          <p:cNvSpPr/>
          <p:nvPr/>
        </p:nvSpPr>
        <p:spPr>
          <a:xfrm>
            <a:off x="274320" y="2834640"/>
            <a:ext cx="45720" cy="8229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2834640"/>
            <a:ext cx="8229600" cy="201168"/>
          </a:xfrm>
          <a:prstGeom prst="rect">
            <a:avLst/>
          </a:prstGeom>
          <a:noFill/>
        </p:spPr>
        <p:txBody>
          <a:bodyPr wrap="square">
            <a:spAutoFit/>
          </a:bodyPr>
          <a:lstStyle/>
          <a:p>
            <a:pPr algn="l"/>
            <a:r>
              <a:rPr sz="700" b="1">
                <a:solidFill>
                  <a:srgbClr val="64748B"/>
                </a:solidFill>
              </a:rPr>
              <a:t>IMPACT FOR AEROGRID</a:t>
            </a:r>
          </a:p>
        </p:txBody>
      </p:sp>
      <p:sp>
        <p:nvSpPr>
          <p:cNvPr id="16" name="TextBox 15"/>
          <p:cNvSpPr txBox="1"/>
          <p:nvPr/>
        </p:nvSpPr>
        <p:spPr>
          <a:xfrm>
            <a:off x="411480" y="3035808"/>
            <a:ext cx="8321040" cy="621792"/>
          </a:xfrm>
          <a:prstGeom prst="rect">
            <a:avLst/>
          </a:prstGeom>
          <a:noFill/>
        </p:spPr>
        <p:txBody>
          <a:bodyPr wrap="square">
            <a:spAutoFit/>
          </a:bodyPr>
          <a:lstStyle/>
          <a:p>
            <a:pPr algn="l"/>
            <a:r>
              <a:rPr sz="900" b="0">
                <a:solidFill>
                  <a:srgbClr val="1E293B"/>
                </a:solidFill>
              </a:rPr>
              <a:t>Disruption to Chinese-origin component supply chains would threaten continuity of regional blade production and logistics platform supporting the Sao Paulo and Santiago service operations.</a:t>
            </a:r>
          </a:p>
        </p:txBody>
      </p:sp>
      <p:sp>
        <p:nvSpPr>
          <p:cNvPr id="17" name="Rectangle 16"/>
          <p:cNvSpPr/>
          <p:nvPr/>
        </p:nvSpPr>
        <p:spPr>
          <a:xfrm>
            <a:off x="274320" y="3749040"/>
            <a:ext cx="45720" cy="8229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3749040"/>
            <a:ext cx="8229600" cy="201168"/>
          </a:xfrm>
          <a:prstGeom prst="rect">
            <a:avLst/>
          </a:prstGeom>
          <a:noFill/>
        </p:spPr>
        <p:txBody>
          <a:bodyPr wrap="square">
            <a:spAutoFit/>
          </a:bodyPr>
          <a:lstStyle/>
          <a:p>
            <a:pPr algn="l"/>
            <a:r>
              <a:rPr sz="700" b="1">
                <a:solidFill>
                  <a:srgbClr val="64748B"/>
                </a:solidFill>
              </a:rPr>
              <a:t>WATCH FOR</a:t>
            </a:r>
          </a:p>
        </p:txBody>
      </p:sp>
      <p:sp>
        <p:nvSpPr>
          <p:cNvPr id="19" name="TextBox 18"/>
          <p:cNvSpPr txBox="1"/>
          <p:nvPr/>
        </p:nvSpPr>
        <p:spPr>
          <a:xfrm>
            <a:off x="411480" y="3950208"/>
            <a:ext cx="8321040" cy="621792"/>
          </a:xfrm>
          <a:prstGeom prst="rect">
            <a:avLst/>
          </a:prstGeom>
          <a:noFill/>
        </p:spPr>
        <p:txBody>
          <a:bodyPr wrap="square">
            <a:spAutoFit/>
          </a:bodyPr>
          <a:lstStyle/>
          <a:p>
            <a:pPr algn="l"/>
            <a:r>
              <a:rPr sz="900" b="0">
                <a:solidFill>
                  <a:srgbClr val="1E293B"/>
                </a:solidFill>
              </a:rPr>
              <a:t>Chinese government delays or denials of rare earth export approvals affecting wind component shipments to Brazil or Chile.</a:t>
            </a:r>
          </a:p>
        </p:txBody>
      </p:sp>
      <p:sp>
        <p:nvSpPr>
          <p:cNvPr id="20" name="Rectangle 19"/>
          <p:cNvSpPr/>
          <p:nvPr/>
        </p:nvSpPr>
        <p:spPr>
          <a:xfrm>
            <a:off x="274320" y="4663440"/>
            <a:ext cx="45720" cy="82296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4663440"/>
            <a:ext cx="8229600" cy="201168"/>
          </a:xfrm>
          <a:prstGeom prst="rect">
            <a:avLst/>
          </a:prstGeom>
          <a:noFill/>
        </p:spPr>
        <p:txBody>
          <a:bodyPr wrap="square">
            <a:spAutoFit/>
          </a:bodyPr>
          <a:lstStyle/>
          <a:p>
            <a:pPr algn="l"/>
            <a:r>
              <a:rPr sz="700" b="1">
                <a:solidFill>
                  <a:srgbClr val="64748B"/>
                </a:solidFill>
              </a:rPr>
              <a:t>RECOMMENDED ACTION</a:t>
            </a:r>
          </a:p>
        </p:txBody>
      </p:sp>
      <p:sp>
        <p:nvSpPr>
          <p:cNvPr id="22" name="TextBox 21"/>
          <p:cNvSpPr txBox="1"/>
          <p:nvPr/>
        </p:nvSpPr>
        <p:spPr>
          <a:xfrm>
            <a:off x="411480" y="4864608"/>
            <a:ext cx="8321040" cy="621792"/>
          </a:xfrm>
          <a:prstGeom prst="rect">
            <a:avLst/>
          </a:prstGeom>
          <a:noFill/>
        </p:spPr>
        <p:txBody>
          <a:bodyPr wrap="square">
            <a:spAutoFit/>
          </a:bodyPr>
          <a:lstStyle/>
          <a:p>
            <a:pPr algn="l"/>
            <a:r>
              <a:rPr sz="900" b="0">
                <a:solidFill>
                  <a:srgbClr val="1E293B"/>
                </a:solidFill>
              </a:rPr>
              <a:t>Audit third-party and supply chain access credentials for privileged systems.</a:t>
            </a:r>
          </a:p>
        </p:txBody>
      </p:sp>
      <p:sp>
        <p:nvSpPr>
          <p:cNvPr id="23" name="TextBox 22"/>
          <p:cNvSpPr txBox="1"/>
          <p:nvPr/>
        </p:nvSpPr>
        <p:spPr>
          <a:xfrm>
            <a:off x="274320" y="5852160"/>
            <a:ext cx="2286000" cy="274320"/>
          </a:xfrm>
          <a:prstGeom prst="rect">
            <a:avLst/>
          </a:prstGeom>
          <a:noFill/>
        </p:spPr>
        <p:txBody>
          <a:bodyPr wrap="square">
            <a:spAutoFit/>
          </a:bodyPr>
          <a:lstStyle/>
          <a:p>
            <a:pPr algn="l"/>
            <a:r>
              <a:rPr sz="800" b="0">
                <a:solidFill>
                  <a:srgbClr val="64748B"/>
                </a:solidFill>
              </a:rPr>
              <a:t>↑ Accelerating</a:t>
            </a:r>
          </a:p>
        </p:txBody>
      </p:sp>
      <p:sp>
        <p:nvSpPr>
          <p:cNvPr id="24" name="TextBox 23"/>
          <p:cNvSpPr txBox="1"/>
          <p:nvPr/>
        </p:nvSpPr>
        <p:spPr>
          <a:xfrm>
            <a:off x="2743200" y="5852160"/>
            <a:ext cx="3657600" cy="274320"/>
          </a:xfrm>
          <a:prstGeom prst="rect">
            <a:avLst/>
          </a:prstGeom>
          <a:noFill/>
        </p:spPr>
        <p:txBody>
          <a:bodyPr wrap="square">
            <a:spAutoFit/>
          </a:bodyPr>
          <a:lstStyle/>
          <a:p>
            <a:pPr algn="l"/>
            <a:r>
              <a:rPr sz="800" b="0">
                <a:solidFill>
                  <a:srgbClr val="64748B"/>
                </a:solidFill>
              </a:rPr>
              <a:t>State-directed threat</a:t>
            </a:r>
          </a:p>
        </p:txBody>
      </p:sp>
      <p:sp>
        <p:nvSpPr>
          <p:cNvPr id="25" name="TextBox 24"/>
          <p:cNvSpPr txBox="1"/>
          <p:nvPr/>
        </p:nvSpPr>
        <p:spPr>
          <a:xfrm>
            <a:off x="274320" y="6217920"/>
            <a:ext cx="8595360" cy="256032"/>
          </a:xfrm>
          <a:prstGeom prst="rect">
            <a:avLst/>
          </a:prstGeom>
          <a:noFill/>
        </p:spPr>
        <p:txBody>
          <a:bodyPr wrap="square">
            <a:spAutoFit/>
          </a:bodyPr>
          <a:lstStyle/>
          <a:p>
            <a:pPr algn="l"/>
            <a:r>
              <a:rPr sz="700" b="0">
                <a:solidFill>
                  <a:srgbClr val="64748B"/>
                </a:solidFill>
              </a:rPr>
              <a:t>Sources: CSIS — China's New Rare Earth and Magnet Restrictions · GWEC — Latin America Wind Energy Supply Chain · Robeco — Navigating the 2026 Latin American Power Shift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411480"/>
          </a:xfrm>
          <a:prstGeom prst="rect">
            <a:avLst/>
          </a:prstGeom>
          <a:noFill/>
        </p:spPr>
        <p:txBody>
          <a:bodyPr wrap="square">
            <a:spAutoFit/>
          </a:bodyPr>
          <a:lstStyle/>
          <a:p>
            <a:pPr algn="l"/>
            <a:r>
              <a:rPr sz="1600" b="1">
                <a:solidFill>
                  <a:srgbClr val="FFFFFF"/>
                </a:solidFill>
              </a:rPr>
              <a:t>MED</a:t>
            </a:r>
          </a:p>
        </p:txBody>
      </p:sp>
      <p:sp>
        <p:nvSpPr>
          <p:cNvPr id="4" name="TextBox 3"/>
          <p:cNvSpPr txBox="1"/>
          <p:nvPr/>
        </p:nvSpPr>
        <p:spPr>
          <a:xfrm>
            <a:off x="274320" y="347472"/>
            <a:ext cx="5486400" cy="228600"/>
          </a:xfrm>
          <a:prstGeom prst="rect">
            <a:avLst/>
          </a:prstGeom>
          <a:noFill/>
        </p:spPr>
        <p:txBody>
          <a:bodyPr wrap="square">
            <a:spAutoFit/>
          </a:bodyPr>
          <a:lstStyle/>
          <a:p>
            <a:pPr algn="l"/>
            <a:r>
              <a:rPr sz="900" b="0">
                <a:solidFill>
                  <a:srgbClr val="BFDBFF"/>
                </a:solidFill>
              </a:rPr>
              <a:t>System intrusion</a:t>
            </a:r>
          </a:p>
        </p:txBody>
      </p:sp>
      <p:sp>
        <p:nvSpPr>
          <p:cNvPr id="5" name="Rectangle 4"/>
          <p:cNvSpPr/>
          <p:nvPr/>
        </p:nvSpPr>
        <p:spPr>
          <a:xfrm>
            <a:off x="7680960" y="109728"/>
            <a:ext cx="1188720" cy="34747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46304"/>
            <a:ext cx="1188720" cy="274320"/>
          </a:xfrm>
          <a:prstGeom prst="rect">
            <a:avLst/>
          </a:prstGeom>
          <a:noFill/>
        </p:spPr>
        <p:txBody>
          <a:bodyPr wrap="square">
            <a:spAutoFit/>
          </a:bodyPr>
          <a:lstStyle/>
          <a:p>
            <a:pPr algn="ctr"/>
            <a:r>
              <a:rPr sz="800" b="1">
                <a:solidFill>
                  <a:srgbClr val="FFFFFF"/>
                </a:solidFill>
              </a:rPr>
              <a:t>MEDIUM</a:t>
            </a:r>
          </a:p>
        </p:txBody>
      </p:sp>
      <p:sp>
        <p:nvSpPr>
          <p:cNvPr id="7" name="TextBox 6"/>
          <p:cNvSpPr txBox="1"/>
          <p:nvPr/>
        </p:nvSpPr>
        <p:spPr>
          <a:xfrm>
            <a:off x="274320" y="685800"/>
            <a:ext cx="8229600" cy="256032"/>
          </a:xfrm>
          <a:prstGeom prst="rect">
            <a:avLst/>
          </a:prstGeom>
          <a:noFill/>
        </p:spPr>
        <p:txBody>
          <a:bodyPr wrap="square">
            <a:spAutoFit/>
          </a:bodyPr>
          <a:lstStyle/>
          <a:p>
            <a:pPr algn="l"/>
            <a:r>
              <a:rPr sz="900" b="0">
                <a:solidFill>
                  <a:srgbClr val="64748B"/>
                </a:solidFill>
              </a:rPr>
              <a:t>ESCALATED — CYBER-LED  ·  Threat Actor: CyberAv3ngers (IRGC-linked), Pioneer Kitten  ·  Emerging Pattern  ·  Confidence: High</a:t>
            </a:r>
          </a:p>
        </p:txBody>
      </p:sp>
      <p:sp>
        <p:nvSpPr>
          <p:cNvPr id="8" name="Rectangle 7"/>
          <p:cNvSpPr/>
          <p:nvPr/>
        </p:nvSpPr>
        <p:spPr>
          <a:xfrm>
            <a:off x="274320" y="1005840"/>
            <a:ext cx="45720" cy="82296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005840"/>
            <a:ext cx="8229600" cy="201168"/>
          </a:xfrm>
          <a:prstGeom prst="rect">
            <a:avLst/>
          </a:prstGeom>
          <a:noFill/>
        </p:spPr>
        <p:txBody>
          <a:bodyPr wrap="square">
            <a:spAutoFit/>
          </a:bodyPr>
          <a:lstStyle/>
          <a:p>
            <a:pPr algn="l"/>
            <a:r>
              <a:rPr sz="700" b="1">
                <a:solidFill>
                  <a:srgbClr val="64748B"/>
                </a:solidFill>
              </a:rPr>
              <a:t>INTEL FINDINGS</a:t>
            </a:r>
          </a:p>
        </p:txBody>
      </p:sp>
      <p:sp>
        <p:nvSpPr>
          <p:cNvPr id="10" name="TextBox 9"/>
          <p:cNvSpPr txBox="1"/>
          <p:nvPr/>
        </p:nvSpPr>
        <p:spPr>
          <a:xfrm>
            <a:off x="411480" y="1207008"/>
            <a:ext cx="8321040" cy="621792"/>
          </a:xfrm>
          <a:prstGeom prst="rect">
            <a:avLst/>
          </a:prstGeom>
          <a:noFill/>
        </p:spPr>
        <p:txBody>
          <a:bodyPr wrap="square">
            <a:spAutoFit/>
          </a:bodyPr>
          <a:lstStyle/>
          <a:p>
            <a:pPr algn="l"/>
            <a:r>
              <a:rPr sz="900" b="0">
                <a:solidFill>
                  <a:srgbClr val="1E293B"/>
                </a:solidFill>
              </a:rPr>
              <a:t>IRGC-aligned actors escalated reconnaissance and espionage operations against energy infrastructure post-Operation Epic Fury, with documented expansion toward EU systems.</a:t>
            </a:r>
          </a:p>
        </p:txBody>
      </p:sp>
      <p:sp>
        <p:nvSpPr>
          <p:cNvPr id="11" name="Rectangle 10"/>
          <p:cNvSpPr/>
          <p:nvPr/>
        </p:nvSpPr>
        <p:spPr>
          <a:xfrm>
            <a:off x="274320" y="1920240"/>
            <a:ext cx="45720" cy="82296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920240"/>
            <a:ext cx="8229600" cy="201168"/>
          </a:xfrm>
          <a:prstGeom prst="rect">
            <a:avLst/>
          </a:prstGeom>
          <a:noFill/>
        </p:spPr>
        <p:txBody>
          <a:bodyPr wrap="square">
            <a:spAutoFit/>
          </a:bodyPr>
          <a:lstStyle/>
          <a:p>
            <a:pPr algn="l"/>
            <a:r>
              <a:rPr sz="700" b="1">
                <a:solidFill>
                  <a:srgbClr val="64748B"/>
                </a:solidFill>
              </a:rPr>
              <a:t>ADVERSARY ACTIVITY</a:t>
            </a:r>
          </a:p>
        </p:txBody>
      </p:sp>
      <p:sp>
        <p:nvSpPr>
          <p:cNvPr id="13" name="TextBox 12"/>
          <p:cNvSpPr txBox="1"/>
          <p:nvPr/>
        </p:nvSpPr>
        <p:spPr>
          <a:xfrm>
            <a:off x="411480" y="2121408"/>
            <a:ext cx="8321040" cy="621792"/>
          </a:xfrm>
          <a:prstGeom prst="rect">
            <a:avLst/>
          </a:prstGeom>
          <a:noFill/>
        </p:spPr>
        <p:txBody>
          <a:bodyPr wrap="square">
            <a:spAutoFit/>
          </a:bodyPr>
          <a:lstStyle/>
          <a:p>
            <a:pPr algn="l"/>
            <a:r>
              <a:rPr sz="900" b="0">
                <a:solidFill>
                  <a:srgbClr val="1E293B"/>
                </a:solidFill>
              </a:rPr>
              <a:t>CyberAv3ngers achieved confirmed compromise of 75+ Unitronics Vision PLCs in US critical infrastructure via default credential exploitation, demonstrating capability transferable to wind turbine control systems.</a:t>
            </a:r>
          </a:p>
        </p:txBody>
      </p:sp>
      <p:sp>
        <p:nvSpPr>
          <p:cNvPr id="14" name="Rectangle 13"/>
          <p:cNvSpPr/>
          <p:nvPr/>
        </p:nvSpPr>
        <p:spPr>
          <a:xfrm>
            <a:off x="274320" y="2834640"/>
            <a:ext cx="45720" cy="8229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2834640"/>
            <a:ext cx="8229600" cy="201168"/>
          </a:xfrm>
          <a:prstGeom prst="rect">
            <a:avLst/>
          </a:prstGeom>
          <a:noFill/>
        </p:spPr>
        <p:txBody>
          <a:bodyPr wrap="square">
            <a:spAutoFit/>
          </a:bodyPr>
          <a:lstStyle/>
          <a:p>
            <a:pPr algn="l"/>
            <a:r>
              <a:rPr sz="700" b="1">
                <a:solidFill>
                  <a:srgbClr val="64748B"/>
                </a:solidFill>
              </a:rPr>
              <a:t>IMPACT FOR AEROGRID</a:t>
            </a:r>
          </a:p>
        </p:txBody>
      </p:sp>
      <p:sp>
        <p:nvSpPr>
          <p:cNvPr id="16" name="TextBox 15"/>
          <p:cNvSpPr txBox="1"/>
          <p:nvPr/>
        </p:nvSpPr>
        <p:spPr>
          <a:xfrm>
            <a:off x="411480" y="3035808"/>
            <a:ext cx="8321040" cy="621792"/>
          </a:xfrm>
          <a:prstGeom prst="rect">
            <a:avLst/>
          </a:prstGeom>
          <a:noFill/>
        </p:spPr>
        <p:txBody>
          <a:bodyPr wrap="square">
            <a:spAutoFit/>
          </a:bodyPr>
          <a:lstStyle/>
          <a:p>
            <a:pPr algn="l"/>
            <a:r>
              <a:rPr sz="900" b="0">
                <a:solidFill>
                  <a:srgbClr val="1E293B"/>
                </a:solidFill>
              </a:rPr>
              <a:t>Disruption to predictive maintenance algorithms or exfiltration of offshore servicing documentation would compromise contracted maintenance delivery across the Mediterranean, affecting the Palermo manufacturing site and Malaga service hub.</a:t>
            </a:r>
          </a:p>
        </p:txBody>
      </p:sp>
      <p:sp>
        <p:nvSpPr>
          <p:cNvPr id="17" name="Rectangle 16"/>
          <p:cNvSpPr/>
          <p:nvPr/>
        </p:nvSpPr>
        <p:spPr>
          <a:xfrm>
            <a:off x="274320" y="3749040"/>
            <a:ext cx="45720" cy="8229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3749040"/>
            <a:ext cx="8229600" cy="201168"/>
          </a:xfrm>
          <a:prstGeom prst="rect">
            <a:avLst/>
          </a:prstGeom>
          <a:noFill/>
        </p:spPr>
        <p:txBody>
          <a:bodyPr wrap="square">
            <a:spAutoFit/>
          </a:bodyPr>
          <a:lstStyle/>
          <a:p>
            <a:pPr algn="l"/>
            <a:r>
              <a:rPr sz="700" b="1">
                <a:solidFill>
                  <a:srgbClr val="64748B"/>
                </a:solidFill>
              </a:rPr>
              <a:t>WATCH FOR</a:t>
            </a:r>
          </a:p>
        </p:txBody>
      </p:sp>
      <p:sp>
        <p:nvSpPr>
          <p:cNvPr id="19" name="TextBox 18"/>
          <p:cNvSpPr txBox="1"/>
          <p:nvPr/>
        </p:nvSpPr>
        <p:spPr>
          <a:xfrm>
            <a:off x="411480" y="3950208"/>
            <a:ext cx="8321040" cy="621792"/>
          </a:xfrm>
          <a:prstGeom prst="rect">
            <a:avLst/>
          </a:prstGeom>
          <a:noFill/>
        </p:spPr>
        <p:txBody>
          <a:bodyPr wrap="square">
            <a:spAutoFit/>
          </a:bodyPr>
          <a:lstStyle/>
          <a:p>
            <a:pPr algn="l"/>
            <a:r>
              <a:rPr sz="900" b="0">
                <a:solidFill>
                  <a:srgbClr val="1E293B"/>
                </a:solidFill>
              </a:rPr>
              <a:t>Anomalous access to predictive maintenance repositories or offshore servicing documentation by accounts inconsistent with operational roles at Palermo or Malaga.</a:t>
            </a:r>
          </a:p>
        </p:txBody>
      </p:sp>
      <p:sp>
        <p:nvSpPr>
          <p:cNvPr id="20" name="Rectangle 19"/>
          <p:cNvSpPr/>
          <p:nvPr/>
        </p:nvSpPr>
        <p:spPr>
          <a:xfrm>
            <a:off x="274320" y="4663440"/>
            <a:ext cx="45720" cy="82296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4663440"/>
            <a:ext cx="8229600" cy="201168"/>
          </a:xfrm>
          <a:prstGeom prst="rect">
            <a:avLst/>
          </a:prstGeom>
          <a:noFill/>
        </p:spPr>
        <p:txBody>
          <a:bodyPr wrap="square">
            <a:spAutoFit/>
          </a:bodyPr>
          <a:lstStyle/>
          <a:p>
            <a:pPr algn="l"/>
            <a:r>
              <a:rPr sz="700" b="1">
                <a:solidFill>
                  <a:srgbClr val="64748B"/>
                </a:solidFill>
              </a:rPr>
              <a:t>RECOMMENDED ACTION</a:t>
            </a:r>
          </a:p>
        </p:txBody>
      </p:sp>
      <p:sp>
        <p:nvSpPr>
          <p:cNvPr id="22" name="TextBox 21"/>
          <p:cNvSpPr txBox="1"/>
          <p:nvPr/>
        </p:nvSpPr>
        <p:spPr>
          <a:xfrm>
            <a:off x="411480" y="4864608"/>
            <a:ext cx="8321040" cy="621792"/>
          </a:xfrm>
          <a:prstGeom prst="rect">
            <a:avLst/>
          </a:prstGeom>
          <a:noFill/>
        </p:spPr>
        <p:txBody>
          <a:bodyPr wrap="square">
            <a:spAutoFit/>
          </a:bodyPr>
          <a:lstStyle/>
          <a:p>
            <a:pPr algn="l"/>
            <a:r>
              <a:rPr sz="900" b="0">
                <a:solidFill>
                  <a:srgbClr val="1E293B"/>
                </a:solidFill>
              </a:rPr>
              <a:t>Audit third-party and supply chain access credentials for privileged systems.</a:t>
            </a:r>
          </a:p>
        </p:txBody>
      </p:sp>
      <p:sp>
        <p:nvSpPr>
          <p:cNvPr id="23" name="TextBox 22"/>
          <p:cNvSpPr txBox="1"/>
          <p:nvPr/>
        </p:nvSpPr>
        <p:spPr>
          <a:xfrm>
            <a:off x="274320" y="5852160"/>
            <a:ext cx="2286000" cy="274320"/>
          </a:xfrm>
          <a:prstGeom prst="rect">
            <a:avLst/>
          </a:prstGeom>
          <a:noFill/>
        </p:spPr>
        <p:txBody>
          <a:bodyPr wrap="square">
            <a:spAutoFit/>
          </a:bodyPr>
          <a:lstStyle/>
          <a:p>
            <a:pPr algn="l"/>
            <a:r>
              <a:rPr sz="800" b="0">
                <a:solidFill>
                  <a:srgbClr val="64748B"/>
                </a:solidFill>
              </a:rPr>
              <a:t>→ Stable</a:t>
            </a:r>
          </a:p>
        </p:txBody>
      </p:sp>
      <p:sp>
        <p:nvSpPr>
          <p:cNvPr id="24" name="TextBox 23"/>
          <p:cNvSpPr txBox="1"/>
          <p:nvPr/>
        </p:nvSpPr>
        <p:spPr>
          <a:xfrm>
            <a:off x="2743200" y="5852160"/>
            <a:ext cx="3657600" cy="274320"/>
          </a:xfrm>
          <a:prstGeom prst="rect">
            <a:avLst/>
          </a:prstGeom>
          <a:noFill/>
        </p:spPr>
        <p:txBody>
          <a:bodyPr wrap="square">
            <a:spAutoFit/>
          </a:bodyPr>
          <a:lstStyle/>
          <a:p>
            <a:pPr algn="l"/>
            <a:r>
              <a:rPr sz="800" b="0">
                <a:solidFill>
                  <a:srgbClr val="64748B"/>
                </a:solidFill>
              </a:rPr>
              <a:t>Financially motivated threat</a:t>
            </a:r>
          </a:p>
        </p:txBody>
      </p:sp>
      <p:sp>
        <p:nvSpPr>
          <p:cNvPr id="25" name="TextBox 24"/>
          <p:cNvSpPr txBox="1"/>
          <p:nvPr/>
        </p:nvSpPr>
        <p:spPr>
          <a:xfrm>
            <a:off x="274320" y="6217920"/>
            <a:ext cx="8595360" cy="256032"/>
          </a:xfrm>
          <a:prstGeom prst="rect">
            <a:avLst/>
          </a:prstGeom>
          <a:noFill/>
        </p:spPr>
        <p:txBody>
          <a:bodyPr wrap="square">
            <a:spAutoFit/>
          </a:bodyPr>
          <a:lstStyle/>
          <a:p>
            <a:pPr algn="l"/>
            <a:r>
              <a:rPr sz="700" b="0">
                <a:solidFill>
                  <a:srgbClr val="64748B"/>
                </a:solidFill>
              </a:rPr>
              <a:t>Sources: Anvilogic Threat Report · CSIS · Geopolitical Matters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411480"/>
          </a:xfrm>
          <a:prstGeom prst="rect">
            <a:avLst/>
          </a:prstGeom>
          <a:noFill/>
        </p:spPr>
        <p:txBody>
          <a:bodyPr wrap="square">
            <a:spAutoFit/>
          </a:bodyPr>
          <a:lstStyle/>
          <a:p>
            <a:pPr algn="l"/>
            <a:r>
              <a:rPr sz="1600" b="1">
                <a:solidFill>
                  <a:srgbClr val="FFFFFF"/>
                </a:solidFill>
              </a:rPr>
              <a:t>NCE</a:t>
            </a:r>
          </a:p>
        </p:txBody>
      </p:sp>
      <p:sp>
        <p:nvSpPr>
          <p:cNvPr id="4" name="TextBox 3"/>
          <p:cNvSpPr txBox="1"/>
          <p:nvPr/>
        </p:nvSpPr>
        <p:spPr>
          <a:xfrm>
            <a:off x="274320" y="347472"/>
            <a:ext cx="5486400" cy="228600"/>
          </a:xfrm>
          <a:prstGeom prst="rect">
            <a:avLst/>
          </a:prstGeom>
          <a:noFill/>
        </p:spPr>
        <p:txBody>
          <a:bodyPr wrap="square">
            <a:spAutoFit/>
          </a:bodyPr>
          <a:lstStyle/>
          <a:p>
            <a:pPr algn="l"/>
            <a:r>
              <a:rPr sz="900" b="0">
                <a:solidFill>
                  <a:srgbClr val="BFDBFF"/>
                </a:solidFill>
              </a:rPr>
              <a:t>System intrusion</a:t>
            </a:r>
          </a:p>
        </p:txBody>
      </p:sp>
      <p:sp>
        <p:nvSpPr>
          <p:cNvPr id="5" name="Rectangle 4"/>
          <p:cNvSpPr/>
          <p:nvPr/>
        </p:nvSpPr>
        <p:spPr>
          <a:xfrm>
            <a:off x="7680960" y="109728"/>
            <a:ext cx="1188720" cy="34747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46304"/>
            <a:ext cx="1188720" cy="274320"/>
          </a:xfrm>
          <a:prstGeom prst="rect">
            <a:avLst/>
          </a:prstGeom>
          <a:noFill/>
        </p:spPr>
        <p:txBody>
          <a:bodyPr wrap="square">
            <a:spAutoFit/>
          </a:bodyPr>
          <a:lstStyle/>
          <a:p>
            <a:pPr algn="ctr"/>
            <a:r>
              <a:rPr sz="800" b="1">
                <a:solidFill>
                  <a:srgbClr val="FFFFFF"/>
                </a:solidFill>
              </a:rPr>
              <a:t>HIGH</a:t>
            </a:r>
          </a:p>
        </p:txBody>
      </p:sp>
      <p:sp>
        <p:nvSpPr>
          <p:cNvPr id="7" name="TextBox 6"/>
          <p:cNvSpPr txBox="1"/>
          <p:nvPr/>
        </p:nvSpPr>
        <p:spPr>
          <a:xfrm>
            <a:off x="274320" y="685800"/>
            <a:ext cx="8229600" cy="256032"/>
          </a:xfrm>
          <a:prstGeom prst="rect">
            <a:avLst/>
          </a:prstGeom>
          <a:noFill/>
        </p:spPr>
        <p:txBody>
          <a:bodyPr wrap="square">
            <a:spAutoFit/>
          </a:bodyPr>
          <a:lstStyle/>
          <a:p>
            <a:pPr algn="l"/>
            <a:r>
              <a:rPr sz="900" b="0">
                <a:solidFill>
                  <a:srgbClr val="64748B"/>
                </a:solidFill>
              </a:rPr>
              <a:t>ESCALATED — GEO-LED  ·  Emerging Pattern  ·  Confidence: High</a:t>
            </a:r>
          </a:p>
        </p:txBody>
      </p:sp>
      <p:sp>
        <p:nvSpPr>
          <p:cNvPr id="8" name="Rectangle 7"/>
          <p:cNvSpPr/>
          <p:nvPr/>
        </p:nvSpPr>
        <p:spPr>
          <a:xfrm>
            <a:off x="274320" y="1005840"/>
            <a:ext cx="45720" cy="82296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005840"/>
            <a:ext cx="8229600" cy="201168"/>
          </a:xfrm>
          <a:prstGeom prst="rect">
            <a:avLst/>
          </a:prstGeom>
          <a:noFill/>
        </p:spPr>
        <p:txBody>
          <a:bodyPr wrap="square">
            <a:spAutoFit/>
          </a:bodyPr>
          <a:lstStyle/>
          <a:p>
            <a:pPr algn="l"/>
            <a:r>
              <a:rPr sz="700" b="1">
                <a:solidFill>
                  <a:srgbClr val="64748B"/>
                </a:solidFill>
              </a:rPr>
              <a:t>INTEL FINDINGS</a:t>
            </a:r>
          </a:p>
        </p:txBody>
      </p:sp>
      <p:sp>
        <p:nvSpPr>
          <p:cNvPr id="10" name="TextBox 9"/>
          <p:cNvSpPr txBox="1"/>
          <p:nvPr/>
        </p:nvSpPr>
        <p:spPr>
          <a:xfrm>
            <a:off x="411480" y="1207008"/>
            <a:ext cx="8321040" cy="621792"/>
          </a:xfrm>
          <a:prstGeom prst="rect">
            <a:avLst/>
          </a:prstGeom>
          <a:noFill/>
        </p:spPr>
        <p:txBody>
          <a:bodyPr wrap="square">
            <a:spAutoFit/>
          </a:bodyPr>
          <a:lstStyle/>
          <a:p>
            <a:pPr algn="l"/>
            <a:r>
              <a:rPr sz="900" b="0">
                <a:solidFill>
                  <a:srgbClr val="1E293B"/>
                </a:solidFill>
              </a:rPr>
              <a:t>Germany failed to transpose NIS2 and the CER Directive before federal elections, leaving wind energy operators in the EU's largest manufacturing jurisdiction without a legal enforcement baseline.</a:t>
            </a:r>
          </a:p>
        </p:txBody>
      </p:sp>
      <p:sp>
        <p:nvSpPr>
          <p:cNvPr id="11" name="Rectangle 10"/>
          <p:cNvSpPr/>
          <p:nvPr/>
        </p:nvSpPr>
        <p:spPr>
          <a:xfrm>
            <a:off x="274320" y="1920240"/>
            <a:ext cx="45720" cy="82296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920240"/>
            <a:ext cx="8229600" cy="201168"/>
          </a:xfrm>
          <a:prstGeom prst="rect">
            <a:avLst/>
          </a:prstGeom>
          <a:noFill/>
        </p:spPr>
        <p:txBody>
          <a:bodyPr wrap="square">
            <a:spAutoFit/>
          </a:bodyPr>
          <a:lstStyle/>
          <a:p>
            <a:pPr algn="l"/>
            <a:r>
              <a:rPr sz="700" b="1">
                <a:solidFill>
                  <a:srgbClr val="64748B"/>
                </a:solidFill>
              </a:rPr>
              <a:t>ADVERSARY ACTIVITY</a:t>
            </a:r>
          </a:p>
        </p:txBody>
      </p:sp>
      <p:sp>
        <p:nvSpPr>
          <p:cNvPr id="13" name="TextBox 12"/>
          <p:cNvSpPr txBox="1"/>
          <p:nvPr/>
        </p:nvSpPr>
        <p:spPr>
          <a:xfrm>
            <a:off x="411480" y="2121408"/>
            <a:ext cx="8321040" cy="621792"/>
          </a:xfrm>
          <a:prstGeom prst="rect">
            <a:avLst/>
          </a:prstGeom>
          <a:noFill/>
        </p:spPr>
        <p:txBody>
          <a:bodyPr wrap="square">
            <a:spAutoFit/>
          </a:bodyPr>
          <a:lstStyle/>
          <a:p>
            <a:pPr algn="l"/>
            <a:r>
              <a:rPr sz="900" b="0">
                <a:solidFill>
                  <a:srgbClr val="1E293B"/>
                </a:solidFill>
              </a:rPr>
              <a:t>No named threat actor has been confirmed as directly targeting NCE wind manufacturing networks in the current collection window — this represents an intelligence gap, not confirmed threat absence.</a:t>
            </a:r>
          </a:p>
        </p:txBody>
      </p:sp>
      <p:sp>
        <p:nvSpPr>
          <p:cNvPr id="14" name="Rectangle 13"/>
          <p:cNvSpPr/>
          <p:nvPr/>
        </p:nvSpPr>
        <p:spPr>
          <a:xfrm>
            <a:off x="274320" y="2834640"/>
            <a:ext cx="45720" cy="8229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2834640"/>
            <a:ext cx="8229600" cy="201168"/>
          </a:xfrm>
          <a:prstGeom prst="rect">
            <a:avLst/>
          </a:prstGeom>
          <a:noFill/>
        </p:spPr>
        <p:txBody>
          <a:bodyPr wrap="square">
            <a:spAutoFit/>
          </a:bodyPr>
          <a:lstStyle/>
          <a:p>
            <a:pPr algn="l"/>
            <a:r>
              <a:rPr sz="700" b="1">
                <a:solidFill>
                  <a:srgbClr val="64748B"/>
                </a:solidFill>
              </a:rPr>
              <a:t>IMPACT FOR AEROGRID</a:t>
            </a:r>
          </a:p>
        </p:txBody>
      </p:sp>
      <p:sp>
        <p:nvSpPr>
          <p:cNvPr id="16" name="TextBox 15"/>
          <p:cNvSpPr txBox="1"/>
          <p:nvPr/>
        </p:nvSpPr>
        <p:spPr>
          <a:xfrm>
            <a:off x="411480" y="3035808"/>
            <a:ext cx="8321040" cy="621792"/>
          </a:xfrm>
          <a:prstGeom prst="rect">
            <a:avLst/>
          </a:prstGeom>
          <a:noFill/>
        </p:spPr>
        <p:txBody>
          <a:bodyPr wrap="square">
            <a:spAutoFit/>
          </a:bodyPr>
          <a:lstStyle/>
          <a:p>
            <a:pPr algn="l"/>
            <a:r>
              <a:rPr sz="900" b="0">
                <a:solidFill>
                  <a:srgbClr val="1E293B"/>
                </a:solidFill>
              </a:rPr>
              <a:t>A successful intrusion at the Hamburg Manufacturing Hub or Gdansk Blade Plant could halt manufacturing output across AeroGrid's largest European production footprint, placing Ørsted and Vattenfall contract commitments at risk.</a:t>
            </a:r>
          </a:p>
        </p:txBody>
      </p:sp>
      <p:sp>
        <p:nvSpPr>
          <p:cNvPr id="17" name="Rectangle 16"/>
          <p:cNvSpPr/>
          <p:nvPr/>
        </p:nvSpPr>
        <p:spPr>
          <a:xfrm>
            <a:off x="274320" y="3749040"/>
            <a:ext cx="45720" cy="8229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3749040"/>
            <a:ext cx="8229600" cy="201168"/>
          </a:xfrm>
          <a:prstGeom prst="rect">
            <a:avLst/>
          </a:prstGeom>
          <a:noFill/>
        </p:spPr>
        <p:txBody>
          <a:bodyPr wrap="square">
            <a:spAutoFit/>
          </a:bodyPr>
          <a:lstStyle/>
          <a:p>
            <a:pPr algn="l"/>
            <a:r>
              <a:rPr sz="700" b="1">
                <a:solidFill>
                  <a:srgbClr val="64748B"/>
                </a:solidFill>
              </a:rPr>
              <a:t>WATCH FOR</a:t>
            </a:r>
          </a:p>
        </p:txBody>
      </p:sp>
      <p:sp>
        <p:nvSpPr>
          <p:cNvPr id="19" name="TextBox 18"/>
          <p:cNvSpPr txBox="1"/>
          <p:nvPr/>
        </p:nvSpPr>
        <p:spPr>
          <a:xfrm>
            <a:off x="411480" y="3950208"/>
            <a:ext cx="8321040" cy="621792"/>
          </a:xfrm>
          <a:prstGeom prst="rect">
            <a:avLst/>
          </a:prstGeom>
          <a:noFill/>
        </p:spPr>
        <p:txBody>
          <a:bodyPr wrap="square">
            <a:spAutoFit/>
          </a:bodyPr>
          <a:lstStyle/>
          <a:p>
            <a:pPr algn="l"/>
            <a:r>
              <a:rPr sz="900" b="0">
                <a:solidFill>
                  <a:srgbClr val="1E293B"/>
                </a:solidFill>
              </a:rPr>
              <a:t>German federal transposition of NIS2 and CER stalling beyond Q3 2026, extending the enforcement gap through the next Ørsted and Vattenfall contract review cycle.</a:t>
            </a:r>
          </a:p>
        </p:txBody>
      </p:sp>
      <p:sp>
        <p:nvSpPr>
          <p:cNvPr id="20" name="Rectangle 19"/>
          <p:cNvSpPr/>
          <p:nvPr/>
        </p:nvSpPr>
        <p:spPr>
          <a:xfrm>
            <a:off x="274320" y="4663440"/>
            <a:ext cx="45720" cy="82296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4663440"/>
            <a:ext cx="8229600" cy="201168"/>
          </a:xfrm>
          <a:prstGeom prst="rect">
            <a:avLst/>
          </a:prstGeom>
          <a:noFill/>
        </p:spPr>
        <p:txBody>
          <a:bodyPr wrap="square">
            <a:spAutoFit/>
          </a:bodyPr>
          <a:lstStyle/>
          <a:p>
            <a:pPr algn="l"/>
            <a:r>
              <a:rPr sz="700" b="1">
                <a:solidFill>
                  <a:srgbClr val="64748B"/>
                </a:solidFill>
              </a:rPr>
              <a:t>RECOMMENDED ACTION</a:t>
            </a:r>
          </a:p>
        </p:txBody>
      </p:sp>
      <p:sp>
        <p:nvSpPr>
          <p:cNvPr id="22" name="TextBox 21"/>
          <p:cNvSpPr txBox="1"/>
          <p:nvPr/>
        </p:nvSpPr>
        <p:spPr>
          <a:xfrm>
            <a:off x="411480" y="4864608"/>
            <a:ext cx="8321040" cy="621792"/>
          </a:xfrm>
          <a:prstGeom prst="rect">
            <a:avLst/>
          </a:prstGeom>
          <a:noFill/>
        </p:spPr>
        <p:txBody>
          <a:bodyPr wrap="square">
            <a:spAutoFit/>
          </a:bodyPr>
          <a:lstStyle/>
          <a:p>
            <a:pPr algn="l"/>
            <a:r>
              <a:rPr sz="900" b="0">
                <a:solidFill>
                  <a:srgbClr val="1E293B"/>
                </a:solidFill>
              </a:rPr>
              <a:t>Audit third-party and supply chain access credentials for privileged systems at Hamburg and Gdansk manufacturing sites.</a:t>
            </a:r>
          </a:p>
        </p:txBody>
      </p:sp>
      <p:sp>
        <p:nvSpPr>
          <p:cNvPr id="23" name="TextBox 22"/>
          <p:cNvSpPr txBox="1"/>
          <p:nvPr/>
        </p:nvSpPr>
        <p:spPr>
          <a:xfrm>
            <a:off x="274320" y="5852160"/>
            <a:ext cx="2286000" cy="274320"/>
          </a:xfrm>
          <a:prstGeom prst="rect">
            <a:avLst/>
          </a:prstGeom>
          <a:noFill/>
        </p:spPr>
        <p:txBody>
          <a:bodyPr wrap="square">
            <a:spAutoFit/>
          </a:bodyPr>
          <a:lstStyle/>
          <a:p>
            <a:pPr algn="l"/>
            <a:r>
              <a:rPr sz="800" b="0">
                <a:solidFill>
                  <a:srgbClr val="64748B"/>
                </a:solidFill>
              </a:rPr>
              <a:t>↓ Improving</a:t>
            </a:r>
          </a:p>
        </p:txBody>
      </p:sp>
      <p:sp>
        <p:nvSpPr>
          <p:cNvPr id="24" name="TextBox 23"/>
          <p:cNvSpPr txBox="1"/>
          <p:nvPr/>
        </p:nvSpPr>
        <p:spPr>
          <a:xfrm>
            <a:off x="2743200" y="5852160"/>
            <a:ext cx="3657600" cy="274320"/>
          </a:xfrm>
          <a:prstGeom prst="rect">
            <a:avLst/>
          </a:prstGeom>
          <a:noFill/>
        </p:spPr>
        <p:txBody>
          <a:bodyPr wrap="square">
            <a:spAutoFit/>
          </a:bodyPr>
          <a:lstStyle/>
          <a:p>
            <a:pPr algn="l"/>
            <a:r>
              <a:rPr sz="800" b="0">
                <a:solidFill>
                  <a:srgbClr val="64748B"/>
                </a:solidFill>
              </a:rPr>
              <a:t>State-directed threat</a:t>
            </a:r>
          </a:p>
        </p:txBody>
      </p:sp>
      <p:sp>
        <p:nvSpPr>
          <p:cNvPr id="25" name="TextBox 24"/>
          <p:cNvSpPr txBox="1"/>
          <p:nvPr/>
        </p:nvSpPr>
        <p:spPr>
          <a:xfrm>
            <a:off x="274320" y="6217920"/>
            <a:ext cx="8595360" cy="256032"/>
          </a:xfrm>
          <a:prstGeom prst="rect">
            <a:avLst/>
          </a:prstGeom>
          <a:noFill/>
        </p:spPr>
        <p:txBody>
          <a:bodyPr wrap="square">
            <a:spAutoFit/>
          </a:bodyPr>
          <a:lstStyle/>
          <a:p>
            <a:pPr algn="l"/>
            <a:r>
              <a:rPr sz="700" b="0">
                <a:solidFill>
                  <a:srgbClr val="64748B"/>
                </a:solidFill>
              </a:rPr>
              <a:t>Sources: Cattwyk — No implementation of NIS-2 and CER directives before the federal election · EU-CIP — The CER Directive: General and sectoral implementation · Wavestone — CER Directive: Status &amp; lessons across Europe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6400800" cy="411480"/>
          </a:xfrm>
          <a:prstGeom prst="rect">
            <a:avLst/>
          </a:prstGeom>
          <a:noFill/>
        </p:spPr>
        <p:txBody>
          <a:bodyPr wrap="square">
            <a:spAutoFit/>
          </a:bodyPr>
          <a:lstStyle/>
          <a:p>
            <a:pPr algn="l"/>
            <a:r>
              <a:rPr sz="1600" b="1">
                <a:solidFill>
                  <a:srgbClr val="FFFFFF"/>
                </a:solidFill>
              </a:rPr>
              <a:t>Appendix</a:t>
            </a:r>
          </a:p>
        </p:txBody>
      </p:sp>
      <p:sp>
        <p:nvSpPr>
          <p:cNvPr id="4" name="TextBox 3"/>
          <p:cNvSpPr txBox="1"/>
          <p:nvPr/>
        </p:nvSpPr>
        <p:spPr>
          <a:xfrm>
            <a:off x="365760" y="777240"/>
            <a:ext cx="8229600" cy="274320"/>
          </a:xfrm>
          <a:prstGeom prst="rect">
            <a:avLst/>
          </a:prstGeom>
          <a:noFill/>
        </p:spPr>
        <p:txBody>
          <a:bodyPr wrap="square">
            <a:spAutoFit/>
          </a:bodyPr>
          <a:lstStyle/>
          <a:p>
            <a:pPr algn="l"/>
            <a:r>
              <a:rPr sz="900" b="1">
                <a:solidFill>
                  <a:srgbClr val="D97706"/>
                </a:solidFill>
              </a:rPr>
              <a:t>WATCH — MONITOR REGIONS</a:t>
            </a:r>
          </a:p>
        </p:txBody>
      </p:sp>
      <p:sp>
        <p:nvSpPr>
          <p:cNvPr id="5" name="TextBox 4"/>
          <p:cNvSpPr txBox="1"/>
          <p:nvPr/>
        </p:nvSpPr>
        <p:spPr>
          <a:xfrm>
            <a:off x="548640" y="1097280"/>
            <a:ext cx="8229600" cy="320040"/>
          </a:xfrm>
          <a:prstGeom prst="rect">
            <a:avLst/>
          </a:prstGeom>
          <a:noFill/>
        </p:spPr>
        <p:txBody>
          <a:bodyPr wrap="square">
            <a:spAutoFit/>
          </a:bodyPr>
          <a:lstStyle/>
          <a:p>
            <a:pPr algn="l"/>
            <a:r>
              <a:rPr sz="900" b="0">
                <a:solidFill>
                  <a:srgbClr val="1E293B"/>
                </a:solidFill>
              </a:rPr>
              <a:t>AME  ·  Physical threat  ·  Confidence: Medium  ·  CRITICAL</a:t>
            </a:r>
          </a:p>
        </p:txBody>
      </p:sp>
      <p:sp>
        <p:nvSpPr>
          <p:cNvPr id="6" name="TextBox 5"/>
          <p:cNvSpPr txBox="1"/>
          <p:nvPr/>
        </p:nvSpPr>
        <p:spPr>
          <a:xfrm>
            <a:off x="365760" y="1627632"/>
            <a:ext cx="8229600" cy="274320"/>
          </a:xfrm>
          <a:prstGeom prst="rect">
            <a:avLst/>
          </a:prstGeom>
          <a:noFill/>
        </p:spPr>
        <p:txBody>
          <a:bodyPr wrap="square">
            <a:spAutoFit/>
          </a:bodyPr>
          <a:lstStyle/>
          <a:p>
            <a:pPr algn="l"/>
            <a:r>
              <a:rPr sz="900" b="1">
                <a:solidFill>
                  <a:srgbClr val="64748B"/>
                </a:solidFill>
              </a:rPr>
              <a:t>RUN METADATA</a:t>
            </a:r>
          </a:p>
        </p:txBody>
      </p:sp>
      <p:sp>
        <p:nvSpPr>
          <p:cNvPr id="7" name="TextBox 6"/>
          <p:cNvSpPr txBox="1"/>
          <p:nvPr/>
        </p:nvSpPr>
        <p:spPr>
          <a:xfrm>
            <a:off x="548640" y="1947672"/>
            <a:ext cx="8229600" cy="274320"/>
          </a:xfrm>
          <a:prstGeom prst="rect">
            <a:avLst/>
          </a:prstGeom>
          <a:noFill/>
        </p:spPr>
        <p:txBody>
          <a:bodyPr wrap="square">
            <a:spAutoFit/>
          </a:bodyPr>
          <a:lstStyle/>
          <a:p>
            <a:pPr algn="l"/>
            <a:r>
              <a:rPr sz="900" b="0">
                <a:solidFill>
                  <a:srgbClr val="1E293B"/>
                </a:solidFill>
              </a:rPr>
              <a:t>Pipeline ID:  crq-2026-04-05T130036Z</a:t>
            </a:r>
          </a:p>
        </p:txBody>
      </p:sp>
      <p:sp>
        <p:nvSpPr>
          <p:cNvPr id="8" name="TextBox 7"/>
          <p:cNvSpPr txBox="1"/>
          <p:nvPr/>
        </p:nvSpPr>
        <p:spPr>
          <a:xfrm>
            <a:off x="548640" y="2221992"/>
            <a:ext cx="8229600" cy="274320"/>
          </a:xfrm>
          <a:prstGeom prst="rect">
            <a:avLst/>
          </a:prstGeom>
          <a:noFill/>
        </p:spPr>
        <p:txBody>
          <a:bodyPr wrap="square">
            <a:spAutoFit/>
          </a:bodyPr>
          <a:lstStyle/>
          <a:p>
            <a:pPr algn="l"/>
            <a:r>
              <a:rPr sz="900" b="0">
                <a:solidFill>
                  <a:srgbClr val="1E293B"/>
                </a:solidFill>
              </a:rPr>
              <a:t>Timestamp:  2026-04-05T13:00:36Z</a:t>
            </a:r>
          </a:p>
        </p:txBody>
      </p:sp>
      <p:sp>
        <p:nvSpPr>
          <p:cNvPr id="9" name="TextBox 8"/>
          <p:cNvSpPr txBox="1"/>
          <p:nvPr/>
        </p:nvSpPr>
        <p:spPr>
          <a:xfrm>
            <a:off x="548640" y="2496312"/>
            <a:ext cx="8229600" cy="274320"/>
          </a:xfrm>
          <a:prstGeom prst="rect">
            <a:avLst/>
          </a:prstGeom>
          <a:noFill/>
        </p:spPr>
        <p:txBody>
          <a:bodyPr wrap="square">
            <a:spAutoFit/>
          </a:bodyPr>
          <a:lstStyle/>
          <a:p>
            <a:pPr algn="l"/>
            <a:r>
              <a:rPr sz="900" b="0">
                <a:solidFill>
                  <a:srgbClr val="1E293B"/>
                </a:solidFill>
              </a:rPr>
              <a:t>Escalated:  4</a:t>
            </a:r>
          </a:p>
        </p:txBody>
      </p:sp>
      <p:sp>
        <p:nvSpPr>
          <p:cNvPr id="10" name="TextBox 9"/>
          <p:cNvSpPr txBox="1"/>
          <p:nvPr/>
        </p:nvSpPr>
        <p:spPr>
          <a:xfrm>
            <a:off x="548640" y="2770632"/>
            <a:ext cx="8229600" cy="274320"/>
          </a:xfrm>
          <a:prstGeom prst="rect">
            <a:avLst/>
          </a:prstGeom>
          <a:noFill/>
        </p:spPr>
        <p:txBody>
          <a:bodyPr wrap="square">
            <a:spAutoFit/>
          </a:bodyPr>
          <a:lstStyle/>
          <a:p>
            <a:pPr algn="l"/>
            <a:r>
              <a:rPr sz="900" b="0">
                <a:solidFill>
                  <a:srgbClr val="1E293B"/>
                </a:solidFill>
              </a:rPr>
              <a:t>Monitor:  1</a:t>
            </a:r>
          </a:p>
        </p:txBody>
      </p:sp>
      <p:sp>
        <p:nvSpPr>
          <p:cNvPr id="11" name="TextBox 10"/>
          <p:cNvSpPr txBox="1"/>
          <p:nvPr/>
        </p:nvSpPr>
        <p:spPr>
          <a:xfrm>
            <a:off x="548640" y="3044952"/>
            <a:ext cx="8229600" cy="274320"/>
          </a:xfrm>
          <a:prstGeom prst="rect">
            <a:avLst/>
          </a:prstGeom>
          <a:noFill/>
        </p:spPr>
        <p:txBody>
          <a:bodyPr wrap="square">
            <a:spAutoFit/>
          </a:bodyPr>
          <a:lstStyle/>
          <a:p>
            <a:pPr algn="l"/>
            <a:r>
              <a:rPr sz="900" b="0">
                <a:solidFill>
                  <a:srgbClr val="1E293B"/>
                </a:solidFill>
              </a:rPr>
              <a:t>Clear:  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