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31089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046720" cy="457200"/>
          </a:xfrm>
          <a:prstGeom prst="rect">
            <a:avLst/>
          </a:prstGeom>
          <a:noFill/>
        </p:spPr>
        <p:txBody>
          <a:bodyPr wrap="square">
            <a:spAutoFit/>
          </a:bodyPr>
          <a:lstStyle/>
          <a:p>
            <a:pPr algn="l"/>
            <a:r>
              <a:rPr sz="1300" b="0">
                <a:solidFill>
                  <a:srgbClr val="BFDBFF"/>
                </a:solidFill>
              </a:rPr>
              <a:t>AeroGrid Wind Solutions</a:t>
            </a:r>
          </a:p>
        </p:txBody>
      </p:sp>
      <p:sp>
        <p:nvSpPr>
          <p:cNvPr id="4" name="TextBox 3"/>
          <p:cNvSpPr txBox="1"/>
          <p:nvPr/>
        </p:nvSpPr>
        <p:spPr>
          <a:xfrm>
            <a:off x="548640" y="1005840"/>
            <a:ext cx="8046720" cy="1828800"/>
          </a:xfrm>
          <a:prstGeom prst="rect">
            <a:avLst/>
          </a:prstGeom>
          <a:noFill/>
        </p:spPr>
        <p:txBody>
          <a:bodyPr wrap="square">
            <a:spAutoFit/>
          </a:bodyPr>
          <a:lstStyle/>
          <a:p>
            <a:pPr algn="l"/>
            <a:r>
              <a:rPr sz="2800" b="1">
                <a:solidFill>
                  <a:srgbClr val="FFFFFF"/>
                </a:solidFill>
              </a:rPr>
              <a:t>Global Cyber Risk
Intelligence Brief</a:t>
            </a:r>
          </a:p>
        </p:txBody>
      </p:sp>
      <p:sp>
        <p:nvSpPr>
          <p:cNvPr id="5" name="TextBox 4"/>
          <p:cNvSpPr txBox="1"/>
          <p:nvPr/>
        </p:nvSpPr>
        <p:spPr>
          <a:xfrm>
            <a:off x="548640" y="2743200"/>
            <a:ext cx="8046720" cy="320040"/>
          </a:xfrm>
          <a:prstGeom prst="rect">
            <a:avLst/>
          </a:prstGeom>
          <a:noFill/>
        </p:spPr>
        <p:txBody>
          <a:bodyPr wrap="square">
            <a:spAutoFit/>
          </a:bodyPr>
          <a:lstStyle/>
          <a:p>
            <a:pPr algn="l"/>
            <a:r>
              <a:rPr sz="1400" b="0">
                <a:solidFill>
                  <a:srgbClr val="BFDBFF"/>
                </a:solidFill>
              </a:rPr>
              <a:t>CISO Edition</a:t>
            </a:r>
          </a:p>
        </p:txBody>
      </p:sp>
      <p:sp>
        <p:nvSpPr>
          <p:cNvPr id="6" name="Rectangle 5"/>
          <p:cNvSpPr/>
          <p:nvPr/>
        </p:nvSpPr>
        <p:spPr>
          <a:xfrm>
            <a:off x="548640" y="3383280"/>
            <a:ext cx="1097280" cy="6858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410712"/>
            <a:ext cx="1097280" cy="365760"/>
          </a:xfrm>
          <a:prstGeom prst="rect">
            <a:avLst/>
          </a:prstGeom>
          <a:noFill/>
        </p:spPr>
        <p:txBody>
          <a:bodyPr wrap="square">
            <a:spAutoFit/>
          </a:bodyPr>
          <a:lstStyle/>
          <a:p>
            <a:pPr algn="ctr"/>
            <a:r>
              <a:rPr sz="2000" b="1">
                <a:solidFill>
                  <a:srgbClr val="FFFFFF"/>
                </a:solidFill>
              </a:rPr>
              <a:t>3</a:t>
            </a:r>
          </a:p>
        </p:txBody>
      </p:sp>
      <p:sp>
        <p:nvSpPr>
          <p:cNvPr id="8" name="TextBox 7"/>
          <p:cNvSpPr txBox="1"/>
          <p:nvPr/>
        </p:nvSpPr>
        <p:spPr>
          <a:xfrm>
            <a:off x="548640" y="3749039"/>
            <a:ext cx="1097280" cy="274320"/>
          </a:xfrm>
          <a:prstGeom prst="rect">
            <a:avLst/>
          </a:prstGeom>
          <a:noFill/>
        </p:spPr>
        <p:txBody>
          <a:bodyPr wrap="square">
            <a:spAutoFit/>
          </a:bodyPr>
          <a:lstStyle/>
          <a:p>
            <a:pPr algn="ctr"/>
            <a:r>
              <a:rPr sz="700" b="0">
                <a:solidFill>
                  <a:srgbClr val="FFFFFF"/>
                </a:solidFill>
              </a:rPr>
              <a:t>ESCALATED</a:t>
            </a:r>
          </a:p>
        </p:txBody>
      </p:sp>
      <p:sp>
        <p:nvSpPr>
          <p:cNvPr id="9" name="Rectangle 8"/>
          <p:cNvSpPr/>
          <p:nvPr/>
        </p:nvSpPr>
        <p:spPr>
          <a:xfrm>
            <a:off x="1920240" y="3383280"/>
            <a:ext cx="1097280" cy="6858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20240" y="3410712"/>
            <a:ext cx="1097280" cy="365760"/>
          </a:xfrm>
          <a:prstGeom prst="rect">
            <a:avLst/>
          </a:prstGeom>
          <a:noFill/>
        </p:spPr>
        <p:txBody>
          <a:bodyPr wrap="square">
            <a:spAutoFit/>
          </a:bodyPr>
          <a:lstStyle/>
          <a:p>
            <a:pPr algn="ctr"/>
            <a:r>
              <a:rPr sz="2000" b="1">
                <a:solidFill>
                  <a:srgbClr val="FFFFFF"/>
                </a:solidFill>
              </a:rPr>
              <a:t>0</a:t>
            </a:r>
          </a:p>
        </p:txBody>
      </p:sp>
      <p:sp>
        <p:nvSpPr>
          <p:cNvPr id="11" name="TextBox 10"/>
          <p:cNvSpPr txBox="1"/>
          <p:nvPr/>
        </p:nvSpPr>
        <p:spPr>
          <a:xfrm>
            <a:off x="1920240" y="3749039"/>
            <a:ext cx="1097280" cy="274320"/>
          </a:xfrm>
          <a:prstGeom prst="rect">
            <a:avLst/>
          </a:prstGeom>
          <a:noFill/>
        </p:spPr>
        <p:txBody>
          <a:bodyPr wrap="square">
            <a:spAutoFit/>
          </a:bodyPr>
          <a:lstStyle/>
          <a:p>
            <a:pPr algn="ctr"/>
            <a:r>
              <a:rPr sz="700" b="0">
                <a:solidFill>
                  <a:srgbClr val="FFFFFF"/>
                </a:solidFill>
              </a:rPr>
              <a:t>MONITOR</a:t>
            </a:r>
          </a:p>
        </p:txBody>
      </p:sp>
      <p:sp>
        <p:nvSpPr>
          <p:cNvPr id="12" name="Rectangle 11"/>
          <p:cNvSpPr/>
          <p:nvPr/>
        </p:nvSpPr>
        <p:spPr>
          <a:xfrm>
            <a:off x="3291840" y="3383280"/>
            <a:ext cx="1097280" cy="6858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91840" y="3410712"/>
            <a:ext cx="1097280" cy="365760"/>
          </a:xfrm>
          <a:prstGeom prst="rect">
            <a:avLst/>
          </a:prstGeom>
          <a:noFill/>
        </p:spPr>
        <p:txBody>
          <a:bodyPr wrap="square">
            <a:spAutoFit/>
          </a:bodyPr>
          <a:lstStyle/>
          <a:p>
            <a:pPr algn="ctr"/>
            <a:r>
              <a:rPr sz="2000" b="1">
                <a:solidFill>
                  <a:srgbClr val="FFFFFF"/>
                </a:solidFill>
              </a:rPr>
              <a:t>2</a:t>
            </a:r>
          </a:p>
        </p:txBody>
      </p:sp>
      <p:sp>
        <p:nvSpPr>
          <p:cNvPr id="14" name="TextBox 13"/>
          <p:cNvSpPr txBox="1"/>
          <p:nvPr/>
        </p:nvSpPr>
        <p:spPr>
          <a:xfrm>
            <a:off x="3291840" y="3749039"/>
            <a:ext cx="1097280" cy="274320"/>
          </a:xfrm>
          <a:prstGeom prst="rect">
            <a:avLst/>
          </a:prstGeom>
          <a:noFill/>
        </p:spPr>
        <p:txBody>
          <a:bodyPr wrap="square">
            <a:spAutoFit/>
          </a:bodyPr>
          <a:lstStyle/>
          <a:p>
            <a:pPr algn="ctr"/>
            <a:r>
              <a:rPr sz="700" b="0">
                <a:solidFill>
                  <a:srgbClr val="FFFFFF"/>
                </a:solidFill>
              </a:rPr>
              <a:t>CLEAR</a:t>
            </a:r>
          </a:p>
        </p:txBody>
      </p:sp>
      <p:sp>
        <p:nvSpPr>
          <p:cNvPr id="15" name="TextBox 14"/>
          <p:cNvSpPr txBox="1"/>
          <p:nvPr/>
        </p:nvSpPr>
        <p:spPr>
          <a:xfrm>
            <a:off x="548640" y="4572000"/>
            <a:ext cx="7315200" cy="365760"/>
          </a:xfrm>
          <a:prstGeom prst="rect">
            <a:avLst/>
          </a:prstGeom>
          <a:noFill/>
        </p:spPr>
        <p:txBody>
          <a:bodyPr wrap="square">
            <a:spAutoFit/>
          </a:bodyPr>
          <a:lstStyle/>
          <a:p>
            <a:pPr algn="l"/>
            <a:r>
              <a:rPr sz="900" b="0">
                <a:solidFill>
                  <a:srgbClr val="64748B"/>
                </a:solidFill>
              </a:rPr>
              <a:t>Pipeline ID: crq-2026-03-20T071612Z   |   2026-03-20T07:16:12Z</a:t>
            </a:r>
          </a:p>
        </p:txBody>
      </p:sp>
      <p:sp>
        <p:nvSpPr>
          <p:cNvPr id="16" name="TextBox 15"/>
          <p:cNvSpPr txBox="1"/>
          <p:nvPr/>
        </p:nvSpPr>
        <p:spPr>
          <a:xfrm>
            <a:off x="6858000" y="6309360"/>
            <a:ext cx="2103120" cy="365760"/>
          </a:xfrm>
          <a:prstGeom prst="rect">
            <a:avLst/>
          </a:prstGeom>
          <a:noFill/>
        </p:spPr>
        <p:txBody>
          <a:bodyPr wrap="square">
            <a:spAutoFit/>
          </a:bodyPr>
          <a:lstStyle/>
          <a:p>
            <a:pPr algn="r"/>
            <a:r>
              <a:rPr sz="800" b="1">
                <a:solidFill>
                  <a:srgbClr val="DC2626"/>
                </a:solidFill>
              </a:rPr>
              <a:t>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6400800" cy="411480"/>
          </a:xfrm>
          <a:prstGeom prst="rect">
            <a:avLst/>
          </a:prstGeom>
          <a:noFill/>
        </p:spPr>
        <p:txBody>
          <a:bodyPr wrap="square">
            <a:spAutoFit/>
          </a:bodyPr>
          <a:lstStyle/>
          <a:p>
            <a:pPr algn="l"/>
            <a:r>
              <a:rPr sz="1600" b="1">
                <a:solidFill>
                  <a:srgbClr val="FFFFFF"/>
                </a:solidFill>
              </a:rPr>
              <a:t>Executive Summary</a:t>
            </a:r>
          </a:p>
        </p:txBody>
      </p:sp>
      <p:sp>
        <p:nvSpPr>
          <p:cNvPr id="4" name="Rectangle 3"/>
          <p:cNvSpPr/>
          <p:nvPr/>
        </p:nvSpPr>
        <p:spPr>
          <a:xfrm>
            <a:off x="365760" y="777240"/>
            <a:ext cx="1005840" cy="6858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804672"/>
            <a:ext cx="1005840" cy="365760"/>
          </a:xfrm>
          <a:prstGeom prst="rect">
            <a:avLst/>
          </a:prstGeom>
          <a:noFill/>
        </p:spPr>
        <p:txBody>
          <a:bodyPr wrap="square">
            <a:spAutoFit/>
          </a:bodyPr>
          <a:lstStyle/>
          <a:p>
            <a:pPr algn="ctr"/>
            <a:r>
              <a:rPr sz="2000" b="1">
                <a:solidFill>
                  <a:srgbClr val="FFFFFF"/>
                </a:solidFill>
              </a:rPr>
              <a:t>3</a:t>
            </a:r>
          </a:p>
        </p:txBody>
      </p:sp>
      <p:sp>
        <p:nvSpPr>
          <p:cNvPr id="6" name="TextBox 5"/>
          <p:cNvSpPr txBox="1"/>
          <p:nvPr/>
        </p:nvSpPr>
        <p:spPr>
          <a:xfrm>
            <a:off x="365760" y="1143000"/>
            <a:ext cx="1005840" cy="274320"/>
          </a:xfrm>
          <a:prstGeom prst="rect">
            <a:avLst/>
          </a:prstGeom>
          <a:noFill/>
        </p:spPr>
        <p:txBody>
          <a:bodyPr wrap="square">
            <a:spAutoFit/>
          </a:bodyPr>
          <a:lstStyle/>
          <a:p>
            <a:pPr algn="ctr"/>
            <a:r>
              <a:rPr sz="700" b="0">
                <a:solidFill>
                  <a:srgbClr val="FFFFFF"/>
                </a:solidFill>
              </a:rPr>
              <a:t>ESCALATED</a:t>
            </a:r>
          </a:p>
        </p:txBody>
      </p:sp>
      <p:sp>
        <p:nvSpPr>
          <p:cNvPr id="7" name="Rectangle 6"/>
          <p:cNvSpPr/>
          <p:nvPr/>
        </p:nvSpPr>
        <p:spPr>
          <a:xfrm>
            <a:off x="1554480" y="777240"/>
            <a:ext cx="1005840" cy="6858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54480" y="804672"/>
            <a:ext cx="1005840" cy="365760"/>
          </a:xfrm>
          <a:prstGeom prst="rect">
            <a:avLst/>
          </a:prstGeom>
          <a:noFill/>
        </p:spPr>
        <p:txBody>
          <a:bodyPr wrap="square">
            <a:spAutoFit/>
          </a:bodyPr>
          <a:lstStyle/>
          <a:p>
            <a:pPr algn="ctr"/>
            <a:r>
              <a:rPr sz="2000" b="1">
                <a:solidFill>
                  <a:srgbClr val="FFFFFF"/>
                </a:solidFill>
              </a:rPr>
              <a:t>0</a:t>
            </a:r>
          </a:p>
        </p:txBody>
      </p:sp>
      <p:sp>
        <p:nvSpPr>
          <p:cNvPr id="9" name="TextBox 8"/>
          <p:cNvSpPr txBox="1"/>
          <p:nvPr/>
        </p:nvSpPr>
        <p:spPr>
          <a:xfrm>
            <a:off x="1554480" y="1143000"/>
            <a:ext cx="1005840" cy="274320"/>
          </a:xfrm>
          <a:prstGeom prst="rect">
            <a:avLst/>
          </a:prstGeom>
          <a:noFill/>
        </p:spPr>
        <p:txBody>
          <a:bodyPr wrap="square">
            <a:spAutoFit/>
          </a:bodyPr>
          <a:lstStyle/>
          <a:p>
            <a:pPr algn="ctr"/>
            <a:r>
              <a:rPr sz="700" b="0">
                <a:solidFill>
                  <a:srgbClr val="FFFFFF"/>
                </a:solidFill>
              </a:rPr>
              <a:t>MONITOR</a:t>
            </a:r>
          </a:p>
        </p:txBody>
      </p:sp>
      <p:sp>
        <p:nvSpPr>
          <p:cNvPr id="10" name="Rectangle 9"/>
          <p:cNvSpPr/>
          <p:nvPr/>
        </p:nvSpPr>
        <p:spPr>
          <a:xfrm>
            <a:off x="2743200" y="777240"/>
            <a:ext cx="1005840" cy="6858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0" y="804672"/>
            <a:ext cx="1005840" cy="365760"/>
          </a:xfrm>
          <a:prstGeom prst="rect">
            <a:avLst/>
          </a:prstGeom>
          <a:noFill/>
        </p:spPr>
        <p:txBody>
          <a:bodyPr wrap="square">
            <a:spAutoFit/>
          </a:bodyPr>
          <a:lstStyle/>
          <a:p>
            <a:pPr algn="ctr"/>
            <a:r>
              <a:rPr sz="2000" b="1">
                <a:solidFill>
                  <a:srgbClr val="FFFFFF"/>
                </a:solidFill>
              </a:rPr>
              <a:t>2</a:t>
            </a:r>
          </a:p>
        </p:txBody>
      </p:sp>
      <p:sp>
        <p:nvSpPr>
          <p:cNvPr id="12" name="TextBox 11"/>
          <p:cNvSpPr txBox="1"/>
          <p:nvPr/>
        </p:nvSpPr>
        <p:spPr>
          <a:xfrm>
            <a:off x="2743200" y="1143000"/>
            <a:ext cx="1005840" cy="274320"/>
          </a:xfrm>
          <a:prstGeom prst="rect">
            <a:avLst/>
          </a:prstGeom>
          <a:noFill/>
        </p:spPr>
        <p:txBody>
          <a:bodyPr wrap="square">
            <a:spAutoFit/>
          </a:bodyPr>
          <a:lstStyle/>
          <a:p>
            <a:pPr algn="ctr"/>
            <a:r>
              <a:rPr sz="700" b="0">
                <a:solidFill>
                  <a:srgbClr val="FFFFFF"/>
                </a:solidFill>
              </a:rPr>
              <a:t>CLEAR</a:t>
            </a:r>
          </a:p>
        </p:txBody>
      </p:sp>
      <p:sp>
        <p:nvSpPr>
          <p:cNvPr id="13" name="TextBox 12"/>
          <p:cNvSpPr txBox="1"/>
          <p:nvPr/>
        </p:nvSpPr>
        <p:spPr>
          <a:xfrm>
            <a:off x="365760" y="1645920"/>
            <a:ext cx="8412480" cy="914400"/>
          </a:xfrm>
          <a:prstGeom prst="rect">
            <a:avLst/>
          </a:prstGeom>
          <a:noFill/>
        </p:spPr>
        <p:txBody>
          <a:bodyPr wrap="square">
            <a:spAutoFit/>
          </a:bodyPr>
          <a:lstStyle/>
          <a:p>
            <a:pPr algn="l"/>
            <a:r>
              <a:rPr sz="1000" b="0">
                <a:solidFill>
                  <a:srgbClr val="1E293B"/>
                </a:solidFill>
              </a:rPr>
              <a:t>The single most important fact for the board is that three of AeroGrid's five operational regions are simultaneously escalated, with combined quantified exposure of $44,700,000, and each threat independently targets a distinct crown jewel: proprietary turbine IP in APAC, live wind farm telemetry and maintenance scheduling in AME, and predictive maintenance access in MED. This is a compound risk posture, not three isolated incidents — the convergence of state-directed IP collection, financially motivated extortion against operational platforms, and workforce-driven insider access abuse means AeroGrid faces simultaneous pressure on manufacturing capacity, service delivery continuity, and the integrity of the algorithms that underpin both. All three escalated regions share a cross-cutting pattern: every active threat targets turbine operational technology or predictive maintenance systems — the same assets that appear in AeroGrid's crown jewel register — indicating that the company's most competitively sensitive capabilities are the consistent point of exposure across geographies and threat types regardless of actor or method. Global velocity is stable across all five regions and has held at current severity levels across five consecutive pipeline runs, confirming this compound posture is entrenched rather than transient — neither accelerating nor resolving.</a:t>
            </a:r>
          </a:p>
        </p:txBody>
      </p:sp>
      <p:sp>
        <p:nvSpPr>
          <p:cNvPr id="14" name="TextBox 13"/>
          <p:cNvSpPr txBox="1"/>
          <p:nvPr/>
        </p:nvSpPr>
        <p:spPr>
          <a:xfrm>
            <a:off x="365760" y="2743200"/>
            <a:ext cx="1097280" cy="274320"/>
          </a:xfrm>
          <a:prstGeom prst="rect">
            <a:avLst/>
          </a:prstGeom>
          <a:noFill/>
        </p:spPr>
        <p:txBody>
          <a:bodyPr wrap="square">
            <a:spAutoFit/>
          </a:bodyPr>
          <a:lstStyle/>
          <a:p>
            <a:pPr algn="l"/>
            <a:r>
              <a:rPr sz="800" b="1">
                <a:solidFill>
                  <a:srgbClr val="64748B"/>
                </a:solidFill>
              </a:rPr>
              <a:t>Region</a:t>
            </a:r>
          </a:p>
        </p:txBody>
      </p:sp>
      <p:sp>
        <p:nvSpPr>
          <p:cNvPr id="15" name="TextBox 14"/>
          <p:cNvSpPr txBox="1"/>
          <p:nvPr/>
        </p:nvSpPr>
        <p:spPr>
          <a:xfrm>
            <a:off x="1463040" y="2743200"/>
            <a:ext cx="2011680" cy="274320"/>
          </a:xfrm>
          <a:prstGeom prst="rect">
            <a:avLst/>
          </a:prstGeom>
          <a:noFill/>
        </p:spPr>
        <p:txBody>
          <a:bodyPr wrap="square">
            <a:spAutoFit/>
          </a:bodyPr>
          <a:lstStyle/>
          <a:p>
            <a:pPr algn="l"/>
            <a:r>
              <a:rPr sz="800" b="1">
                <a:solidFill>
                  <a:srgbClr val="64748B"/>
                </a:solidFill>
              </a:rPr>
              <a:t>Scenario</a:t>
            </a:r>
          </a:p>
        </p:txBody>
      </p:sp>
      <p:sp>
        <p:nvSpPr>
          <p:cNvPr id="16" name="TextBox 15"/>
          <p:cNvSpPr txBox="1"/>
          <p:nvPr/>
        </p:nvSpPr>
        <p:spPr>
          <a:xfrm>
            <a:off x="3474720" y="2743200"/>
            <a:ext cx="1280160" cy="274320"/>
          </a:xfrm>
          <a:prstGeom prst="rect">
            <a:avLst/>
          </a:prstGeom>
          <a:noFill/>
        </p:spPr>
        <p:txBody>
          <a:bodyPr wrap="square">
            <a:spAutoFit/>
          </a:bodyPr>
          <a:lstStyle/>
          <a:p>
            <a:pPr algn="l"/>
            <a:r>
              <a:rPr sz="800" b="1">
                <a:solidFill>
                  <a:srgbClr val="64748B"/>
                </a:solidFill>
              </a:rPr>
              <a:t>Severity</a:t>
            </a:r>
          </a:p>
        </p:txBody>
      </p:sp>
      <p:sp>
        <p:nvSpPr>
          <p:cNvPr id="17" name="TextBox 16"/>
          <p:cNvSpPr txBox="1"/>
          <p:nvPr/>
        </p:nvSpPr>
        <p:spPr>
          <a:xfrm>
            <a:off x="4754880" y="2743200"/>
            <a:ext cx="1645920" cy="274320"/>
          </a:xfrm>
          <a:prstGeom prst="rect">
            <a:avLst/>
          </a:prstGeom>
          <a:noFill/>
        </p:spPr>
        <p:txBody>
          <a:bodyPr wrap="square">
            <a:spAutoFit/>
          </a:bodyPr>
          <a:lstStyle/>
          <a:p>
            <a:pPr algn="l"/>
            <a:r>
              <a:rPr sz="800" b="1">
                <a:solidFill>
                  <a:srgbClr val="64748B"/>
                </a:solidFill>
              </a:rPr>
              <a:t>Velocity</a:t>
            </a:r>
          </a:p>
        </p:txBody>
      </p:sp>
      <p:sp>
        <p:nvSpPr>
          <p:cNvPr id="18" name="TextBox 17"/>
          <p:cNvSpPr txBox="1"/>
          <p:nvPr/>
        </p:nvSpPr>
        <p:spPr>
          <a:xfrm>
            <a:off x="6400800" y="2743200"/>
            <a:ext cx="1280160" cy="274320"/>
          </a:xfrm>
          <a:prstGeom prst="rect">
            <a:avLst/>
          </a:prstGeom>
          <a:noFill/>
        </p:spPr>
        <p:txBody>
          <a:bodyPr wrap="square">
            <a:spAutoFit/>
          </a:bodyPr>
          <a:lstStyle/>
          <a:p>
            <a:pPr algn="l"/>
            <a:r>
              <a:rPr sz="800" b="1">
                <a:solidFill>
                  <a:srgbClr val="64748B"/>
                </a:solidFill>
              </a:rPr>
              <a:t>Confidence</a:t>
            </a:r>
          </a:p>
        </p:txBody>
      </p:sp>
      <p:sp>
        <p:nvSpPr>
          <p:cNvPr id="19" name="TextBox 18"/>
          <p:cNvSpPr txBox="1"/>
          <p:nvPr/>
        </p:nvSpPr>
        <p:spPr>
          <a:xfrm>
            <a:off x="365760" y="3063240"/>
            <a:ext cx="1097280" cy="320040"/>
          </a:xfrm>
          <a:prstGeom prst="rect">
            <a:avLst/>
          </a:prstGeom>
          <a:noFill/>
        </p:spPr>
        <p:txBody>
          <a:bodyPr wrap="square">
            <a:spAutoFit/>
          </a:bodyPr>
          <a:lstStyle/>
          <a:p>
            <a:pPr algn="l"/>
            <a:r>
              <a:rPr sz="900" b="0">
                <a:solidFill>
                  <a:srgbClr val="1E293B"/>
                </a:solidFill>
              </a:rPr>
              <a:t>APAC</a:t>
            </a:r>
          </a:p>
        </p:txBody>
      </p:sp>
      <p:sp>
        <p:nvSpPr>
          <p:cNvPr id="20" name="TextBox 19"/>
          <p:cNvSpPr txBox="1"/>
          <p:nvPr/>
        </p:nvSpPr>
        <p:spPr>
          <a:xfrm>
            <a:off x="1463040" y="3063240"/>
            <a:ext cx="2011680" cy="320040"/>
          </a:xfrm>
          <a:prstGeom prst="rect">
            <a:avLst/>
          </a:prstGeom>
          <a:noFill/>
        </p:spPr>
        <p:txBody>
          <a:bodyPr wrap="square">
            <a:spAutoFit/>
          </a:bodyPr>
          <a:lstStyle/>
          <a:p>
            <a:pPr algn="l"/>
            <a:r>
              <a:rPr sz="900" b="0">
                <a:solidFill>
                  <a:srgbClr val="1E293B"/>
                </a:solidFill>
              </a:rPr>
              <a:t>System intrusion</a:t>
            </a:r>
          </a:p>
        </p:txBody>
      </p:sp>
      <p:sp>
        <p:nvSpPr>
          <p:cNvPr id="21" name="TextBox 20"/>
          <p:cNvSpPr txBox="1"/>
          <p:nvPr/>
        </p:nvSpPr>
        <p:spPr>
          <a:xfrm>
            <a:off x="3474720" y="3063240"/>
            <a:ext cx="1280160" cy="320040"/>
          </a:xfrm>
          <a:prstGeom prst="rect">
            <a:avLst/>
          </a:prstGeom>
          <a:noFill/>
        </p:spPr>
        <p:txBody>
          <a:bodyPr wrap="square">
            <a:spAutoFit/>
          </a:bodyPr>
          <a:lstStyle/>
          <a:p>
            <a:pPr algn="l"/>
            <a:r>
              <a:rPr sz="900" b="0">
                <a:solidFill>
                  <a:srgbClr val="1E293B"/>
                </a:solidFill>
              </a:rPr>
              <a:t>HIGH</a:t>
            </a:r>
          </a:p>
        </p:txBody>
      </p:sp>
      <p:sp>
        <p:nvSpPr>
          <p:cNvPr id="22" name="TextBox 21"/>
          <p:cNvSpPr txBox="1"/>
          <p:nvPr/>
        </p:nvSpPr>
        <p:spPr>
          <a:xfrm>
            <a:off x="4754880" y="3063240"/>
            <a:ext cx="1645920" cy="320040"/>
          </a:xfrm>
          <a:prstGeom prst="rect">
            <a:avLst/>
          </a:prstGeom>
          <a:noFill/>
        </p:spPr>
        <p:txBody>
          <a:bodyPr wrap="square">
            <a:spAutoFit/>
          </a:bodyPr>
          <a:lstStyle/>
          <a:p>
            <a:pPr algn="l"/>
            <a:r>
              <a:rPr sz="900" b="0">
                <a:solidFill>
                  <a:srgbClr val="1E293B"/>
                </a:solidFill>
              </a:rPr>
              <a:t>→ Stable</a:t>
            </a:r>
          </a:p>
        </p:txBody>
      </p:sp>
      <p:sp>
        <p:nvSpPr>
          <p:cNvPr id="23" name="TextBox 22"/>
          <p:cNvSpPr txBox="1"/>
          <p:nvPr/>
        </p:nvSpPr>
        <p:spPr>
          <a:xfrm>
            <a:off x="6400800" y="3063240"/>
            <a:ext cx="1280160" cy="320040"/>
          </a:xfrm>
          <a:prstGeom prst="rect">
            <a:avLst/>
          </a:prstGeom>
          <a:noFill/>
        </p:spPr>
        <p:txBody>
          <a:bodyPr wrap="square">
            <a:spAutoFit/>
          </a:bodyPr>
          <a:lstStyle/>
          <a:p>
            <a:pPr algn="l"/>
            <a:r>
              <a:rPr sz="900" b="0">
                <a:solidFill>
                  <a:srgbClr val="1E293B"/>
                </a:solidFill>
              </a:rPr>
              <a:t>High</a:t>
            </a:r>
          </a:p>
        </p:txBody>
      </p:sp>
      <p:sp>
        <p:nvSpPr>
          <p:cNvPr id="24" name="TextBox 23"/>
          <p:cNvSpPr txBox="1"/>
          <p:nvPr/>
        </p:nvSpPr>
        <p:spPr>
          <a:xfrm>
            <a:off x="365760" y="3474720"/>
            <a:ext cx="1097280" cy="320040"/>
          </a:xfrm>
          <a:prstGeom prst="rect">
            <a:avLst/>
          </a:prstGeom>
          <a:noFill/>
        </p:spPr>
        <p:txBody>
          <a:bodyPr wrap="square">
            <a:spAutoFit/>
          </a:bodyPr>
          <a:lstStyle/>
          <a:p>
            <a:pPr algn="l"/>
            <a:r>
              <a:rPr sz="900" b="0">
                <a:solidFill>
                  <a:srgbClr val="1E293B"/>
                </a:solidFill>
              </a:rPr>
              <a:t>AME</a:t>
            </a:r>
          </a:p>
        </p:txBody>
      </p:sp>
      <p:sp>
        <p:nvSpPr>
          <p:cNvPr id="25" name="TextBox 24"/>
          <p:cNvSpPr txBox="1"/>
          <p:nvPr/>
        </p:nvSpPr>
        <p:spPr>
          <a:xfrm>
            <a:off x="1463040" y="3474720"/>
            <a:ext cx="2011680" cy="320040"/>
          </a:xfrm>
          <a:prstGeom prst="rect">
            <a:avLst/>
          </a:prstGeom>
          <a:noFill/>
        </p:spPr>
        <p:txBody>
          <a:bodyPr wrap="square">
            <a:spAutoFit/>
          </a:bodyPr>
          <a:lstStyle/>
          <a:p>
            <a:pPr algn="l"/>
            <a:r>
              <a:rPr sz="900" b="0">
                <a:solidFill>
                  <a:srgbClr val="1E293B"/>
                </a:solidFill>
              </a:rPr>
              <a:t>Ransomware</a:t>
            </a:r>
          </a:p>
        </p:txBody>
      </p:sp>
      <p:sp>
        <p:nvSpPr>
          <p:cNvPr id="26" name="TextBox 25"/>
          <p:cNvSpPr txBox="1"/>
          <p:nvPr/>
        </p:nvSpPr>
        <p:spPr>
          <a:xfrm>
            <a:off x="3474720" y="3474720"/>
            <a:ext cx="1280160" cy="320040"/>
          </a:xfrm>
          <a:prstGeom prst="rect">
            <a:avLst/>
          </a:prstGeom>
          <a:noFill/>
        </p:spPr>
        <p:txBody>
          <a:bodyPr wrap="square">
            <a:spAutoFit/>
          </a:bodyPr>
          <a:lstStyle/>
          <a:p>
            <a:pPr algn="l"/>
            <a:r>
              <a:rPr sz="900" b="0">
                <a:solidFill>
                  <a:srgbClr val="1E293B"/>
                </a:solidFill>
              </a:rPr>
              <a:t>CRITICAL</a:t>
            </a:r>
          </a:p>
        </p:txBody>
      </p:sp>
      <p:sp>
        <p:nvSpPr>
          <p:cNvPr id="27" name="TextBox 26"/>
          <p:cNvSpPr txBox="1"/>
          <p:nvPr/>
        </p:nvSpPr>
        <p:spPr>
          <a:xfrm>
            <a:off x="4754880" y="3474720"/>
            <a:ext cx="1645920" cy="320040"/>
          </a:xfrm>
          <a:prstGeom prst="rect">
            <a:avLst/>
          </a:prstGeom>
          <a:noFill/>
        </p:spPr>
        <p:txBody>
          <a:bodyPr wrap="square">
            <a:spAutoFit/>
          </a:bodyPr>
          <a:lstStyle/>
          <a:p>
            <a:pPr algn="l"/>
            <a:r>
              <a:rPr sz="900" b="0">
                <a:solidFill>
                  <a:srgbClr val="1E293B"/>
                </a:solidFill>
              </a:rPr>
              <a:t>—</a:t>
            </a:r>
          </a:p>
        </p:txBody>
      </p:sp>
      <p:sp>
        <p:nvSpPr>
          <p:cNvPr id="28" name="TextBox 27"/>
          <p:cNvSpPr txBox="1"/>
          <p:nvPr/>
        </p:nvSpPr>
        <p:spPr>
          <a:xfrm>
            <a:off x="6400800" y="3474720"/>
            <a:ext cx="1280160" cy="320040"/>
          </a:xfrm>
          <a:prstGeom prst="rect">
            <a:avLst/>
          </a:prstGeom>
          <a:noFill/>
        </p:spPr>
        <p:txBody>
          <a:bodyPr wrap="square">
            <a:spAutoFit/>
          </a:bodyPr>
          <a:lstStyle/>
          <a:p>
            <a:pPr algn="l"/>
            <a:r>
              <a:rPr sz="900" b="0">
                <a:solidFill>
                  <a:srgbClr val="1E293B"/>
                </a:solidFill>
              </a:rPr>
              <a:t>High</a:t>
            </a:r>
          </a:p>
        </p:txBody>
      </p:sp>
      <p:sp>
        <p:nvSpPr>
          <p:cNvPr id="29" name="TextBox 28"/>
          <p:cNvSpPr txBox="1"/>
          <p:nvPr/>
        </p:nvSpPr>
        <p:spPr>
          <a:xfrm>
            <a:off x="365760" y="3886200"/>
            <a:ext cx="1097280" cy="320040"/>
          </a:xfrm>
          <a:prstGeom prst="rect">
            <a:avLst/>
          </a:prstGeom>
          <a:noFill/>
        </p:spPr>
        <p:txBody>
          <a:bodyPr wrap="square">
            <a:spAutoFit/>
          </a:bodyPr>
          <a:lstStyle/>
          <a:p>
            <a:pPr algn="l"/>
            <a:r>
              <a:rPr sz="900" b="0">
                <a:solidFill>
                  <a:srgbClr val="1E293B"/>
                </a:solidFill>
              </a:rPr>
              <a:t>MED</a:t>
            </a:r>
          </a:p>
        </p:txBody>
      </p:sp>
      <p:sp>
        <p:nvSpPr>
          <p:cNvPr id="30" name="TextBox 29"/>
          <p:cNvSpPr txBox="1"/>
          <p:nvPr/>
        </p:nvSpPr>
        <p:spPr>
          <a:xfrm>
            <a:off x="1463040" y="3886200"/>
            <a:ext cx="2011680" cy="320040"/>
          </a:xfrm>
          <a:prstGeom prst="rect">
            <a:avLst/>
          </a:prstGeom>
          <a:noFill/>
        </p:spPr>
        <p:txBody>
          <a:bodyPr wrap="square">
            <a:spAutoFit/>
          </a:bodyPr>
          <a:lstStyle/>
          <a:p>
            <a:pPr algn="l"/>
            <a:r>
              <a:rPr sz="900" b="0">
                <a:solidFill>
                  <a:srgbClr val="1E293B"/>
                </a:solidFill>
              </a:rPr>
              <a:t>Insider misuse</a:t>
            </a:r>
          </a:p>
        </p:txBody>
      </p:sp>
      <p:sp>
        <p:nvSpPr>
          <p:cNvPr id="31" name="TextBox 30"/>
          <p:cNvSpPr txBox="1"/>
          <p:nvPr/>
        </p:nvSpPr>
        <p:spPr>
          <a:xfrm>
            <a:off x="3474720" y="3886200"/>
            <a:ext cx="1280160" cy="320040"/>
          </a:xfrm>
          <a:prstGeom prst="rect">
            <a:avLst/>
          </a:prstGeom>
          <a:noFill/>
        </p:spPr>
        <p:txBody>
          <a:bodyPr wrap="square">
            <a:spAutoFit/>
          </a:bodyPr>
          <a:lstStyle/>
          <a:p>
            <a:pPr algn="l"/>
            <a:r>
              <a:rPr sz="900" b="0">
                <a:solidFill>
                  <a:srgbClr val="1E293B"/>
                </a:solidFill>
              </a:rPr>
              <a:t>MEDIUM</a:t>
            </a:r>
          </a:p>
        </p:txBody>
      </p:sp>
      <p:sp>
        <p:nvSpPr>
          <p:cNvPr id="32" name="TextBox 31"/>
          <p:cNvSpPr txBox="1"/>
          <p:nvPr/>
        </p:nvSpPr>
        <p:spPr>
          <a:xfrm>
            <a:off x="4754880" y="3886200"/>
            <a:ext cx="1645920" cy="320040"/>
          </a:xfrm>
          <a:prstGeom prst="rect">
            <a:avLst/>
          </a:prstGeom>
          <a:noFill/>
        </p:spPr>
        <p:txBody>
          <a:bodyPr wrap="square">
            <a:spAutoFit/>
          </a:bodyPr>
          <a:lstStyle/>
          <a:p>
            <a:pPr algn="l"/>
            <a:r>
              <a:rPr sz="900" b="0">
                <a:solidFill>
                  <a:srgbClr val="1E293B"/>
                </a:solidFill>
              </a:rPr>
              <a:t>—</a:t>
            </a:r>
          </a:p>
        </p:txBody>
      </p:sp>
      <p:sp>
        <p:nvSpPr>
          <p:cNvPr id="33" name="TextBox 32"/>
          <p:cNvSpPr txBox="1"/>
          <p:nvPr/>
        </p:nvSpPr>
        <p:spPr>
          <a:xfrm>
            <a:off x="6400800" y="3886200"/>
            <a:ext cx="1280160" cy="320040"/>
          </a:xfrm>
          <a:prstGeom prst="rect">
            <a:avLst/>
          </a:prstGeom>
          <a:noFill/>
        </p:spPr>
        <p:txBody>
          <a:bodyPr wrap="square">
            <a:spAutoFit/>
          </a:bodyPr>
          <a:lstStyle/>
          <a:p>
            <a:pPr algn="l"/>
            <a:r>
              <a:rPr sz="900" b="0">
                <a:solidFill>
                  <a:srgbClr val="1E293B"/>
                </a:solidFill>
              </a:rPr>
              <a:t>High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411480"/>
          </a:xfrm>
          <a:prstGeom prst="rect">
            <a:avLst/>
          </a:prstGeom>
          <a:noFill/>
        </p:spPr>
        <p:txBody>
          <a:bodyPr wrap="square">
            <a:spAutoFit/>
          </a:bodyPr>
          <a:lstStyle/>
          <a:p>
            <a:pPr algn="l"/>
            <a:r>
              <a:rPr sz="1600" b="1">
                <a:solidFill>
                  <a:srgbClr val="FFFFFF"/>
                </a:solidFill>
              </a:rPr>
              <a:t>APAC</a:t>
            </a:r>
          </a:p>
        </p:txBody>
      </p:sp>
      <p:sp>
        <p:nvSpPr>
          <p:cNvPr id="4" name="TextBox 3"/>
          <p:cNvSpPr txBox="1"/>
          <p:nvPr/>
        </p:nvSpPr>
        <p:spPr>
          <a:xfrm>
            <a:off x="274320" y="347472"/>
            <a:ext cx="5486400" cy="228600"/>
          </a:xfrm>
          <a:prstGeom prst="rect">
            <a:avLst/>
          </a:prstGeom>
          <a:noFill/>
        </p:spPr>
        <p:txBody>
          <a:bodyPr wrap="square">
            <a:spAutoFit/>
          </a:bodyPr>
          <a:lstStyle/>
          <a:p>
            <a:pPr algn="l"/>
            <a:r>
              <a:rPr sz="900" b="0">
                <a:solidFill>
                  <a:srgbClr val="BFDBFF"/>
                </a:solidFill>
              </a:rPr>
              <a:t>System intrusion</a:t>
            </a:r>
          </a:p>
        </p:txBody>
      </p:sp>
      <p:sp>
        <p:nvSpPr>
          <p:cNvPr id="5" name="Rectangle 4"/>
          <p:cNvSpPr/>
          <p:nvPr/>
        </p:nvSpPr>
        <p:spPr>
          <a:xfrm>
            <a:off x="7680960" y="109728"/>
            <a:ext cx="1188720" cy="34747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46304"/>
            <a:ext cx="1188720" cy="274320"/>
          </a:xfrm>
          <a:prstGeom prst="rect">
            <a:avLst/>
          </a:prstGeom>
          <a:noFill/>
        </p:spPr>
        <p:txBody>
          <a:bodyPr wrap="square">
            <a:spAutoFit/>
          </a:bodyPr>
          <a:lstStyle/>
          <a:p>
            <a:pPr algn="ctr"/>
            <a:r>
              <a:rPr sz="800" b="1">
                <a:solidFill>
                  <a:srgbClr val="FFFFFF"/>
                </a:solidFill>
              </a:rPr>
              <a:t>HIGH</a:t>
            </a:r>
          </a:p>
        </p:txBody>
      </p:sp>
      <p:sp>
        <p:nvSpPr>
          <p:cNvPr id="7" name="TextBox 6"/>
          <p:cNvSpPr txBox="1"/>
          <p:nvPr/>
        </p:nvSpPr>
        <p:spPr>
          <a:xfrm>
            <a:off x="274320" y="685800"/>
            <a:ext cx="8229600" cy="256032"/>
          </a:xfrm>
          <a:prstGeom prst="rect">
            <a:avLst/>
          </a:prstGeom>
          <a:noFill/>
        </p:spPr>
        <p:txBody>
          <a:bodyPr wrap="square">
            <a:spAutoFit/>
          </a:bodyPr>
          <a:lstStyle/>
          <a:p>
            <a:pPr algn="l"/>
            <a:r>
              <a:rPr sz="900" b="0">
                <a:solidFill>
                  <a:srgbClr val="64748B"/>
                </a:solidFill>
              </a:rPr>
              <a:t>System intrusion  ·  Trend  ·  Confidence: High</a:t>
            </a:r>
          </a:p>
        </p:txBody>
      </p:sp>
      <p:sp>
        <p:nvSpPr>
          <p:cNvPr id="8" name="Rectangle 7"/>
          <p:cNvSpPr/>
          <p:nvPr/>
        </p:nvSpPr>
        <p:spPr>
          <a:xfrm>
            <a:off x="274320" y="914400"/>
            <a:ext cx="45720" cy="237744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914400"/>
            <a:ext cx="4023360" cy="256032"/>
          </a:xfrm>
          <a:prstGeom prst="rect">
            <a:avLst/>
          </a:prstGeom>
          <a:noFill/>
        </p:spPr>
        <p:txBody>
          <a:bodyPr wrap="square">
            <a:spAutoFit/>
          </a:bodyPr>
          <a:lstStyle/>
          <a:p>
            <a:pPr algn="l"/>
            <a:r>
              <a:rPr sz="700" b="1">
                <a:solidFill>
                  <a:srgbClr val="64748B"/>
                </a:solidFill>
              </a:rPr>
              <a:t>DRIVER</a:t>
            </a:r>
          </a:p>
        </p:txBody>
      </p:sp>
      <p:sp>
        <p:nvSpPr>
          <p:cNvPr id="10" name="TextBox 9"/>
          <p:cNvSpPr txBox="1"/>
          <p:nvPr/>
        </p:nvSpPr>
        <p:spPr>
          <a:xfrm>
            <a:off x="365760" y="1170432"/>
            <a:ext cx="4023360" cy="2121408"/>
          </a:xfrm>
          <a:prstGeom prst="rect">
            <a:avLst/>
          </a:prstGeom>
          <a:noFill/>
        </p:spPr>
        <p:txBody>
          <a:bodyPr wrap="square">
            <a:spAutoFit/>
          </a:bodyPr>
          <a:lstStyle/>
          <a:p>
            <a:pPr algn="l"/>
            <a:r>
              <a:rPr sz="900" b="0">
                <a:solidFill>
                  <a:srgbClr val="1E293B"/>
                </a:solidFill>
              </a:rPr>
              <a:t>AeroGrid's ability to manufacture and deliver wind turbines from its Asia-Pacific production facilities faces sustained pressure from escalating state competition in the region.</a:t>
            </a:r>
          </a:p>
        </p:txBody>
      </p:sp>
      <p:sp>
        <p:nvSpPr>
          <p:cNvPr id="11" name="Rectangle 10"/>
          <p:cNvSpPr/>
          <p:nvPr/>
        </p:nvSpPr>
        <p:spPr>
          <a:xfrm>
            <a:off x="4572000" y="914400"/>
            <a:ext cx="45720" cy="237744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914400"/>
            <a:ext cx="4023360" cy="256032"/>
          </a:xfrm>
          <a:prstGeom prst="rect">
            <a:avLst/>
          </a:prstGeom>
          <a:noFill/>
        </p:spPr>
        <p:txBody>
          <a:bodyPr wrap="square">
            <a:spAutoFit/>
          </a:bodyPr>
          <a:lstStyle/>
          <a:p>
            <a:pPr algn="l"/>
            <a:r>
              <a:rPr sz="700" b="1">
                <a:solidFill>
                  <a:srgbClr val="64748B"/>
                </a:solidFill>
              </a:rPr>
              <a:t>EXPOSURE</a:t>
            </a:r>
          </a:p>
        </p:txBody>
      </p:sp>
      <p:sp>
        <p:nvSpPr>
          <p:cNvPr id="13" name="TextBox 12"/>
          <p:cNvSpPr txBox="1"/>
          <p:nvPr/>
        </p:nvSpPr>
        <p:spPr>
          <a:xfrm>
            <a:off x="4663440" y="1170432"/>
            <a:ext cx="4023360" cy="2121408"/>
          </a:xfrm>
          <a:prstGeom prst="rect">
            <a:avLst/>
          </a:prstGeom>
          <a:noFill/>
        </p:spPr>
        <p:txBody>
          <a:bodyPr wrap="square">
            <a:spAutoFit/>
          </a:bodyPr>
          <a:lstStyle/>
          <a:p>
            <a:pPr algn="l"/>
            <a:r>
              <a:rPr sz="900" b="0">
                <a:solidFill>
                  <a:srgbClr val="1E293B"/>
                </a:solidFill>
              </a:rPr>
              <a:t>This geopolitical pressure is translating into a sustained campaign of unauthorized access to operational technology networks across Asia-Pacific manufacturing.</a:t>
            </a:r>
          </a:p>
        </p:txBody>
      </p:sp>
      <p:sp>
        <p:nvSpPr>
          <p:cNvPr id="14" name="Rectangle 13"/>
          <p:cNvSpPr/>
          <p:nvPr/>
        </p:nvSpPr>
        <p:spPr>
          <a:xfrm>
            <a:off x="274320" y="3383280"/>
            <a:ext cx="45720" cy="23774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383280"/>
            <a:ext cx="4023360" cy="256032"/>
          </a:xfrm>
          <a:prstGeom prst="rect">
            <a:avLst/>
          </a:prstGeom>
          <a:noFill/>
        </p:spPr>
        <p:txBody>
          <a:bodyPr wrap="square">
            <a:spAutoFit/>
          </a:bodyPr>
          <a:lstStyle/>
          <a:p>
            <a:pPr algn="l"/>
            <a:r>
              <a:rPr sz="700" b="1">
                <a:solidFill>
                  <a:srgbClr val="64748B"/>
                </a:solidFill>
              </a:rPr>
              <a:t>IMPACT</a:t>
            </a:r>
          </a:p>
        </p:txBody>
      </p:sp>
      <p:sp>
        <p:nvSpPr>
          <p:cNvPr id="16" name="TextBox 15"/>
          <p:cNvSpPr txBox="1"/>
          <p:nvPr/>
        </p:nvSpPr>
        <p:spPr>
          <a:xfrm>
            <a:off x="365760" y="3639312"/>
            <a:ext cx="4023360" cy="2121408"/>
          </a:xfrm>
          <a:prstGeom prst="rect">
            <a:avLst/>
          </a:prstGeom>
          <a:noFill/>
        </p:spPr>
        <p:txBody>
          <a:bodyPr wrap="square">
            <a:spAutoFit/>
          </a:bodyPr>
          <a:lstStyle/>
          <a:p>
            <a:pPr algn="l"/>
            <a:r>
              <a:rPr sz="900" b="0">
                <a:solidFill>
                  <a:srgbClr val="1E293B"/>
                </a:solidFill>
              </a:rPr>
              <a:t>This pattern is consistent with the System Intrusion scenario, ranked #3 globally by financial impact (21.4% of all losses) and #1 by event frequency (43.3% of all incidents).</a:t>
            </a:r>
          </a:p>
        </p:txBody>
      </p:sp>
      <p:sp>
        <p:nvSpPr>
          <p:cNvPr id="17" name="Rectangle 16"/>
          <p:cNvSpPr/>
          <p:nvPr/>
        </p:nvSpPr>
        <p:spPr>
          <a:xfrm>
            <a:off x="4572000" y="3383280"/>
            <a:ext cx="45720" cy="2377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3383280"/>
            <a:ext cx="4023360" cy="256032"/>
          </a:xfrm>
          <a:prstGeom prst="rect">
            <a:avLst/>
          </a:prstGeom>
          <a:noFill/>
        </p:spPr>
        <p:txBody>
          <a:bodyPr wrap="square">
            <a:spAutoFit/>
          </a:bodyPr>
          <a:lstStyle/>
          <a:p>
            <a:pPr algn="l"/>
            <a:r>
              <a:rPr sz="700" b="1">
                <a:solidFill>
                  <a:srgbClr val="64748B"/>
                </a:solidFill>
              </a:rPr>
              <a:t>WATCH</a:t>
            </a:r>
          </a:p>
        </p:txBody>
      </p:sp>
      <p:sp>
        <p:nvSpPr>
          <p:cNvPr id="19" name="TextBox 18"/>
          <p:cNvSpPr txBox="1"/>
          <p:nvPr/>
        </p:nvSpPr>
        <p:spPr>
          <a:xfrm>
            <a:off x="4663440" y="3639312"/>
            <a:ext cx="4023360" cy="2121408"/>
          </a:xfrm>
          <a:prstGeom prst="rect">
            <a:avLst/>
          </a:prstGeom>
          <a:noFill/>
        </p:spPr>
        <p:txBody>
          <a:bodyPr wrap="square">
            <a:spAutoFit/>
          </a:bodyPr>
          <a:lstStyle/>
          <a:p>
            <a:pPr algn="l"/>
            <a:r>
              <a:rPr sz="900" b="0">
                <a:solidFill>
                  <a:srgbClr val="1E293B"/>
                </a:solidFill>
              </a:rPr>
              <a:t>Regional leadership should monitor for any indication that sustained collection activity transitions into disruptive operations targeting production availability — a shift that would significantly elevate the financial exposure beyond the current scenario baseline.</a:t>
            </a:r>
          </a:p>
        </p:txBody>
      </p:sp>
      <p:sp>
        <p:nvSpPr>
          <p:cNvPr id="20" name="TextBox 19"/>
          <p:cNvSpPr txBox="1"/>
          <p:nvPr/>
        </p:nvSpPr>
        <p:spPr>
          <a:xfrm>
            <a:off x="274320" y="5852160"/>
            <a:ext cx="2286000" cy="274320"/>
          </a:xfrm>
          <a:prstGeom prst="rect">
            <a:avLst/>
          </a:prstGeom>
          <a:noFill/>
        </p:spPr>
        <p:txBody>
          <a:bodyPr wrap="square">
            <a:spAutoFit/>
          </a:bodyPr>
          <a:lstStyle/>
          <a:p>
            <a:pPr algn="l"/>
            <a:r>
              <a:rPr sz="800" b="0">
                <a:solidFill>
                  <a:srgbClr val="64748B"/>
                </a:solidFill>
              </a:rPr>
              <a:t>→ Stable</a:t>
            </a:r>
          </a:p>
        </p:txBody>
      </p:sp>
      <p:sp>
        <p:nvSpPr>
          <p:cNvPr id="21" name="TextBox 20"/>
          <p:cNvSpPr txBox="1"/>
          <p:nvPr/>
        </p:nvSpPr>
        <p:spPr>
          <a:xfrm>
            <a:off x="2743200" y="5852160"/>
            <a:ext cx="5943600" cy="274320"/>
          </a:xfrm>
          <a:prstGeom prst="rect">
            <a:avLst/>
          </a:prstGeom>
          <a:noFill/>
        </p:spPr>
        <p:txBody>
          <a:bodyPr wrap="square">
            <a:spAutoFit/>
          </a:bodyPr>
          <a:lstStyle/>
          <a:p>
            <a:pPr algn="l"/>
            <a:r>
              <a:rPr sz="800" b="0">
                <a:solidFill>
                  <a:srgbClr val="64748B"/>
                </a:solidFill>
              </a:rPr>
              <a:t>State-directed threat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411480"/>
          </a:xfrm>
          <a:prstGeom prst="rect">
            <a:avLst/>
          </a:prstGeom>
          <a:noFill/>
        </p:spPr>
        <p:txBody>
          <a:bodyPr wrap="square">
            <a:spAutoFit/>
          </a:bodyPr>
          <a:lstStyle/>
          <a:p>
            <a:pPr algn="l"/>
            <a:r>
              <a:rPr sz="1600" b="1">
                <a:solidFill>
                  <a:srgbClr val="FFFFFF"/>
                </a:solidFill>
              </a:rPr>
              <a:t>AME</a:t>
            </a:r>
          </a:p>
        </p:txBody>
      </p:sp>
      <p:sp>
        <p:nvSpPr>
          <p:cNvPr id="4" name="TextBox 3"/>
          <p:cNvSpPr txBox="1"/>
          <p:nvPr/>
        </p:nvSpPr>
        <p:spPr>
          <a:xfrm>
            <a:off x="274320" y="347472"/>
            <a:ext cx="5486400" cy="228600"/>
          </a:xfrm>
          <a:prstGeom prst="rect">
            <a:avLst/>
          </a:prstGeom>
          <a:noFill/>
        </p:spPr>
        <p:txBody>
          <a:bodyPr wrap="square">
            <a:spAutoFit/>
          </a:bodyPr>
          <a:lstStyle/>
          <a:p>
            <a:pPr algn="l"/>
            <a:r>
              <a:rPr sz="900" b="0">
                <a:solidFill>
                  <a:srgbClr val="BFDBFF"/>
                </a:solidFill>
              </a:rPr>
              <a:t>Ransomware</a:t>
            </a:r>
          </a:p>
        </p:txBody>
      </p:sp>
      <p:sp>
        <p:nvSpPr>
          <p:cNvPr id="5" name="Rectangle 4"/>
          <p:cNvSpPr/>
          <p:nvPr/>
        </p:nvSpPr>
        <p:spPr>
          <a:xfrm>
            <a:off x="7680960" y="109728"/>
            <a:ext cx="1188720" cy="34747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46304"/>
            <a:ext cx="1188720" cy="274320"/>
          </a:xfrm>
          <a:prstGeom prst="rect">
            <a:avLst/>
          </a:prstGeom>
          <a:noFill/>
        </p:spPr>
        <p:txBody>
          <a:bodyPr wrap="square">
            <a:spAutoFit/>
          </a:bodyPr>
          <a:lstStyle/>
          <a:p>
            <a:pPr algn="ctr"/>
            <a:r>
              <a:rPr sz="800" b="1">
                <a:solidFill>
                  <a:srgbClr val="FFFFFF"/>
                </a:solidFill>
              </a:rPr>
              <a:t>CRITICAL</a:t>
            </a:r>
          </a:p>
        </p:txBody>
      </p:sp>
      <p:sp>
        <p:nvSpPr>
          <p:cNvPr id="7" name="TextBox 6"/>
          <p:cNvSpPr txBox="1"/>
          <p:nvPr/>
        </p:nvSpPr>
        <p:spPr>
          <a:xfrm>
            <a:off x="274320" y="685800"/>
            <a:ext cx="8229600" cy="256032"/>
          </a:xfrm>
          <a:prstGeom prst="rect">
            <a:avLst/>
          </a:prstGeom>
          <a:noFill/>
        </p:spPr>
        <p:txBody>
          <a:bodyPr wrap="square">
            <a:spAutoFit/>
          </a:bodyPr>
          <a:lstStyle/>
          <a:p>
            <a:pPr algn="l"/>
            <a:r>
              <a:rPr sz="900" b="0">
                <a:solidFill>
                  <a:srgbClr val="64748B"/>
                </a:solidFill>
              </a:rPr>
              <a:t>Ransomware  ·  Event  ·  Confidence: High</a:t>
            </a:r>
          </a:p>
        </p:txBody>
      </p:sp>
      <p:sp>
        <p:nvSpPr>
          <p:cNvPr id="8" name="Rectangle 7"/>
          <p:cNvSpPr/>
          <p:nvPr/>
        </p:nvSpPr>
        <p:spPr>
          <a:xfrm>
            <a:off x="274320" y="914400"/>
            <a:ext cx="45720" cy="237744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914400"/>
            <a:ext cx="4023360" cy="256032"/>
          </a:xfrm>
          <a:prstGeom prst="rect">
            <a:avLst/>
          </a:prstGeom>
          <a:noFill/>
        </p:spPr>
        <p:txBody>
          <a:bodyPr wrap="square">
            <a:spAutoFit/>
          </a:bodyPr>
          <a:lstStyle/>
          <a:p>
            <a:pPr algn="l"/>
            <a:r>
              <a:rPr sz="700" b="1">
                <a:solidFill>
                  <a:srgbClr val="64748B"/>
                </a:solidFill>
              </a:rPr>
              <a:t>DRIVER</a:t>
            </a:r>
          </a:p>
        </p:txBody>
      </p:sp>
      <p:sp>
        <p:nvSpPr>
          <p:cNvPr id="10" name="TextBox 9"/>
          <p:cNvSpPr txBox="1"/>
          <p:nvPr/>
        </p:nvSpPr>
        <p:spPr>
          <a:xfrm>
            <a:off x="365760" y="1170432"/>
            <a:ext cx="4023360" cy="2121408"/>
          </a:xfrm>
          <a:prstGeom prst="rect">
            <a:avLst/>
          </a:prstGeom>
          <a:noFill/>
        </p:spPr>
        <p:txBody>
          <a:bodyPr wrap="square">
            <a:spAutoFit/>
          </a:bodyPr>
          <a:lstStyle/>
          <a:p>
            <a:pPr algn="l"/>
            <a:r>
              <a:rPr sz="900" b="0">
                <a:solidFill>
                  <a:srgbClr val="1E293B"/>
                </a:solidFill>
              </a:rPr>
              <a:t>AeroGrid's ability to deliver wind farm maintenance services and sustain telemetry-dependent operations across North America is under direct threat as the region's energy infrastructure enters a period of heightened regulatory and criminal attention.</a:t>
            </a:r>
          </a:p>
        </p:txBody>
      </p:sp>
      <p:sp>
        <p:nvSpPr>
          <p:cNvPr id="11" name="Rectangle 10"/>
          <p:cNvSpPr/>
          <p:nvPr/>
        </p:nvSpPr>
        <p:spPr>
          <a:xfrm>
            <a:off x="4572000" y="914400"/>
            <a:ext cx="45720" cy="237744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914400"/>
            <a:ext cx="4023360" cy="256032"/>
          </a:xfrm>
          <a:prstGeom prst="rect">
            <a:avLst/>
          </a:prstGeom>
          <a:noFill/>
        </p:spPr>
        <p:txBody>
          <a:bodyPr wrap="square">
            <a:spAutoFit/>
          </a:bodyPr>
          <a:lstStyle/>
          <a:p>
            <a:pPr algn="l"/>
            <a:r>
              <a:rPr sz="700" b="1">
                <a:solidFill>
                  <a:srgbClr val="64748B"/>
                </a:solidFill>
              </a:rPr>
              <a:t>EXPOSURE</a:t>
            </a:r>
          </a:p>
        </p:txBody>
      </p:sp>
      <p:sp>
        <p:nvSpPr>
          <p:cNvPr id="13" name="TextBox 12"/>
          <p:cNvSpPr txBox="1"/>
          <p:nvPr/>
        </p:nvSpPr>
        <p:spPr>
          <a:xfrm>
            <a:off x="4663440" y="1170432"/>
            <a:ext cx="4023360" cy="2121408"/>
          </a:xfrm>
          <a:prstGeom prst="rect">
            <a:avLst/>
          </a:prstGeom>
          <a:noFill/>
        </p:spPr>
        <p:txBody>
          <a:bodyPr wrap="square">
            <a:spAutoFit/>
          </a:bodyPr>
          <a:lstStyle/>
          <a:p>
            <a:pPr algn="l"/>
            <a:r>
              <a:rPr sz="900" b="0">
                <a:solidFill>
                  <a:srgbClr val="1E293B"/>
                </a:solidFill>
              </a:rPr>
              <a:t>That elevated target profile has materialized into a confirmed operational incident.</a:t>
            </a:r>
          </a:p>
        </p:txBody>
      </p:sp>
      <p:sp>
        <p:nvSpPr>
          <p:cNvPr id="14" name="Rectangle 13"/>
          <p:cNvSpPr/>
          <p:nvPr/>
        </p:nvSpPr>
        <p:spPr>
          <a:xfrm>
            <a:off x="274320" y="3383280"/>
            <a:ext cx="45720" cy="23774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383280"/>
            <a:ext cx="4023360" cy="256032"/>
          </a:xfrm>
          <a:prstGeom prst="rect">
            <a:avLst/>
          </a:prstGeom>
          <a:noFill/>
        </p:spPr>
        <p:txBody>
          <a:bodyPr wrap="square">
            <a:spAutoFit/>
          </a:bodyPr>
          <a:lstStyle/>
          <a:p>
            <a:pPr algn="l"/>
            <a:r>
              <a:rPr sz="700" b="1">
                <a:solidFill>
                  <a:srgbClr val="64748B"/>
                </a:solidFill>
              </a:rPr>
              <a:t>IMPACT</a:t>
            </a:r>
          </a:p>
        </p:txBody>
      </p:sp>
      <p:sp>
        <p:nvSpPr>
          <p:cNvPr id="16" name="TextBox 15"/>
          <p:cNvSpPr txBox="1"/>
          <p:nvPr/>
        </p:nvSpPr>
        <p:spPr>
          <a:xfrm>
            <a:off x="365760" y="3639312"/>
            <a:ext cx="4023360" cy="2121408"/>
          </a:xfrm>
          <a:prstGeom prst="rect">
            <a:avLst/>
          </a:prstGeom>
          <a:noFill/>
        </p:spPr>
        <p:txBody>
          <a:bodyPr wrap="square">
            <a:spAutoFit/>
          </a:bodyPr>
          <a:lstStyle/>
          <a:p>
            <a:pPr algn="l"/>
            <a:r>
              <a:rPr sz="900" b="0">
                <a:solidFill>
                  <a:srgbClr val="1E293B"/>
                </a:solidFill>
              </a:rPr>
              <a:t>The confirmed attack pattern is consistent with the Ransomware scenario, ranked **#1 globally by financial impact** (37.6% of all losses) and **#2 by event frequency** (31.7% of all events) in the empirical master scenario register — making this both the highest-consequence and one of the most frequently realized threat patterns across all industries.</a:t>
            </a:r>
          </a:p>
        </p:txBody>
      </p:sp>
      <p:sp>
        <p:nvSpPr>
          <p:cNvPr id="17" name="Rectangle 16"/>
          <p:cNvSpPr/>
          <p:nvPr/>
        </p:nvSpPr>
        <p:spPr>
          <a:xfrm>
            <a:off x="4572000" y="3383280"/>
            <a:ext cx="45720" cy="2377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3383280"/>
            <a:ext cx="4023360" cy="256032"/>
          </a:xfrm>
          <a:prstGeom prst="rect">
            <a:avLst/>
          </a:prstGeom>
          <a:noFill/>
        </p:spPr>
        <p:txBody>
          <a:bodyPr wrap="square">
            <a:spAutoFit/>
          </a:bodyPr>
          <a:lstStyle/>
          <a:p>
            <a:pPr algn="l"/>
            <a:r>
              <a:rPr sz="700" b="1">
                <a:solidFill>
                  <a:srgbClr val="64748B"/>
                </a:solidFill>
              </a:rPr>
              <a:t>WATCH</a:t>
            </a:r>
          </a:p>
        </p:txBody>
      </p:sp>
      <p:sp>
        <p:nvSpPr>
          <p:cNvPr id="19" name="TextBox 18"/>
          <p:cNvSpPr txBox="1"/>
          <p:nvPr/>
        </p:nvSpPr>
        <p:spPr>
          <a:xfrm>
            <a:off x="4663440" y="3639312"/>
            <a:ext cx="4023360" cy="2121408"/>
          </a:xfrm>
          <a:prstGeom prst="rect">
            <a:avLst/>
          </a:prstGeom>
          <a:noFill/>
        </p:spPr>
        <p:txBody>
          <a:bodyPr wrap="square">
            <a:spAutoFit/>
          </a:bodyPr>
          <a:lstStyle/>
          <a:p>
            <a:pPr algn="l"/>
            <a:r>
              <a:rPr sz="900" b="0">
                <a:solidFill>
                  <a:srgbClr val="1E293B"/>
                </a:solidFill>
              </a:rPr>
              <a:t>The forward indicator to monitor is whether the group behind the confirmed $22 million demand expands its target set to additional wind energy service providers, and whether AeroGrid's remote access architecture for field maintenance teams shares the same exposure profile as the compromised operator.</a:t>
            </a:r>
          </a:p>
        </p:txBody>
      </p:sp>
      <p:sp>
        <p:nvSpPr>
          <p:cNvPr id="20" name="TextBox 19"/>
          <p:cNvSpPr txBox="1"/>
          <p:nvPr/>
        </p:nvSpPr>
        <p:spPr>
          <a:xfrm>
            <a:off x="274320" y="5852160"/>
            <a:ext cx="2286000" cy="274320"/>
          </a:xfrm>
          <a:prstGeom prst="rect">
            <a:avLst/>
          </a:prstGeom>
          <a:noFill/>
        </p:spPr>
        <p:txBody>
          <a:bodyPr wrap="square">
            <a:spAutoFit/>
          </a:bodyPr>
          <a:lstStyle/>
          <a:p>
            <a:pPr algn="l"/>
            <a:r>
              <a:rPr sz="800" b="0">
                <a:solidFill>
                  <a:srgbClr val="64748B"/>
                </a:solidFill>
              </a:rPr>
              <a:t>—</a:t>
            </a:r>
          </a:p>
        </p:txBody>
      </p:sp>
      <p:sp>
        <p:nvSpPr>
          <p:cNvPr id="21" name="TextBox 20"/>
          <p:cNvSpPr txBox="1"/>
          <p:nvPr/>
        </p:nvSpPr>
        <p:spPr>
          <a:xfrm>
            <a:off x="2743200" y="5852160"/>
            <a:ext cx="5943600" cy="274320"/>
          </a:xfrm>
          <a:prstGeom prst="rect">
            <a:avLst/>
          </a:prstGeom>
          <a:noFill/>
        </p:spPr>
        <p:txBody>
          <a:bodyPr wrap="square">
            <a:spAutoFit/>
          </a:bodyPr>
          <a:lstStyle/>
          <a:p>
            <a:pPr algn="l"/>
            <a:r>
              <a:rPr sz="800" b="0">
                <a:solidFill>
                  <a:srgbClr val="64748B"/>
                </a:solidFill>
              </a:rPr>
              <a:t>Financially motivated threat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5486400" cy="411480"/>
          </a:xfrm>
          <a:prstGeom prst="rect">
            <a:avLst/>
          </a:prstGeom>
          <a:noFill/>
        </p:spPr>
        <p:txBody>
          <a:bodyPr wrap="square">
            <a:spAutoFit/>
          </a:bodyPr>
          <a:lstStyle/>
          <a:p>
            <a:pPr algn="l"/>
            <a:r>
              <a:rPr sz="1600" b="1">
                <a:solidFill>
                  <a:srgbClr val="FFFFFF"/>
                </a:solidFill>
              </a:rPr>
              <a:t>MED</a:t>
            </a:r>
          </a:p>
        </p:txBody>
      </p:sp>
      <p:sp>
        <p:nvSpPr>
          <p:cNvPr id="4" name="TextBox 3"/>
          <p:cNvSpPr txBox="1"/>
          <p:nvPr/>
        </p:nvSpPr>
        <p:spPr>
          <a:xfrm>
            <a:off x="274320" y="347472"/>
            <a:ext cx="5486400" cy="228600"/>
          </a:xfrm>
          <a:prstGeom prst="rect">
            <a:avLst/>
          </a:prstGeom>
          <a:noFill/>
        </p:spPr>
        <p:txBody>
          <a:bodyPr wrap="square">
            <a:spAutoFit/>
          </a:bodyPr>
          <a:lstStyle/>
          <a:p>
            <a:pPr algn="l"/>
            <a:r>
              <a:rPr sz="900" b="0">
                <a:solidFill>
                  <a:srgbClr val="BFDBFF"/>
                </a:solidFill>
              </a:rPr>
              <a:t>Insider misuse</a:t>
            </a:r>
          </a:p>
        </p:txBody>
      </p:sp>
      <p:sp>
        <p:nvSpPr>
          <p:cNvPr id="5" name="Rectangle 4"/>
          <p:cNvSpPr/>
          <p:nvPr/>
        </p:nvSpPr>
        <p:spPr>
          <a:xfrm>
            <a:off x="7680960" y="109728"/>
            <a:ext cx="1188720" cy="34747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46304"/>
            <a:ext cx="1188720" cy="274320"/>
          </a:xfrm>
          <a:prstGeom prst="rect">
            <a:avLst/>
          </a:prstGeom>
          <a:noFill/>
        </p:spPr>
        <p:txBody>
          <a:bodyPr wrap="square">
            <a:spAutoFit/>
          </a:bodyPr>
          <a:lstStyle/>
          <a:p>
            <a:pPr algn="ctr"/>
            <a:r>
              <a:rPr sz="800" b="1">
                <a:solidFill>
                  <a:srgbClr val="FFFFFF"/>
                </a:solidFill>
              </a:rPr>
              <a:t>MEDIUM</a:t>
            </a:r>
          </a:p>
        </p:txBody>
      </p:sp>
      <p:sp>
        <p:nvSpPr>
          <p:cNvPr id="7" name="TextBox 6"/>
          <p:cNvSpPr txBox="1"/>
          <p:nvPr/>
        </p:nvSpPr>
        <p:spPr>
          <a:xfrm>
            <a:off x="274320" y="685800"/>
            <a:ext cx="8229600" cy="256032"/>
          </a:xfrm>
          <a:prstGeom prst="rect">
            <a:avLst/>
          </a:prstGeom>
          <a:noFill/>
        </p:spPr>
        <p:txBody>
          <a:bodyPr wrap="square">
            <a:spAutoFit/>
          </a:bodyPr>
          <a:lstStyle/>
          <a:p>
            <a:pPr algn="l"/>
            <a:r>
              <a:rPr sz="900" b="0">
                <a:solidFill>
                  <a:srgbClr val="64748B"/>
                </a:solidFill>
              </a:rPr>
              <a:t>Insider misuse  ·  Mixed  ·  Confidence: High</a:t>
            </a:r>
          </a:p>
        </p:txBody>
      </p:sp>
      <p:sp>
        <p:nvSpPr>
          <p:cNvPr id="8" name="Rectangle 7"/>
          <p:cNvSpPr/>
          <p:nvPr/>
        </p:nvSpPr>
        <p:spPr>
          <a:xfrm>
            <a:off x="274320" y="914400"/>
            <a:ext cx="45720" cy="237744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914400"/>
            <a:ext cx="4023360" cy="256032"/>
          </a:xfrm>
          <a:prstGeom prst="rect">
            <a:avLst/>
          </a:prstGeom>
          <a:noFill/>
        </p:spPr>
        <p:txBody>
          <a:bodyPr wrap="square">
            <a:spAutoFit/>
          </a:bodyPr>
          <a:lstStyle/>
          <a:p>
            <a:pPr algn="l"/>
            <a:r>
              <a:rPr sz="700" b="1">
                <a:solidFill>
                  <a:srgbClr val="64748B"/>
                </a:solidFill>
              </a:rPr>
              <a:t>DRIVER</a:t>
            </a:r>
          </a:p>
        </p:txBody>
      </p:sp>
      <p:sp>
        <p:nvSpPr>
          <p:cNvPr id="10" name="TextBox 9"/>
          <p:cNvSpPr txBox="1"/>
          <p:nvPr/>
        </p:nvSpPr>
        <p:spPr>
          <a:xfrm>
            <a:off x="365760" y="1170432"/>
            <a:ext cx="4023360" cy="2121408"/>
          </a:xfrm>
          <a:prstGeom prst="rect">
            <a:avLst/>
          </a:prstGeom>
          <a:noFill/>
        </p:spPr>
        <p:txBody>
          <a:bodyPr wrap="square">
            <a:spAutoFit/>
          </a:bodyPr>
          <a:lstStyle/>
          <a:p>
            <a:pPr algn="l"/>
            <a:r>
              <a:rPr sz="900" b="0">
                <a:solidFill>
                  <a:srgbClr val="1E293B"/>
                </a:solidFill>
              </a:rPr>
              <a:t>AeroGrid's ability to service and maintain its Mediterranean offshore wind portfolio is operating under compounded pressure as prolonged economic instability across southern Europe is elevating the risk that personnel with privileged access to operational systems seek to monetize that access.</a:t>
            </a:r>
          </a:p>
        </p:txBody>
      </p:sp>
      <p:sp>
        <p:nvSpPr>
          <p:cNvPr id="11" name="Rectangle 10"/>
          <p:cNvSpPr/>
          <p:nvPr/>
        </p:nvSpPr>
        <p:spPr>
          <a:xfrm>
            <a:off x="4572000" y="914400"/>
            <a:ext cx="45720" cy="237744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914400"/>
            <a:ext cx="4023360" cy="256032"/>
          </a:xfrm>
          <a:prstGeom prst="rect">
            <a:avLst/>
          </a:prstGeom>
          <a:noFill/>
        </p:spPr>
        <p:txBody>
          <a:bodyPr wrap="square">
            <a:spAutoFit/>
          </a:bodyPr>
          <a:lstStyle/>
          <a:p>
            <a:pPr algn="l"/>
            <a:r>
              <a:rPr sz="700" b="1">
                <a:solidFill>
                  <a:srgbClr val="64748B"/>
                </a:solidFill>
              </a:rPr>
              <a:t>EXPOSURE</a:t>
            </a:r>
          </a:p>
        </p:txBody>
      </p:sp>
      <p:sp>
        <p:nvSpPr>
          <p:cNvPr id="13" name="TextBox 12"/>
          <p:cNvSpPr txBox="1"/>
          <p:nvPr/>
        </p:nvSpPr>
        <p:spPr>
          <a:xfrm>
            <a:off x="4663440" y="1170432"/>
            <a:ext cx="4023360" cy="2121408"/>
          </a:xfrm>
          <a:prstGeom prst="rect">
            <a:avLst/>
          </a:prstGeom>
          <a:noFill/>
        </p:spPr>
        <p:txBody>
          <a:bodyPr wrap="square">
            <a:spAutoFit/>
          </a:bodyPr>
          <a:lstStyle/>
          <a:p>
            <a:pPr algn="l"/>
            <a:r>
              <a:rPr sz="900" b="0">
                <a:solidFill>
                  <a:srgbClr val="1E293B"/>
                </a:solidFill>
              </a:rPr>
              <a:t>The geopolitical pressure has a direct operational pathway into AeroGrid's service-side crown jewels.</a:t>
            </a:r>
          </a:p>
        </p:txBody>
      </p:sp>
      <p:sp>
        <p:nvSpPr>
          <p:cNvPr id="14" name="Rectangle 13"/>
          <p:cNvSpPr/>
          <p:nvPr/>
        </p:nvSpPr>
        <p:spPr>
          <a:xfrm>
            <a:off x="274320" y="3383280"/>
            <a:ext cx="45720" cy="23774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383280"/>
            <a:ext cx="4023360" cy="256032"/>
          </a:xfrm>
          <a:prstGeom prst="rect">
            <a:avLst/>
          </a:prstGeom>
          <a:noFill/>
        </p:spPr>
        <p:txBody>
          <a:bodyPr wrap="square">
            <a:spAutoFit/>
          </a:bodyPr>
          <a:lstStyle/>
          <a:p>
            <a:pPr algn="l"/>
            <a:r>
              <a:rPr sz="700" b="1">
                <a:solidFill>
                  <a:srgbClr val="64748B"/>
                </a:solidFill>
              </a:rPr>
              <a:t>IMPACT</a:t>
            </a:r>
          </a:p>
        </p:txBody>
      </p:sp>
      <p:sp>
        <p:nvSpPr>
          <p:cNvPr id="16" name="TextBox 15"/>
          <p:cNvSpPr txBox="1"/>
          <p:nvPr/>
        </p:nvSpPr>
        <p:spPr>
          <a:xfrm>
            <a:off x="365760" y="3639312"/>
            <a:ext cx="4023360" cy="2121408"/>
          </a:xfrm>
          <a:prstGeom prst="rect">
            <a:avLst/>
          </a:prstGeom>
          <a:noFill/>
        </p:spPr>
        <p:txBody>
          <a:bodyPr wrap="square">
            <a:spAutoFit/>
          </a:bodyPr>
          <a:lstStyle/>
          <a:p>
            <a:pPr algn="l"/>
            <a:r>
              <a:rPr sz="900" b="0">
                <a:solidFill>
                  <a:srgbClr val="1E293B"/>
                </a:solidFill>
              </a:rPr>
              <a:t>This pattern is consistent with the Insider Misuse scenario, ranked **#4 globally by financial impact** (4.4% of all losses) and **#5 by event frequency** in the empirical master scenario register.</a:t>
            </a:r>
          </a:p>
        </p:txBody>
      </p:sp>
      <p:sp>
        <p:nvSpPr>
          <p:cNvPr id="17" name="Rectangle 16"/>
          <p:cNvSpPr/>
          <p:nvPr/>
        </p:nvSpPr>
        <p:spPr>
          <a:xfrm>
            <a:off x="4572000" y="3383280"/>
            <a:ext cx="45720" cy="2377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3383280"/>
            <a:ext cx="4023360" cy="256032"/>
          </a:xfrm>
          <a:prstGeom prst="rect">
            <a:avLst/>
          </a:prstGeom>
          <a:noFill/>
        </p:spPr>
        <p:txBody>
          <a:bodyPr wrap="square">
            <a:spAutoFit/>
          </a:bodyPr>
          <a:lstStyle/>
          <a:p>
            <a:pPr algn="l"/>
            <a:r>
              <a:rPr sz="700" b="1">
                <a:solidFill>
                  <a:srgbClr val="64748B"/>
                </a:solidFill>
              </a:rPr>
              <a:t>WATCH</a:t>
            </a:r>
          </a:p>
        </p:txBody>
      </p:sp>
      <p:sp>
        <p:nvSpPr>
          <p:cNvPr id="19" name="TextBox 18"/>
          <p:cNvSpPr txBox="1"/>
          <p:nvPr/>
        </p:nvSpPr>
        <p:spPr>
          <a:xfrm>
            <a:off x="4663440" y="3639312"/>
            <a:ext cx="4023360" cy="2121408"/>
          </a:xfrm>
          <a:prstGeom prst="rect">
            <a:avLst/>
          </a:prstGeom>
          <a:noFill/>
        </p:spPr>
        <p:txBody>
          <a:bodyPr wrap="square">
            <a:spAutoFit/>
          </a:bodyPr>
          <a:lstStyle/>
          <a:p>
            <a:pPr algn="l"/>
            <a:r>
              <a:rPr sz="900" b="0">
                <a:solidFill>
                  <a:srgbClr val="1E293B"/>
                </a:solidFill>
              </a:rPr>
              <a:t>The forward indicator to watch is whether access review cycles for third-party maintenance contractors across AeroGrid's Mediterranean offshore operations are sufficient to detect credential retention, and whether the evidenced pattern of post-departure access abuse is replicating across other energy operators in the region, which would signal a broadening of this threat beyond an isolated incident.</a:t>
            </a:r>
          </a:p>
        </p:txBody>
      </p:sp>
      <p:sp>
        <p:nvSpPr>
          <p:cNvPr id="20" name="TextBox 19"/>
          <p:cNvSpPr txBox="1"/>
          <p:nvPr/>
        </p:nvSpPr>
        <p:spPr>
          <a:xfrm>
            <a:off x="274320" y="5852160"/>
            <a:ext cx="2286000" cy="274320"/>
          </a:xfrm>
          <a:prstGeom prst="rect">
            <a:avLst/>
          </a:prstGeom>
          <a:noFill/>
        </p:spPr>
        <p:txBody>
          <a:bodyPr wrap="square">
            <a:spAutoFit/>
          </a:bodyPr>
          <a:lstStyle/>
          <a:p>
            <a:pPr algn="l"/>
            <a:r>
              <a:rPr sz="800" b="0">
                <a:solidFill>
                  <a:srgbClr val="64748B"/>
                </a:solidFill>
              </a:rPr>
              <a:t>—</a:t>
            </a:r>
          </a:p>
        </p:txBody>
      </p:sp>
      <p:sp>
        <p:nvSpPr>
          <p:cNvPr id="21" name="TextBox 20"/>
          <p:cNvSpPr txBox="1"/>
          <p:nvPr/>
        </p:nvSpPr>
        <p:spPr>
          <a:xfrm>
            <a:off x="2743200" y="5852160"/>
            <a:ext cx="5943600" cy="274320"/>
          </a:xfrm>
          <a:prstGeom prst="rect">
            <a:avLst/>
          </a:prstGeom>
          <a:noFill/>
        </p:spPr>
        <p:txBody>
          <a:bodyPr wrap="square">
            <a:spAutoFit/>
          </a:bodyPr>
          <a:lstStyle/>
          <a:p>
            <a:pPr algn="l"/>
            <a:r>
              <a:rPr sz="800" b="0">
                <a:solidFill>
                  <a:srgbClr val="64748B"/>
                </a:solidFill>
              </a:rPr>
              <a:t>State-directed threat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04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6400800" cy="411480"/>
          </a:xfrm>
          <a:prstGeom prst="rect">
            <a:avLst/>
          </a:prstGeom>
          <a:noFill/>
        </p:spPr>
        <p:txBody>
          <a:bodyPr wrap="square">
            <a:spAutoFit/>
          </a:bodyPr>
          <a:lstStyle/>
          <a:p>
            <a:pPr algn="l"/>
            <a:r>
              <a:rPr sz="1600" b="1">
                <a:solidFill>
                  <a:srgbClr val="FFFFFF"/>
                </a:solidFill>
              </a:rPr>
              <a:t>Appendix</a:t>
            </a:r>
          </a:p>
        </p:txBody>
      </p:sp>
      <p:sp>
        <p:nvSpPr>
          <p:cNvPr id="4" name="TextBox 3"/>
          <p:cNvSpPr txBox="1"/>
          <p:nvPr/>
        </p:nvSpPr>
        <p:spPr>
          <a:xfrm>
            <a:off x="365760" y="777240"/>
            <a:ext cx="8229600" cy="274320"/>
          </a:xfrm>
          <a:prstGeom prst="rect">
            <a:avLst/>
          </a:prstGeom>
          <a:noFill/>
        </p:spPr>
        <p:txBody>
          <a:bodyPr wrap="square">
            <a:spAutoFit/>
          </a:bodyPr>
          <a:lstStyle/>
          <a:p>
            <a:pPr algn="l"/>
            <a:r>
              <a:rPr sz="900" b="1">
                <a:solidFill>
                  <a:srgbClr val="16A34A"/>
                </a:solidFill>
              </a:rPr>
              <a:t>CLEAR REGIONS</a:t>
            </a:r>
          </a:p>
        </p:txBody>
      </p:sp>
      <p:sp>
        <p:nvSpPr>
          <p:cNvPr id="5" name="TextBox 4"/>
          <p:cNvSpPr txBox="1"/>
          <p:nvPr/>
        </p:nvSpPr>
        <p:spPr>
          <a:xfrm>
            <a:off x="548640" y="1097280"/>
            <a:ext cx="8229600" cy="320040"/>
          </a:xfrm>
          <a:prstGeom prst="rect">
            <a:avLst/>
          </a:prstGeom>
          <a:noFill/>
        </p:spPr>
        <p:txBody>
          <a:bodyPr wrap="square">
            <a:spAutoFit/>
          </a:bodyPr>
          <a:lstStyle/>
          <a:p>
            <a:pPr algn="l"/>
            <a:r>
              <a:rPr sz="900" b="0">
                <a:solidFill>
                  <a:srgbClr val="1E293B"/>
                </a:solidFill>
              </a:rPr>
              <a:t>LATAM  —  No active threat detected this cycle.</a:t>
            </a:r>
          </a:p>
        </p:txBody>
      </p:sp>
      <p:sp>
        <p:nvSpPr>
          <p:cNvPr id="6" name="TextBox 5"/>
          <p:cNvSpPr txBox="1"/>
          <p:nvPr/>
        </p:nvSpPr>
        <p:spPr>
          <a:xfrm>
            <a:off x="548640" y="1444752"/>
            <a:ext cx="8229600" cy="320040"/>
          </a:xfrm>
          <a:prstGeom prst="rect">
            <a:avLst/>
          </a:prstGeom>
          <a:noFill/>
        </p:spPr>
        <p:txBody>
          <a:bodyPr wrap="square">
            <a:spAutoFit/>
          </a:bodyPr>
          <a:lstStyle/>
          <a:p>
            <a:pPr algn="l"/>
            <a:r>
              <a:rPr sz="900" b="0">
                <a:solidFill>
                  <a:srgbClr val="1E293B"/>
                </a:solidFill>
              </a:rPr>
              <a:t>NCE  —  No active threat detected this cycle.</a:t>
            </a:r>
          </a:p>
        </p:txBody>
      </p:sp>
      <p:sp>
        <p:nvSpPr>
          <p:cNvPr id="7" name="TextBox 6"/>
          <p:cNvSpPr txBox="1"/>
          <p:nvPr/>
        </p:nvSpPr>
        <p:spPr>
          <a:xfrm>
            <a:off x="365760" y="1975104"/>
            <a:ext cx="8229600" cy="274320"/>
          </a:xfrm>
          <a:prstGeom prst="rect">
            <a:avLst/>
          </a:prstGeom>
          <a:noFill/>
        </p:spPr>
        <p:txBody>
          <a:bodyPr wrap="square">
            <a:spAutoFit/>
          </a:bodyPr>
          <a:lstStyle/>
          <a:p>
            <a:pPr algn="l"/>
            <a:r>
              <a:rPr sz="900" b="1">
                <a:solidFill>
                  <a:srgbClr val="64748B"/>
                </a:solidFill>
              </a:rPr>
              <a:t>RUN METADATA</a:t>
            </a:r>
          </a:p>
        </p:txBody>
      </p:sp>
      <p:sp>
        <p:nvSpPr>
          <p:cNvPr id="8" name="TextBox 7"/>
          <p:cNvSpPr txBox="1"/>
          <p:nvPr/>
        </p:nvSpPr>
        <p:spPr>
          <a:xfrm>
            <a:off x="548640" y="2295144"/>
            <a:ext cx="8229600" cy="274320"/>
          </a:xfrm>
          <a:prstGeom prst="rect">
            <a:avLst/>
          </a:prstGeom>
          <a:noFill/>
        </p:spPr>
        <p:txBody>
          <a:bodyPr wrap="square">
            <a:spAutoFit/>
          </a:bodyPr>
          <a:lstStyle/>
          <a:p>
            <a:pPr algn="l"/>
            <a:r>
              <a:rPr sz="900" b="0">
                <a:solidFill>
                  <a:srgbClr val="1E293B"/>
                </a:solidFill>
              </a:rPr>
              <a:t>Pipeline ID:  crq-2026-03-20T071612Z</a:t>
            </a:r>
          </a:p>
        </p:txBody>
      </p:sp>
      <p:sp>
        <p:nvSpPr>
          <p:cNvPr id="9" name="TextBox 8"/>
          <p:cNvSpPr txBox="1"/>
          <p:nvPr/>
        </p:nvSpPr>
        <p:spPr>
          <a:xfrm>
            <a:off x="548640" y="2569464"/>
            <a:ext cx="8229600" cy="274320"/>
          </a:xfrm>
          <a:prstGeom prst="rect">
            <a:avLst/>
          </a:prstGeom>
          <a:noFill/>
        </p:spPr>
        <p:txBody>
          <a:bodyPr wrap="square">
            <a:spAutoFit/>
          </a:bodyPr>
          <a:lstStyle/>
          <a:p>
            <a:pPr algn="l"/>
            <a:r>
              <a:rPr sz="900" b="0">
                <a:solidFill>
                  <a:srgbClr val="1E293B"/>
                </a:solidFill>
              </a:rPr>
              <a:t>Timestamp:  2026-03-20T07:16:12Z</a:t>
            </a:r>
          </a:p>
        </p:txBody>
      </p:sp>
      <p:sp>
        <p:nvSpPr>
          <p:cNvPr id="10" name="TextBox 9"/>
          <p:cNvSpPr txBox="1"/>
          <p:nvPr/>
        </p:nvSpPr>
        <p:spPr>
          <a:xfrm>
            <a:off x="548640" y="2843784"/>
            <a:ext cx="8229600" cy="274320"/>
          </a:xfrm>
          <a:prstGeom prst="rect">
            <a:avLst/>
          </a:prstGeom>
          <a:noFill/>
        </p:spPr>
        <p:txBody>
          <a:bodyPr wrap="square">
            <a:spAutoFit/>
          </a:bodyPr>
          <a:lstStyle/>
          <a:p>
            <a:pPr algn="l"/>
            <a:r>
              <a:rPr sz="900" b="0">
                <a:solidFill>
                  <a:srgbClr val="1E293B"/>
                </a:solidFill>
              </a:rPr>
              <a:t>Escalated:  3</a:t>
            </a:r>
          </a:p>
        </p:txBody>
      </p:sp>
      <p:sp>
        <p:nvSpPr>
          <p:cNvPr id="11" name="TextBox 10"/>
          <p:cNvSpPr txBox="1"/>
          <p:nvPr/>
        </p:nvSpPr>
        <p:spPr>
          <a:xfrm>
            <a:off x="548640" y="3118104"/>
            <a:ext cx="8229600" cy="274320"/>
          </a:xfrm>
          <a:prstGeom prst="rect">
            <a:avLst/>
          </a:prstGeom>
          <a:noFill/>
        </p:spPr>
        <p:txBody>
          <a:bodyPr wrap="square">
            <a:spAutoFit/>
          </a:bodyPr>
          <a:lstStyle/>
          <a:p>
            <a:pPr algn="l"/>
            <a:r>
              <a:rPr sz="900" b="0">
                <a:solidFill>
                  <a:srgbClr val="1E293B"/>
                </a:solidFill>
              </a:rPr>
              <a:t>Monitor:  0</a:t>
            </a:r>
          </a:p>
        </p:txBody>
      </p:sp>
      <p:sp>
        <p:nvSpPr>
          <p:cNvPr id="12" name="TextBox 11"/>
          <p:cNvSpPr txBox="1"/>
          <p:nvPr/>
        </p:nvSpPr>
        <p:spPr>
          <a:xfrm>
            <a:off x="548640" y="3392424"/>
            <a:ext cx="8229600" cy="274320"/>
          </a:xfrm>
          <a:prstGeom prst="rect">
            <a:avLst/>
          </a:prstGeom>
          <a:noFill/>
        </p:spPr>
        <p:txBody>
          <a:bodyPr wrap="square">
            <a:spAutoFit/>
          </a:bodyPr>
          <a:lstStyle/>
          <a:p>
            <a:pPr algn="l"/>
            <a:r>
              <a:rPr sz="900" b="0">
                <a:solidFill>
                  <a:srgbClr val="1E293B"/>
                </a:solidFill>
              </a:rPr>
              <a:t>Clear: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